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2:30 PM | You walk out. Room settles. This is on screen.
No speaking needed. Let the design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WARM-UP
2:30 PM | ~2 min
'Before I dive in — quick show of hands.
Who here has heard of local AI? [pause]
Who has actually RUN local AI on their own machine? [pause]
Stick around. We have demos running. Find us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ORIGIN
2:32 PM | ~3 min
'A little over a year ago, I started noticing something. I was using AI constantly... but the more I used it, the more uncomfortable I became. Not with the AI itself — with WHERE it was running. Every question I typed was being sent to a server I didn't control, logged by companies whose interests aren't necessarily mine. That bothered me. In a structural way. And once you see that — you can't unsee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CREDENTIALS
2:34 PM | ~2 min
Name-drop the three orgs, keep it brief. The logos speak.
'I joined Climatebase in Cohort 7. Came in with an early idea. Cohort 9 sparked the pivot. And I've been working with the Earth Day network since 2023 — which is why today feels like the right moment to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WHITE HOUSE
2:35 PM | ~1 min
Brief. Let the image speak.
'I've been at this for a while. Today is the result.'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INTRODUCING GLAM
2:38 PM
'Global Local AI Mobilization. The name has tension in it — intentionally. Global because the movement is planetary. Local because the intelligence runs on your device. A movement. Not a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EARTH DAY
2:39 PM | ~1 min
'Today — Earth Day, April 22nd — is our first public moment. Not a product launch. The first installment of a recurring monthly series. We are just getting started. And we are genuinely glad you're here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TEAM
2:40 PM | ~1 min
'Chris — DJ, live recording, the atmosphere is his. Lucas — technical support, if the demo works it's him. Tania — co-founder, moderator, she'll lead discussion after. Listen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SECTION DIVIDER
2:40 PM
Pause. Breathe. Gear-change into the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LOCAL AI DEFINED
2:40 PM | ~2 min
'Let me be concrete about what local AI actually means. The query you type never leaves your device. It goes in, gets processed, comes back — nothing transmitted. No internet required. No subscription. No data center. Just you and the model, on your machine. Same intelligence. Completely different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PRIVACY PERSONAL
2:43 PM | ~2 min
Start PERSONAL — citizen first:
'Your children's questions. Your family's health searches. Your household's financial worries. Your most intimate conversations. These are flowing through corporate servers right now, building profiles that will outlast the conversations themselves. When you use a cloud AI — you are not the customer. You are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SAMSUNG PROOF
2:45 PM | ~1 min
'Let me give you a documented example. In 2023, Samsung engineers pasted proprietary source code into ChatGPT. It became part of OpenAI's training data. Permanently. That is not hypothetical. That is a real incident. If it happened to Samsung — with trained engineers, in a major corporation — it can happen to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ENV SETUP
2:46 PM | Let the slide land in silence for 2 seconds before speaking.
'Now — this is Earth Day. So let me give you the numbers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415 TWh
2:47 PM
Silence for 2 seconds. Then:
'Four hundred and fifteen terawatt-hours. Equal to Japan's entire annual energy demand. And it doubles by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17 BILLION GALLONS
2:47 PM
'Seventeen billion gallons of water — not to generate power. To cool the servers processing your questions. Rising to 33 billion by 2028. From rivers and aquifers in communities that bear the environmental cost of the world's AI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NETWORK OVERHEAD
2:48 PM
'Here's the part that stops people. 37 to 52% of cloud AI energy isn't even the computation. It's the transmission. Moving your query from your device to the data center and back. Local AI eliminates that entirely. The query never travels.'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SOLUTION EXISTS
2:49 PM | ~1 min
'The research proves it works at scale. 88.7% of what people actually ask AI every day can already run locally. 90% energy reduction. 5.3× improvement in two years. The capability is here. The question is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100M USERS IMPACT
2:50 PM | ~1 min
'What if 100 million of us went local? 54 gigawatt-hours of energy saved. 24,600 tonnes of CO₂ avoided. 27 billion litres of water conserved. This is not a technology preference. This is a climate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POLICY
2:51 PM | ~1 min
'There's a third layer that doesn't get enough attention: policy. The regulatory pressure is building. But the smarter path isn't compliance — it's architecture. Local AI is, by design, compliant with the most stringent privacy frameworks in the world. There is no data to mishandle. It never leaves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DEMO DIVIDER
2:50 PM
Move to the demo setup. Keep it conversational.
'Alright. Let me show you what this actually looks like. Because talking about local AI and SEEING local AI are two very different experiences.'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LM STUDIO
2:51 PM | ~2 min
'What you're looking at is LM Studio. Free, open source application. You download the app, you pull a model — think of it like downloading a very sophisticated file — and you run it locally. No account. No subscription. No API key. No data leaving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WHAT IS A LOCAL MODEL
2:53 PM | ~1 min
'A local model is a file. Billions of numerical weights encoding learned knowledge. It sits on your hard drive. The model loads into your device's memory. It reasons from what it was trained on. No query leaves your device. No one logs what you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LM STUDIO LIVE DEMO
2:54 PM | ~2 min — SWITCH TO LM STUDIO WINDOW
Run the climate prompt. Let it generate fully. DON'T narrate over the generation — let the speed speak for itself.
After generation: 'Watch the response generate. That's local inference. The model is doing the computation on this chip, in this room. Nothing just left this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TRANSCRIPTION APP
2:56 PM | ~1 min intro before demo
'One more thing — this is where it gets really interesting. I built a small transcription app. Local speech recognition — takes audio input, converts to text in real time. Feeds that transcript to the local model. Local text-to-speech converts the response back to audio. Voice in. AI thinks locally. Voice out. The entire loop happens on one machine. Nothing transmitted.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TRANSCRIPTION LIVE DEMO
2:57 PM | ~2 min — SWITCH TO TRANSCRIPTION APP
Speak into it. Let the transcript appear. Let the synthesised voice play. SILENCE during playback — it speaks for itself.
After: return to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WHAT YOU JUST SAW
2:58 PM | ~1 min
'What you just saw is what I call the full local AI stack. Speech recognition, large language model inference, speech synthesis. All local. All private. All on hardware that fits on a desk. This is not experimental. This works today. And the transcript of this session will be shared with everyone here — recorded and processed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OPTIONAL Q&amp;A
2:58 PM | Max 2 min
'We've got a couple of minutes if anyone has a quick question — and I mean quick, because Tania and Stephen are up next and they are worth your full attention.'
HARD STOP at 3:00 PM regardless.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CLOSING
3:00 PM
'Thank you for being here — welcome to Global Local AI.' [Hand to Tania/Stephen.]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HOLDING SLIDE
Stays on screen during Tania's discussion and Stephen's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mnt/user-data/uploads/GLAM_banner_v6_desktop.png">    </p:cNvPr>
          <p:cNvPicPr>
            <a:picLocks noChangeAspect="1"/>
          </p:cNvPicPr>
          <p:nvPr/>
        </p:nvPicPr>
        <p:blipFill>
          <a:blip r:embed="rId2"/>
          <a:stretch>
            <a:fillRect/>
          </a:stretch>
        </p:blipFill>
        <p:spPr>
          <a:xfrm>
            <a:off x="1965960" y="1005840"/>
            <a:ext cx="8229600" cy="2251695"/>
          </a:xfrm>
          <a:prstGeom prst="rect">
            <a:avLst/>
          </a:prstGeom>
        </p:spPr>
      </p:pic>
      <p:sp>
        <p:nvSpPr>
          <p:cNvPr id="3" name="Text 0"/>
          <p:cNvSpPr/>
          <p:nvPr/>
        </p:nvSpPr>
        <p:spPr>
          <a:xfrm>
            <a:off x="457200" y="3291840"/>
            <a:ext cx="11247120" cy="457200"/>
          </a:xfrm>
          <a:prstGeom prst="rect">
            <a:avLst/>
          </a:prstGeom>
          <a:noFill/>
          <a:ln/>
        </p:spPr>
        <p:txBody>
          <a:bodyPr wrap="square" rtlCol="0" anchor="ctr"/>
          <a:lstStyle/>
          <a:p>
            <a:pPr algn="ctr" indent="0" marL="0">
              <a:buNone/>
            </a:pPr>
            <a:r>
              <a:rPr lang="en-US" sz="1600" spc="300" kern="0" dirty="0">
                <a:solidFill>
                  <a:srgbClr val="7A9E80"/>
                </a:solidFill>
                <a:latin typeface="Courier New" pitchFamily="34" charset="0"/>
                <a:ea typeface="Courier New" pitchFamily="34" charset="-122"/>
                <a:cs typeface="Courier New" pitchFamily="34" charset="-120"/>
              </a:rPr>
              <a:t>Global Local AI Mobilization</a:t>
            </a:r>
            <a:endParaRPr lang="en-US" sz="1600" dirty="0"/>
          </a:p>
        </p:txBody>
      </p:sp>
      <p:sp>
        <p:nvSpPr>
          <p:cNvPr id="4" name="Text 1"/>
          <p:cNvSpPr/>
          <p:nvPr/>
        </p:nvSpPr>
        <p:spPr>
          <a:xfrm>
            <a:off x="1828800" y="3886200"/>
            <a:ext cx="8503920" cy="411480"/>
          </a:xfrm>
          <a:prstGeom prst="rect">
            <a:avLst/>
          </a:prstGeom>
          <a:noFill/>
          <a:ln/>
        </p:spPr>
        <p:txBody>
          <a:bodyPr wrap="square" rtlCol="0" anchor="ctr"/>
          <a:lstStyle/>
          <a:p>
            <a:pPr algn="ctr" indent="0" marL="0">
              <a:buNone/>
            </a:pPr>
            <a:r>
              <a:rPr lang="en-US" sz="1300" spc="200" kern="0" dirty="0">
                <a:solidFill>
                  <a:srgbClr val="3DDC84"/>
                </a:solidFill>
                <a:latin typeface="Courier New" pitchFamily="34" charset="0"/>
                <a:ea typeface="Courier New" pitchFamily="34" charset="-122"/>
                <a:cs typeface="Courier New" pitchFamily="34" charset="-120"/>
              </a:rPr>
              <a:t>Private  ·  Sovereign  ·  Open  ·  Local</a:t>
            </a:r>
            <a:endParaRPr lang="en-US" sz="1300" dirty="0"/>
          </a:p>
        </p:txBody>
      </p:sp>
      <p:sp>
        <p:nvSpPr>
          <p:cNvPr id="5" name="Text 2"/>
          <p:cNvSpPr/>
          <p:nvPr/>
        </p:nvSpPr>
        <p:spPr>
          <a:xfrm>
            <a:off x="457200" y="4434840"/>
            <a:ext cx="11247120" cy="347472"/>
          </a:xfrm>
          <a:prstGeom prst="rect">
            <a:avLst/>
          </a:prstGeom>
          <a:noFill/>
          <a:ln/>
        </p:spPr>
        <p:txBody>
          <a:bodyPr wrap="square" rtlCol="0" anchor="ctr"/>
          <a:lstStyle/>
          <a:p>
            <a:pPr algn="ctr" indent="0" marL="0">
              <a:buNone/>
            </a:pPr>
            <a:r>
              <a:rPr lang="en-US" sz="1100" spc="200" kern="0" dirty="0">
                <a:solidFill>
                  <a:srgbClr val="2E5234"/>
                </a:solidFill>
                <a:latin typeface="Courier New" pitchFamily="34" charset="0"/>
                <a:ea typeface="Courier New" pitchFamily="34" charset="-122"/>
                <a:cs typeface="Courier New" pitchFamily="34" charset="-120"/>
              </a:rPr>
              <a:t>Earth Day · April 22, 2026 · San Francisco</a:t>
            </a:r>
            <a:endParaRPr lang="en-US" sz="1100" dirty="0"/>
          </a:p>
        </p:txBody>
      </p:sp>
      <p:sp>
        <p:nvSpPr>
          <p:cNvPr id="6" name="Text 3"/>
          <p:cNvSpPr/>
          <p:nvPr/>
        </p:nvSpPr>
        <p:spPr>
          <a:xfrm>
            <a:off x="457200" y="4892040"/>
            <a:ext cx="11247120" cy="320040"/>
          </a:xfrm>
          <a:prstGeom prst="rect">
            <a:avLst/>
          </a:prstGeom>
          <a:noFill/>
          <a:ln/>
        </p:spPr>
        <p:txBody>
          <a:bodyPr wrap="square" rtlCol="0" anchor="ctr"/>
          <a:lstStyle/>
          <a:p>
            <a:pPr algn="ctr" indent="0" marL="0">
              <a:buNone/>
            </a:pPr>
            <a:r>
              <a:rPr lang="en-US" sz="1000" dirty="0">
                <a:solidFill>
                  <a:srgbClr val="2E5234"/>
                </a:solidFill>
                <a:latin typeface="Courier New" pitchFamily="34" charset="0"/>
                <a:ea typeface="Courier New" pitchFamily="34" charset="-122"/>
                <a:cs typeface="Courier New" pitchFamily="34" charset="-120"/>
              </a:rPr>
              <a:t>globallocal.ai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AUDIENCE WARM-UP  ·  2:30 PM  ·  ~2 MIN</a:t>
            </a:r>
            <a:endParaRPr lang="en-US" sz="1000" dirty="0"/>
          </a:p>
        </p:txBody>
      </p:sp>
      <p:sp>
        <p:nvSpPr>
          <p:cNvPr id="3" name="Text 1"/>
          <p:cNvSpPr/>
          <p:nvPr/>
        </p:nvSpPr>
        <p:spPr>
          <a:xfrm>
            <a:off x="502920" y="640080"/>
            <a:ext cx="5303520" cy="2926080"/>
          </a:xfrm>
          <a:prstGeom prst="rect">
            <a:avLst/>
          </a:prstGeom>
          <a:noFill/>
          <a:ln/>
        </p:spPr>
        <p:txBody>
          <a:bodyPr wrap="square"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Who knows</a:t>
            </a:r>
            <a:endParaRPr lang="en-US" sz="7200" dirty="0"/>
          </a:p>
          <a:p>
            <a:pPr indent="0" marL="0">
              <a:buNone/>
            </a:pPr>
            <a:r>
              <a:rPr lang="en-US" sz="7200" b="1" dirty="0">
                <a:solidFill>
                  <a:srgbClr val="FFFFFF"/>
                </a:solidFill>
                <a:latin typeface="Georgia" pitchFamily="34" charset="0"/>
                <a:ea typeface="Georgia" pitchFamily="34" charset="-122"/>
                <a:cs typeface="Georgia" pitchFamily="34" charset="-120"/>
              </a:rPr>
              <a:t>Local AI?</a:t>
            </a:r>
            <a:endParaRPr lang="en-US" sz="7200" dirty="0"/>
          </a:p>
        </p:txBody>
      </p:sp>
      <p:sp>
        <p:nvSpPr>
          <p:cNvPr id="4" name="Shape 2"/>
          <p:cNvSpPr/>
          <p:nvPr/>
        </p:nvSpPr>
        <p:spPr>
          <a:xfrm>
            <a:off x="6583680" y="1005840"/>
            <a:ext cx="5120640" cy="1737360"/>
          </a:xfrm>
          <a:prstGeom prst="rect">
            <a:avLst/>
          </a:prstGeom>
          <a:solidFill>
            <a:srgbClr val="192119"/>
          </a:solidFill>
          <a:ln w="12700">
            <a:solidFill>
              <a:srgbClr val="2AB86A"/>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6766560" y="1188720"/>
            <a:ext cx="4754880" cy="640080"/>
          </a:xfrm>
          <a:prstGeom prst="rect">
            <a:avLst/>
          </a:prstGeom>
          <a:noFill/>
          <a:ln/>
        </p:spPr>
        <p:txBody>
          <a:bodyPr wrap="square" rtlCol="0" anchor="ctr"/>
          <a:lstStyle/>
          <a:p>
            <a:pPr indent="0" marL="0">
              <a:buNone/>
            </a:pPr>
            <a:r>
              <a:rPr lang="en-US" sz="3000" b="1" dirty="0">
                <a:solidFill>
                  <a:srgbClr val="3DDC84"/>
                </a:solidFill>
                <a:latin typeface="Georgia" pitchFamily="34" charset="0"/>
                <a:ea typeface="Georgia" pitchFamily="34" charset="-122"/>
                <a:cs typeface="Georgia" pitchFamily="34" charset="-120"/>
              </a:rPr>
              <a:t>Who has</a:t>
            </a:r>
            <a:endParaRPr lang="en-US" sz="3000" dirty="0"/>
          </a:p>
        </p:txBody>
      </p:sp>
      <p:sp>
        <p:nvSpPr>
          <p:cNvPr id="6" name="Text 4"/>
          <p:cNvSpPr/>
          <p:nvPr/>
        </p:nvSpPr>
        <p:spPr>
          <a:xfrm>
            <a:off x="6766560" y="1874520"/>
            <a:ext cx="4754880" cy="502920"/>
          </a:xfrm>
          <a:prstGeom prst="rect">
            <a:avLst/>
          </a:prstGeom>
          <a:noFill/>
          <a:ln/>
        </p:spPr>
        <p:txBody>
          <a:bodyPr wrap="square" rtlCol="0" anchor="ctr"/>
          <a:lstStyle/>
          <a:p>
            <a:pPr indent="0" marL="0">
              <a:buNone/>
            </a:pPr>
            <a:r>
              <a:rPr lang="en-US" sz="1800" dirty="0">
                <a:solidFill>
                  <a:srgbClr val="7A9E80"/>
                </a:solidFill>
                <a:latin typeface="Calibri" pitchFamily="34" charset="0"/>
                <a:ea typeface="Calibri" pitchFamily="34" charset="-122"/>
                <a:cs typeface="Calibri" pitchFamily="34" charset="-120"/>
              </a:rPr>
              <a:t>actually run it?</a:t>
            </a:r>
            <a:endParaRPr lang="en-US" sz="1800" dirty="0"/>
          </a:p>
        </p:txBody>
      </p:sp>
      <p:sp>
        <p:nvSpPr>
          <p:cNvPr id="7" name="Shape 5"/>
          <p:cNvSpPr/>
          <p:nvPr/>
        </p:nvSpPr>
        <p:spPr>
          <a:xfrm>
            <a:off x="6583680" y="3200400"/>
            <a:ext cx="5120640" cy="1737360"/>
          </a:xfrm>
          <a:prstGeom prst="rect">
            <a:avLst/>
          </a:prstGeom>
          <a:solidFill>
            <a:srgbClr val="192119"/>
          </a:solidFill>
          <a:ln w="12700">
            <a:solidFill>
              <a:srgbClr val="2AB86A"/>
            </a:solidFill>
            <a:prstDash val="solid"/>
          </a:ln>
          <a:effectLst>
            <a:outerShdw sx="100000" sy="100000" kx="0" ky="0" algn="bl" rotWithShape="0" blurRad="101600" dist="38100" dir="8100000">
              <a:srgbClr val="000000">
                <a:alpha val="35000"/>
              </a:srgbClr>
            </a:outerShdw>
          </a:effectLst>
        </p:spPr>
      </p:sp>
      <p:sp>
        <p:nvSpPr>
          <p:cNvPr id="8" name="Text 6"/>
          <p:cNvSpPr/>
          <p:nvPr/>
        </p:nvSpPr>
        <p:spPr>
          <a:xfrm>
            <a:off x="6766560" y="3383280"/>
            <a:ext cx="4754880" cy="640080"/>
          </a:xfrm>
          <a:prstGeom prst="rect">
            <a:avLst/>
          </a:prstGeom>
          <a:noFill/>
          <a:ln/>
        </p:spPr>
        <p:txBody>
          <a:bodyPr wrap="square" rtlCol="0" anchor="ctr"/>
          <a:lstStyle/>
          <a:p>
            <a:pPr indent="0" marL="0">
              <a:buNone/>
            </a:pPr>
            <a:r>
              <a:rPr lang="en-US" sz="3000" b="1" dirty="0">
                <a:solidFill>
                  <a:srgbClr val="3DDC84"/>
                </a:solidFill>
                <a:latin typeface="Georgia" pitchFamily="34" charset="0"/>
                <a:ea typeface="Georgia" pitchFamily="34" charset="-122"/>
                <a:cs typeface="Georgia" pitchFamily="34" charset="-120"/>
              </a:rPr>
              <a:t>Stick around —</a:t>
            </a:r>
            <a:endParaRPr lang="en-US" sz="3000" dirty="0"/>
          </a:p>
        </p:txBody>
      </p:sp>
      <p:sp>
        <p:nvSpPr>
          <p:cNvPr id="9" name="Text 7"/>
          <p:cNvSpPr/>
          <p:nvPr/>
        </p:nvSpPr>
        <p:spPr>
          <a:xfrm>
            <a:off x="6766560" y="4069080"/>
            <a:ext cx="4754880" cy="502920"/>
          </a:xfrm>
          <a:prstGeom prst="rect">
            <a:avLst/>
          </a:prstGeom>
          <a:noFill/>
          <a:ln/>
        </p:spPr>
        <p:txBody>
          <a:bodyPr wrap="square" rtlCol="0" anchor="ctr"/>
          <a:lstStyle/>
          <a:p>
            <a:pPr indent="0" marL="0">
              <a:buNone/>
            </a:pPr>
            <a:r>
              <a:rPr lang="en-US" sz="1800" dirty="0">
                <a:solidFill>
                  <a:srgbClr val="7A9E80"/>
                </a:solidFill>
                <a:latin typeface="Calibri" pitchFamily="34" charset="0"/>
                <a:ea typeface="Calibri" pitchFamily="34" charset="-122"/>
                <a:cs typeface="Calibri" pitchFamily="34" charset="-120"/>
              </a:rPr>
              <a:t>we have live demos.</a:t>
            </a:r>
            <a:endParaRPr lang="en-US" sz="1800" dirty="0"/>
          </a:p>
        </p:txBody>
      </p:sp>
      <p:sp>
        <p:nvSpPr>
          <p:cNvPr id="10" name="Shape 8"/>
          <p:cNvSpPr/>
          <p:nvPr/>
        </p:nvSpPr>
        <p:spPr>
          <a:xfrm>
            <a:off x="502920" y="4754880"/>
            <a:ext cx="1737360" cy="256032"/>
          </a:xfrm>
          <a:prstGeom prst="rect">
            <a:avLst/>
          </a:prstGeom>
          <a:solidFill>
            <a:srgbClr val="192119"/>
          </a:solidFill>
          <a:ln w="6350">
            <a:solidFill>
              <a:srgbClr val="2E5234"/>
            </a:solidFill>
            <a:prstDash val="solid"/>
          </a:ln>
        </p:spPr>
      </p:sp>
      <p:sp>
        <p:nvSpPr>
          <p:cNvPr id="11" name="Text 9"/>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2:30 PM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ORIGIN STORY  ·  2:32 PM  ·  PART 1</a:t>
            </a:r>
            <a:endParaRPr lang="en-US" sz="1000" dirty="0"/>
          </a:p>
        </p:txBody>
      </p:sp>
      <p:sp>
        <p:nvSpPr>
          <p:cNvPr id="3" name="Text 1"/>
          <p:cNvSpPr/>
          <p:nvPr/>
        </p:nvSpPr>
        <p:spPr>
          <a:xfrm>
            <a:off x="502920" y="640080"/>
            <a:ext cx="6858000" cy="3200400"/>
          </a:xfrm>
          <a:prstGeom prst="rect">
            <a:avLst/>
          </a:prstGeom>
          <a:noFill/>
          <a:ln/>
        </p:spPr>
        <p:txBody>
          <a:bodyPr wrap="square" rtlCol="0" anchor="t"/>
          <a:lstStyle/>
          <a:p>
            <a:pPr indent="0" marL="0">
              <a:buNone/>
            </a:pPr>
            <a:r>
              <a:rPr lang="en-US" sz="4400" b="1" i="1" dirty="0">
                <a:solidFill>
                  <a:srgbClr val="FFFFFF"/>
                </a:solidFill>
                <a:latin typeface="Georgia" pitchFamily="34" charset="0"/>
                <a:ea typeface="Georgia" pitchFamily="34" charset="-122"/>
                <a:cs typeface="Georgia" pitchFamily="34" charset="-120"/>
              </a:rPr>
              <a:t>"Every question I typed</a:t>
            </a:r>
            <a:endParaRPr lang="en-US" sz="4400" dirty="0"/>
          </a:p>
          <a:p>
            <a:pPr indent="0" marL="0">
              <a:buNone/>
            </a:pPr>
            <a:r>
              <a:rPr lang="en-US" sz="4400" b="1" i="1" dirty="0">
                <a:solidFill>
                  <a:srgbClr val="FFFFFF"/>
                </a:solidFill>
                <a:latin typeface="Georgia" pitchFamily="34" charset="0"/>
                <a:ea typeface="Georgia" pitchFamily="34" charset="-122"/>
                <a:cs typeface="Georgia" pitchFamily="34" charset="-120"/>
              </a:rPr>
              <a:t>was being sent somewhere</a:t>
            </a:r>
            <a:endParaRPr lang="en-US" sz="4400" dirty="0"/>
          </a:p>
          <a:p>
            <a:pPr indent="0" marL="0">
              <a:buNone/>
            </a:pPr>
            <a:r>
              <a:rPr lang="en-US" sz="4400" b="1" i="1" dirty="0">
                <a:solidFill>
                  <a:srgbClr val="FFFFFF"/>
                </a:solidFill>
                <a:latin typeface="Georgia" pitchFamily="34" charset="0"/>
                <a:ea typeface="Georgia" pitchFamily="34" charset="-122"/>
                <a:cs typeface="Georgia" pitchFamily="34" charset="-120"/>
              </a:rPr>
              <a:t>I didn't control."</a:t>
            </a:r>
            <a:endParaRPr lang="en-US" sz="4400" dirty="0"/>
          </a:p>
        </p:txBody>
      </p:sp>
      <p:sp>
        <p:nvSpPr>
          <p:cNvPr id="4" name="Text 2"/>
          <p:cNvSpPr/>
          <p:nvPr/>
        </p:nvSpPr>
        <p:spPr>
          <a:xfrm>
            <a:off x="502920" y="3931920"/>
            <a:ext cx="6858000" cy="457200"/>
          </a:xfrm>
          <a:prstGeom prst="rect">
            <a:avLst/>
          </a:prstGeom>
          <a:noFill/>
          <a:ln/>
        </p:spPr>
        <p:txBody>
          <a:bodyPr wrap="square" rtlCol="0" anchor="ctr"/>
          <a:lstStyle/>
          <a:p>
            <a:pPr indent="0" marL="0">
              <a:buNone/>
            </a:pPr>
            <a:r>
              <a:rPr lang="en-US" sz="2000" i="1" dirty="0">
                <a:solidFill>
                  <a:srgbClr val="7A9E80"/>
                </a:solidFill>
                <a:latin typeface="Calibri" pitchFamily="34" charset="0"/>
                <a:ea typeface="Calibri" pitchFamily="34" charset="-122"/>
                <a:cs typeface="Calibri" pitchFamily="34" charset="-120"/>
              </a:rPr>
              <a:t>Not paranoia. A structural problem.</a:t>
            </a:r>
            <a:endParaRPr lang="en-US" sz="2000" dirty="0"/>
          </a:p>
        </p:txBody>
      </p:sp>
      <p:sp>
        <p:nvSpPr>
          <p:cNvPr id="5" name="Shape 3"/>
          <p:cNvSpPr/>
          <p:nvPr/>
        </p:nvSpPr>
        <p:spPr>
          <a:xfrm>
            <a:off x="8046720" y="594360"/>
            <a:ext cx="3657600" cy="5120640"/>
          </a:xfrm>
          <a:prstGeom prst="rect">
            <a:avLst/>
          </a:prstGeom>
          <a:solidFill>
            <a:srgbClr val="192119"/>
          </a:solidFill>
          <a:ln w="6350">
            <a:solidFill>
              <a:srgbClr val="2E5234"/>
            </a:solidFill>
            <a:prstDash val="solid"/>
          </a:ln>
        </p:spPr>
      </p:sp>
      <p:sp>
        <p:nvSpPr>
          <p:cNvPr id="6" name="Text 4"/>
          <p:cNvSpPr/>
          <p:nvPr/>
        </p:nvSpPr>
        <p:spPr>
          <a:xfrm>
            <a:off x="8229600" y="822960"/>
            <a:ext cx="3291840" cy="365760"/>
          </a:xfrm>
          <a:prstGeom prst="rect">
            <a:avLst/>
          </a:prstGeom>
          <a:noFill/>
          <a:ln/>
        </p:spPr>
        <p:txBody>
          <a:bodyPr wrap="square" rtlCol="0" anchor="ctr"/>
          <a:lstStyle/>
          <a:p>
            <a:pPr indent="0" marL="0">
              <a:buNone/>
            </a:pPr>
            <a:r>
              <a:rPr lang="en-US" sz="1000" b="1" spc="300" kern="0" dirty="0">
                <a:solidFill>
                  <a:srgbClr val="3DDC84"/>
                </a:solidFill>
                <a:latin typeface="Courier New" pitchFamily="34" charset="0"/>
                <a:ea typeface="Courier New" pitchFamily="34" charset="-122"/>
                <a:cs typeface="Courier New" pitchFamily="34" charset="-120"/>
              </a:rPr>
              <a:t>The Shift</a:t>
            </a:r>
            <a:endParaRPr lang="en-US" sz="1000" dirty="0"/>
          </a:p>
        </p:txBody>
      </p:sp>
      <p:sp>
        <p:nvSpPr>
          <p:cNvPr id="7" name="Shape 5"/>
          <p:cNvSpPr/>
          <p:nvPr/>
        </p:nvSpPr>
        <p:spPr>
          <a:xfrm>
            <a:off x="8229600" y="1325880"/>
            <a:ext cx="73152" cy="411480"/>
          </a:xfrm>
          <a:prstGeom prst="rect">
            <a:avLst/>
          </a:prstGeom>
          <a:solidFill>
            <a:srgbClr val="3DDC84"/>
          </a:solidFill>
          <a:ln w="12700">
            <a:solidFill>
              <a:srgbClr val="3DDC84"/>
            </a:solidFill>
            <a:prstDash val="solid"/>
          </a:ln>
        </p:spPr>
      </p:sp>
      <p:sp>
        <p:nvSpPr>
          <p:cNvPr id="8" name="Text 6"/>
          <p:cNvSpPr/>
          <p:nvPr/>
        </p:nvSpPr>
        <p:spPr>
          <a:xfrm>
            <a:off x="8394192" y="1298448"/>
            <a:ext cx="3108960" cy="50292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Using AI constantly — for work, writing, thinking.</a:t>
            </a:r>
            <a:endParaRPr lang="en-US" sz="1300" dirty="0"/>
          </a:p>
        </p:txBody>
      </p:sp>
      <p:sp>
        <p:nvSpPr>
          <p:cNvPr id="9" name="Shape 7"/>
          <p:cNvSpPr/>
          <p:nvPr/>
        </p:nvSpPr>
        <p:spPr>
          <a:xfrm>
            <a:off x="8229600" y="2075688"/>
            <a:ext cx="73152" cy="411480"/>
          </a:xfrm>
          <a:prstGeom prst="rect">
            <a:avLst/>
          </a:prstGeom>
          <a:solidFill>
            <a:srgbClr val="3DDC84"/>
          </a:solidFill>
          <a:ln w="12700">
            <a:solidFill>
              <a:srgbClr val="3DDC84"/>
            </a:solidFill>
            <a:prstDash val="solid"/>
          </a:ln>
        </p:spPr>
      </p:sp>
      <p:sp>
        <p:nvSpPr>
          <p:cNvPr id="10" name="Text 8"/>
          <p:cNvSpPr/>
          <p:nvPr/>
        </p:nvSpPr>
        <p:spPr>
          <a:xfrm>
            <a:off x="8394192" y="2048256"/>
            <a:ext cx="3108960" cy="50292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Genuinely useful. But something felt wrong.</a:t>
            </a:r>
            <a:endParaRPr lang="en-US" sz="1300" dirty="0"/>
          </a:p>
        </p:txBody>
      </p:sp>
      <p:sp>
        <p:nvSpPr>
          <p:cNvPr id="11" name="Shape 9"/>
          <p:cNvSpPr/>
          <p:nvPr/>
        </p:nvSpPr>
        <p:spPr>
          <a:xfrm>
            <a:off x="8229600" y="2825496"/>
            <a:ext cx="73152" cy="411480"/>
          </a:xfrm>
          <a:prstGeom prst="rect">
            <a:avLst/>
          </a:prstGeom>
          <a:solidFill>
            <a:srgbClr val="3DDC84"/>
          </a:solidFill>
          <a:ln w="12700">
            <a:solidFill>
              <a:srgbClr val="3DDC84"/>
            </a:solidFill>
            <a:prstDash val="solid"/>
          </a:ln>
        </p:spPr>
      </p:sp>
      <p:sp>
        <p:nvSpPr>
          <p:cNvPr id="12" name="Text 10"/>
          <p:cNvSpPr/>
          <p:nvPr/>
        </p:nvSpPr>
        <p:spPr>
          <a:xfrm>
            <a:off x="8394192" y="2798064"/>
            <a:ext cx="3108960" cy="50292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Not with the AI. With where it was running.</a:t>
            </a:r>
            <a:endParaRPr lang="en-US" sz="1300" dirty="0"/>
          </a:p>
        </p:txBody>
      </p:sp>
      <p:sp>
        <p:nvSpPr>
          <p:cNvPr id="13" name="Shape 11"/>
          <p:cNvSpPr/>
          <p:nvPr/>
        </p:nvSpPr>
        <p:spPr>
          <a:xfrm>
            <a:off x="8229600" y="3575304"/>
            <a:ext cx="73152" cy="411480"/>
          </a:xfrm>
          <a:prstGeom prst="rect">
            <a:avLst/>
          </a:prstGeom>
          <a:solidFill>
            <a:srgbClr val="3DDC84"/>
          </a:solidFill>
          <a:ln w="12700">
            <a:solidFill>
              <a:srgbClr val="3DDC84"/>
            </a:solidFill>
            <a:prstDash val="solid"/>
          </a:ln>
        </p:spPr>
      </p:sp>
      <p:sp>
        <p:nvSpPr>
          <p:cNvPr id="14" name="Text 12"/>
          <p:cNvSpPr/>
          <p:nvPr/>
        </p:nvSpPr>
        <p:spPr>
          <a:xfrm>
            <a:off x="8394192" y="3547872"/>
            <a:ext cx="3108960" cy="50292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Data I didn't control, logged by companies whose interests aren't mine.</a:t>
            </a:r>
            <a:endParaRPr lang="en-US" sz="1300" dirty="0"/>
          </a:p>
        </p:txBody>
      </p:sp>
      <p:sp>
        <p:nvSpPr>
          <p:cNvPr id="15" name="Shape 13"/>
          <p:cNvSpPr/>
          <p:nvPr/>
        </p:nvSpPr>
        <p:spPr>
          <a:xfrm>
            <a:off x="8229600" y="4325112"/>
            <a:ext cx="73152" cy="411480"/>
          </a:xfrm>
          <a:prstGeom prst="rect">
            <a:avLst/>
          </a:prstGeom>
          <a:solidFill>
            <a:srgbClr val="3DDC84"/>
          </a:solidFill>
          <a:ln w="12700">
            <a:solidFill>
              <a:srgbClr val="3DDC84"/>
            </a:solidFill>
            <a:prstDash val="solid"/>
          </a:ln>
        </p:spPr>
      </p:sp>
      <p:sp>
        <p:nvSpPr>
          <p:cNvPr id="16" name="Text 14"/>
          <p:cNvSpPr/>
          <p:nvPr/>
        </p:nvSpPr>
        <p:spPr>
          <a:xfrm>
            <a:off x="8394192" y="4297680"/>
            <a:ext cx="3108960" cy="50292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Once you see that architecture problem — you can't unsee it.</a:t>
            </a:r>
            <a:endParaRPr lang="en-US" sz="1300" dirty="0"/>
          </a:p>
        </p:txBody>
      </p:sp>
      <p:sp>
        <p:nvSpPr>
          <p:cNvPr id="17" name="Shape 15"/>
          <p:cNvSpPr/>
          <p:nvPr/>
        </p:nvSpPr>
        <p:spPr>
          <a:xfrm>
            <a:off x="502920" y="4754880"/>
            <a:ext cx="1737360" cy="256032"/>
          </a:xfrm>
          <a:prstGeom prst="rect">
            <a:avLst/>
          </a:prstGeom>
          <a:solidFill>
            <a:srgbClr val="192119"/>
          </a:solidFill>
          <a:ln w="6350">
            <a:solidFill>
              <a:srgbClr val="2E5234"/>
            </a:solidFill>
            <a:prstDash val="solid"/>
          </a:ln>
        </p:spPr>
      </p:sp>
      <p:sp>
        <p:nvSpPr>
          <p:cNvPr id="18" name="Text 16"/>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2:32 PM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BACKGROUND  ·  2:34 PM</a:t>
            </a:r>
            <a:endParaRPr lang="en-US" sz="1000" dirty="0"/>
          </a:p>
        </p:txBody>
      </p:sp>
      <p:sp>
        <p:nvSpPr>
          <p:cNvPr id="3" name="Text 1"/>
          <p:cNvSpPr/>
          <p:nvPr/>
        </p:nvSpPr>
        <p:spPr>
          <a:xfrm>
            <a:off x="502920" y="594360"/>
            <a:ext cx="5486400" cy="164592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The journey</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that led here.</a:t>
            </a:r>
            <a:endParaRPr lang="en-US" sz="5200" dirty="0"/>
          </a:p>
        </p:txBody>
      </p:sp>
      <p:sp>
        <p:nvSpPr>
          <p:cNvPr id="4" name="Text 2"/>
          <p:cNvSpPr/>
          <p:nvPr/>
        </p:nvSpPr>
        <p:spPr>
          <a:xfrm>
            <a:off x="502920" y="2286000"/>
            <a:ext cx="5486400" cy="457200"/>
          </a:xfrm>
          <a:prstGeom prst="rect">
            <a:avLst/>
          </a:prstGeom>
          <a:noFill/>
          <a:ln/>
        </p:spPr>
        <p:txBody>
          <a:bodyPr wrap="square" rtlCol="0" anchor="ctr"/>
          <a:lstStyle/>
          <a:p>
            <a:pPr indent="0" marL="0">
              <a:buNone/>
            </a:pPr>
            <a:r>
              <a:rPr lang="en-US" sz="1800" i="1" dirty="0">
                <a:solidFill>
                  <a:srgbClr val="7A9E80"/>
                </a:solidFill>
                <a:latin typeface="Calibri" pitchFamily="34" charset="0"/>
                <a:ea typeface="Calibri" pitchFamily="34" charset="-122"/>
                <a:cs typeface="Calibri" pitchFamily="34" charset="-120"/>
              </a:rPr>
              <a:t>Climate work since 2019. AI sovereignty since 2023.</a:t>
            </a:r>
            <a:endParaRPr lang="en-US" sz="1800" dirty="0"/>
          </a:p>
        </p:txBody>
      </p:sp>
      <p:sp>
        <p:nvSpPr>
          <p:cNvPr id="5" name="Shape 3"/>
          <p:cNvSpPr/>
          <p:nvPr/>
        </p:nvSpPr>
        <p:spPr>
          <a:xfrm>
            <a:off x="502920" y="2926080"/>
            <a:ext cx="3657600" cy="3429000"/>
          </a:xfrm>
          <a:prstGeom prst="rect">
            <a:avLst/>
          </a:prstGeom>
          <a:solidFill>
            <a:srgbClr val="192119"/>
          </a:solidFill>
          <a:ln w="12700">
            <a:solidFill>
              <a:srgbClr val="223026"/>
            </a:solidFill>
            <a:prstDash val="solid"/>
          </a:ln>
          <a:effectLst>
            <a:outerShdw sx="100000" sy="100000" kx="0" ky="0" algn="bl" rotWithShape="0" blurRad="152400" dist="50800" dir="8100000">
              <a:srgbClr val="000000">
                <a:alpha val="50000"/>
              </a:srgbClr>
            </a:outerShdw>
          </a:effectLst>
        </p:spPr>
      </p:sp>
      <p:sp>
        <p:nvSpPr>
          <p:cNvPr id="6" name="Shape 4"/>
          <p:cNvSpPr/>
          <p:nvPr/>
        </p:nvSpPr>
        <p:spPr>
          <a:xfrm>
            <a:off x="502920" y="2926080"/>
            <a:ext cx="3657600" cy="54864"/>
          </a:xfrm>
          <a:prstGeom prst="rect">
            <a:avLst/>
          </a:prstGeom>
          <a:solidFill>
            <a:srgbClr val="3DDC84"/>
          </a:solidFill>
          <a:ln w="12700">
            <a:solidFill>
              <a:srgbClr val="3DDC84"/>
            </a:solidFill>
            <a:prstDash val="solid"/>
          </a:ln>
        </p:spPr>
      </p:sp>
      <p:sp>
        <p:nvSpPr>
          <p:cNvPr id="7" name="Text 5"/>
          <p:cNvSpPr/>
          <p:nvPr/>
        </p:nvSpPr>
        <p:spPr>
          <a:xfrm>
            <a:off x="685800" y="3063240"/>
            <a:ext cx="3291840" cy="45720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Climate Reality</a:t>
            </a:r>
            <a:endParaRPr lang="en-US" sz="2000" dirty="0"/>
          </a:p>
        </p:txBody>
      </p:sp>
      <p:sp>
        <p:nvSpPr>
          <p:cNvPr id="8" name="Text 6"/>
          <p:cNvSpPr/>
          <p:nvPr/>
        </p:nvSpPr>
        <p:spPr>
          <a:xfrm>
            <a:off x="685800" y="3538728"/>
            <a:ext cx="3291840" cy="320040"/>
          </a:xfrm>
          <a:prstGeom prst="rect">
            <a:avLst/>
          </a:prstGeom>
          <a:noFill/>
          <a:ln/>
        </p:spPr>
        <p:txBody>
          <a:bodyPr wrap="square" rtlCol="0" anchor="ctr"/>
          <a:lstStyle/>
          <a:p>
            <a:pPr indent="0" marL="0">
              <a:buNone/>
            </a:pPr>
            <a:r>
              <a:rPr lang="en-US" sz="1000" dirty="0">
                <a:solidFill>
                  <a:srgbClr val="3DDC84"/>
                </a:solidFill>
                <a:latin typeface="Courier New" pitchFamily="34" charset="0"/>
                <a:ea typeface="Courier New" pitchFamily="34" charset="-122"/>
                <a:cs typeface="Courier New" pitchFamily="34" charset="-120"/>
              </a:rPr>
              <a:t>2019</a:t>
            </a:r>
            <a:endParaRPr lang="en-US" sz="1000" dirty="0"/>
          </a:p>
        </p:txBody>
      </p:sp>
      <p:sp>
        <p:nvSpPr>
          <p:cNvPr id="9" name="Text 7"/>
          <p:cNvSpPr/>
          <p:nvPr/>
        </p:nvSpPr>
        <p:spPr>
          <a:xfrm>
            <a:off x="685800" y="4069080"/>
            <a:ext cx="3291840" cy="1920240"/>
          </a:xfrm>
          <a:prstGeom prst="rect">
            <a:avLst/>
          </a:prstGeom>
          <a:noFill/>
          <a:ln/>
        </p:spPr>
        <p:txBody>
          <a:bodyPr wrap="square" rtlCol="0" anchor="t"/>
          <a:lstStyle/>
          <a:p>
            <a:pPr indent="0" marL="0">
              <a:buNone/>
            </a:pPr>
            <a:r>
              <a:rPr lang="en-US" sz="1300" dirty="0">
                <a:solidFill>
                  <a:srgbClr val="7A9E80"/>
                </a:solidFill>
                <a:latin typeface="Calibri" pitchFamily="34" charset="0"/>
                <a:ea typeface="Calibri" pitchFamily="34" charset="-122"/>
                <a:cs typeface="Calibri" pitchFamily="34" charset="-120"/>
              </a:rPr>
              <a:t>Al Gore's Climate Reality Project — trained climate communicator, cohort presenter.</a:t>
            </a:r>
            <a:endParaRPr lang="en-US" sz="1300" dirty="0"/>
          </a:p>
        </p:txBody>
      </p:sp>
      <p:sp>
        <p:nvSpPr>
          <p:cNvPr id="10" name="Shape 8"/>
          <p:cNvSpPr/>
          <p:nvPr/>
        </p:nvSpPr>
        <p:spPr>
          <a:xfrm>
            <a:off x="4389120" y="2926080"/>
            <a:ext cx="3657600" cy="3429000"/>
          </a:xfrm>
          <a:prstGeom prst="rect">
            <a:avLst/>
          </a:prstGeom>
          <a:solidFill>
            <a:srgbClr val="192119"/>
          </a:solidFill>
          <a:ln w="12700">
            <a:solidFill>
              <a:srgbClr val="223026"/>
            </a:solidFill>
            <a:prstDash val="solid"/>
          </a:ln>
          <a:effectLst>
            <a:outerShdw sx="100000" sy="100000" kx="0" ky="0" algn="bl" rotWithShape="0" blurRad="152400" dist="50800" dir="8100000">
              <a:srgbClr val="000000">
                <a:alpha val="50000"/>
              </a:srgbClr>
            </a:outerShdw>
          </a:effectLst>
        </p:spPr>
      </p:sp>
      <p:sp>
        <p:nvSpPr>
          <p:cNvPr id="11" name="Shape 9"/>
          <p:cNvSpPr/>
          <p:nvPr/>
        </p:nvSpPr>
        <p:spPr>
          <a:xfrm>
            <a:off x="4389120" y="2926080"/>
            <a:ext cx="3657600" cy="54864"/>
          </a:xfrm>
          <a:prstGeom prst="rect">
            <a:avLst/>
          </a:prstGeom>
          <a:solidFill>
            <a:srgbClr val="3DDC84"/>
          </a:solidFill>
          <a:ln w="12700">
            <a:solidFill>
              <a:srgbClr val="3DDC84"/>
            </a:solidFill>
            <a:prstDash val="solid"/>
          </a:ln>
        </p:spPr>
      </p:sp>
      <p:pic>
        <p:nvPicPr>
          <p:cNvPr id="12" name="Image 0" descr="/mnt/user-data/uploads/climatebase.jpg">    </p:cNvPr>
          <p:cNvPicPr>
            <a:picLocks noChangeAspect="1"/>
          </p:cNvPicPr>
          <p:nvPr/>
        </p:nvPicPr>
        <p:blipFill>
          <a:blip r:embed="rId1"/>
          <a:stretch>
            <a:fillRect/>
          </a:stretch>
        </p:blipFill>
        <p:spPr>
          <a:xfrm>
            <a:off x="4572000" y="3063240"/>
            <a:ext cx="914400" cy="914400"/>
          </a:xfrm>
          <a:prstGeom prst="ellipse">
            <a:avLst/>
          </a:prstGeom>
        </p:spPr>
      </p:pic>
      <p:sp>
        <p:nvSpPr>
          <p:cNvPr id="13" name="Text 10"/>
          <p:cNvSpPr/>
          <p:nvPr/>
        </p:nvSpPr>
        <p:spPr>
          <a:xfrm>
            <a:off x="5623560" y="3108960"/>
            <a:ext cx="2194560" cy="45720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Climatebase</a:t>
            </a:r>
            <a:endParaRPr lang="en-US" sz="1800" dirty="0"/>
          </a:p>
        </p:txBody>
      </p:sp>
      <p:sp>
        <p:nvSpPr>
          <p:cNvPr id="14" name="Text 11"/>
          <p:cNvSpPr/>
          <p:nvPr/>
        </p:nvSpPr>
        <p:spPr>
          <a:xfrm>
            <a:off x="5623560" y="3566160"/>
            <a:ext cx="2194560" cy="320040"/>
          </a:xfrm>
          <a:prstGeom prst="rect">
            <a:avLst/>
          </a:prstGeom>
          <a:noFill/>
          <a:ln/>
        </p:spPr>
        <p:txBody>
          <a:bodyPr wrap="square" rtlCol="0" anchor="ctr"/>
          <a:lstStyle/>
          <a:p>
            <a:pPr indent="0" marL="0">
              <a:buNone/>
            </a:pPr>
            <a:r>
              <a:rPr lang="en-US" sz="1000" dirty="0">
                <a:solidFill>
                  <a:srgbClr val="3DDC84"/>
                </a:solidFill>
                <a:latin typeface="Courier New" pitchFamily="34" charset="0"/>
                <a:ea typeface="Courier New" pitchFamily="34" charset="-122"/>
                <a:cs typeface="Courier New" pitchFamily="34" charset="-120"/>
              </a:rPr>
              <a:t>2023–24</a:t>
            </a:r>
            <a:endParaRPr lang="en-US" sz="1000" dirty="0"/>
          </a:p>
        </p:txBody>
      </p:sp>
      <p:sp>
        <p:nvSpPr>
          <p:cNvPr id="15" name="Text 12"/>
          <p:cNvSpPr/>
          <p:nvPr/>
        </p:nvSpPr>
        <p:spPr>
          <a:xfrm>
            <a:off x="4572000" y="4069080"/>
            <a:ext cx="3291840" cy="1920240"/>
          </a:xfrm>
          <a:prstGeom prst="rect">
            <a:avLst/>
          </a:prstGeom>
          <a:noFill/>
          <a:ln/>
        </p:spPr>
        <p:txBody>
          <a:bodyPr wrap="square" rtlCol="0" anchor="t"/>
          <a:lstStyle/>
          <a:p>
            <a:pPr indent="0" marL="0">
              <a:buNone/>
            </a:pPr>
            <a:r>
              <a:rPr lang="en-US" sz="1300" dirty="0">
                <a:solidFill>
                  <a:srgbClr val="7A9E80"/>
                </a:solidFill>
                <a:latin typeface="Calibri" pitchFamily="34" charset="0"/>
                <a:ea typeface="Calibri" pitchFamily="34" charset="-122"/>
                <a:cs typeface="Calibri" pitchFamily="34" charset="-120"/>
              </a:rPr>
              <a:t>Fellow, Cohort 7. Entered with early local AI concept. Cohort 9 sparked the GLAM pivot.</a:t>
            </a:r>
            <a:endParaRPr lang="en-US" sz="1300" dirty="0"/>
          </a:p>
        </p:txBody>
      </p:sp>
      <p:sp>
        <p:nvSpPr>
          <p:cNvPr id="16" name="Shape 13"/>
          <p:cNvSpPr/>
          <p:nvPr/>
        </p:nvSpPr>
        <p:spPr>
          <a:xfrm>
            <a:off x="8275320" y="2926080"/>
            <a:ext cx="3657600" cy="3429000"/>
          </a:xfrm>
          <a:prstGeom prst="rect">
            <a:avLst/>
          </a:prstGeom>
          <a:solidFill>
            <a:srgbClr val="192119"/>
          </a:solidFill>
          <a:ln w="12700">
            <a:solidFill>
              <a:srgbClr val="223026"/>
            </a:solidFill>
            <a:prstDash val="solid"/>
          </a:ln>
          <a:effectLst>
            <a:outerShdw sx="100000" sy="100000" kx="0" ky="0" algn="bl" rotWithShape="0" blurRad="152400" dist="50800" dir="8100000">
              <a:srgbClr val="000000">
                <a:alpha val="50000"/>
              </a:srgbClr>
            </a:outerShdw>
          </a:effectLst>
        </p:spPr>
      </p:sp>
      <p:sp>
        <p:nvSpPr>
          <p:cNvPr id="17" name="Shape 14"/>
          <p:cNvSpPr/>
          <p:nvPr/>
        </p:nvSpPr>
        <p:spPr>
          <a:xfrm>
            <a:off x="8275320" y="2926080"/>
            <a:ext cx="3657600" cy="54864"/>
          </a:xfrm>
          <a:prstGeom prst="rect">
            <a:avLst/>
          </a:prstGeom>
          <a:solidFill>
            <a:srgbClr val="3DDC84"/>
          </a:solidFill>
          <a:ln w="12700">
            <a:solidFill>
              <a:srgbClr val="3DDC84"/>
            </a:solidFill>
            <a:prstDash val="solid"/>
          </a:ln>
        </p:spPr>
      </p:sp>
      <p:sp>
        <p:nvSpPr>
          <p:cNvPr id="18" name="Text 15"/>
          <p:cNvSpPr/>
          <p:nvPr/>
        </p:nvSpPr>
        <p:spPr>
          <a:xfrm>
            <a:off x="8458200" y="3063240"/>
            <a:ext cx="3291840" cy="45720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Earth Day Network</a:t>
            </a:r>
            <a:endParaRPr lang="en-US" sz="2000" dirty="0"/>
          </a:p>
        </p:txBody>
      </p:sp>
      <p:sp>
        <p:nvSpPr>
          <p:cNvPr id="19" name="Text 16"/>
          <p:cNvSpPr/>
          <p:nvPr/>
        </p:nvSpPr>
        <p:spPr>
          <a:xfrm>
            <a:off x="8458200" y="3538728"/>
            <a:ext cx="3291840" cy="320040"/>
          </a:xfrm>
          <a:prstGeom prst="rect">
            <a:avLst/>
          </a:prstGeom>
          <a:noFill/>
          <a:ln/>
        </p:spPr>
        <p:txBody>
          <a:bodyPr wrap="square" rtlCol="0" anchor="ctr"/>
          <a:lstStyle/>
          <a:p>
            <a:pPr indent="0" marL="0">
              <a:buNone/>
            </a:pPr>
            <a:r>
              <a:rPr lang="en-US" sz="1000" dirty="0">
                <a:solidFill>
                  <a:srgbClr val="3DDC84"/>
                </a:solidFill>
                <a:latin typeface="Courier New" pitchFamily="34" charset="0"/>
                <a:ea typeface="Courier New" pitchFamily="34" charset="-122"/>
                <a:cs typeface="Courier New" pitchFamily="34" charset="-120"/>
              </a:rPr>
              <a:t>2023–Present</a:t>
            </a:r>
            <a:endParaRPr lang="en-US" sz="1000" dirty="0"/>
          </a:p>
        </p:txBody>
      </p:sp>
      <p:sp>
        <p:nvSpPr>
          <p:cNvPr id="20" name="Text 17"/>
          <p:cNvSpPr/>
          <p:nvPr/>
        </p:nvSpPr>
        <p:spPr>
          <a:xfrm>
            <a:off x="8458200" y="4069080"/>
            <a:ext cx="3291840" cy="1920240"/>
          </a:xfrm>
          <a:prstGeom prst="rect">
            <a:avLst/>
          </a:prstGeom>
          <a:noFill/>
          <a:ln/>
        </p:spPr>
        <p:txBody>
          <a:bodyPr wrap="square" rtlCol="0" anchor="t"/>
          <a:lstStyle/>
          <a:p>
            <a:pPr indent="0" marL="0">
              <a:buNone/>
            </a:pPr>
            <a:r>
              <a:rPr lang="en-US" sz="1300" dirty="0">
                <a:solidFill>
                  <a:srgbClr val="7A9E80"/>
                </a:solidFill>
                <a:latin typeface="Calibri" pitchFamily="34" charset="0"/>
                <a:ea typeface="Calibri" pitchFamily="34" charset="-122"/>
                <a:cs typeface="Calibri" pitchFamily="34" charset="-120"/>
              </a:rPr>
              <a:t>Partner since 2023. Today is official Earth Day. White House letter: petition for Global Earth Month.</a:t>
            </a:r>
            <a:endParaRPr lang="en-US" sz="1300" dirty="0"/>
          </a:p>
        </p:txBody>
      </p:sp>
      <p:sp>
        <p:nvSpPr>
          <p:cNvPr id="21" name="Shape 18"/>
          <p:cNvSpPr/>
          <p:nvPr/>
        </p:nvSpPr>
        <p:spPr>
          <a:xfrm>
            <a:off x="502920" y="4754880"/>
            <a:ext cx="1737360" cy="256032"/>
          </a:xfrm>
          <a:prstGeom prst="rect">
            <a:avLst/>
          </a:prstGeom>
          <a:solidFill>
            <a:srgbClr val="192119"/>
          </a:solidFill>
          <a:ln w="6350">
            <a:solidFill>
              <a:srgbClr val="2E5234"/>
            </a:solidFill>
            <a:prstDash val="solid"/>
          </a:ln>
        </p:spPr>
      </p:sp>
      <p:sp>
        <p:nvSpPr>
          <p:cNvPr id="22" name="Text 19"/>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2:34 PM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CONTEXT  ·  2:35 PM</a:t>
            </a:r>
            <a:endParaRPr lang="en-US" sz="1000" dirty="0"/>
          </a:p>
        </p:txBody>
      </p:sp>
      <p:sp>
        <p:nvSpPr>
          <p:cNvPr id="3" name="Shape 1"/>
          <p:cNvSpPr/>
          <p:nvPr/>
        </p:nvSpPr>
        <p:spPr>
          <a:xfrm>
            <a:off x="365760" y="594360"/>
            <a:ext cx="5303520" cy="5669280"/>
          </a:xfrm>
          <a:prstGeom prst="rect">
            <a:avLst/>
          </a:prstGeom>
          <a:solidFill>
            <a:srgbClr val="F5F0E8"/>
          </a:solidFill>
          <a:ln w="12700">
            <a:solidFill>
              <a:srgbClr val="CCBBAA"/>
            </a:solidFill>
            <a:prstDash val="solid"/>
          </a:ln>
          <a:effectLst>
            <a:outerShdw sx="100000" sy="100000" kx="0" ky="0" algn="bl" rotWithShape="0" blurRad="152400" dist="50800" dir="8100000">
              <a:srgbClr val="000000">
                <a:alpha val="50000"/>
              </a:srgbClr>
            </a:outerShdw>
          </a:effectLst>
        </p:spPr>
      </p:sp>
      <p:sp>
        <p:nvSpPr>
          <p:cNvPr id="4" name="Shape 2"/>
          <p:cNvSpPr/>
          <p:nvPr/>
        </p:nvSpPr>
        <p:spPr>
          <a:xfrm>
            <a:off x="2194560" y="822960"/>
            <a:ext cx="1645920" cy="1645920"/>
          </a:xfrm>
          <a:prstGeom prst="oval">
            <a:avLst/>
          </a:prstGeom>
          <a:solidFill>
            <a:srgbClr val="D4AF37"/>
          </a:solidFill>
          <a:ln w="25400">
            <a:solidFill>
              <a:srgbClr val="A0852A"/>
            </a:solidFill>
            <a:prstDash val="solid"/>
          </a:ln>
        </p:spPr>
      </p:sp>
      <p:sp>
        <p:nvSpPr>
          <p:cNvPr id="5" name="Text 3"/>
          <p:cNvSpPr/>
          <p:nvPr/>
        </p:nvSpPr>
        <p:spPr>
          <a:xfrm>
            <a:off x="457200" y="2514600"/>
            <a:ext cx="5120640" cy="594360"/>
          </a:xfrm>
          <a:prstGeom prst="rect">
            <a:avLst/>
          </a:prstGeom>
          <a:noFill/>
          <a:ln/>
        </p:spPr>
        <p:txBody>
          <a:bodyPr wrap="square" rtlCol="0" anchor="ctr"/>
          <a:lstStyle/>
          <a:p>
            <a:pPr algn="ctr" indent="0" marL="0">
              <a:buNone/>
            </a:pPr>
            <a:r>
              <a:rPr lang="en-US" sz="1100" b="1" spc="200" kern="0" dirty="0">
                <a:solidFill>
                  <a:srgbClr val="333333"/>
                </a:solidFill>
                <a:latin typeface="Calibri" pitchFamily="34" charset="0"/>
                <a:ea typeface="Calibri" pitchFamily="34" charset="-122"/>
                <a:cs typeface="Calibri" pitchFamily="34" charset="-120"/>
              </a:rPr>
              <a:t>THE WHITE HOUSE</a:t>
            </a:r>
            <a:endParaRPr lang="en-US" sz="1100" dirty="0"/>
          </a:p>
          <a:p>
            <a:pPr algn="ctr" indent="0" marL="0">
              <a:buNone/>
            </a:pPr>
            <a:r>
              <a:rPr lang="en-US" sz="1100" b="1" spc="200" kern="0" dirty="0">
                <a:solidFill>
                  <a:srgbClr val="333333"/>
                </a:solidFill>
                <a:latin typeface="Calibri" pitchFamily="34" charset="0"/>
                <a:ea typeface="Calibri" pitchFamily="34" charset="-122"/>
                <a:cs typeface="Calibri" pitchFamily="34" charset="-120"/>
              </a:rPr>
              <a:t>WASHINGTON</a:t>
            </a:r>
            <a:endParaRPr lang="en-US" sz="1100" dirty="0"/>
          </a:p>
        </p:txBody>
      </p:sp>
      <p:sp>
        <p:nvSpPr>
          <p:cNvPr id="6" name="Text 4"/>
          <p:cNvSpPr/>
          <p:nvPr/>
        </p:nvSpPr>
        <p:spPr>
          <a:xfrm>
            <a:off x="457200" y="3200400"/>
            <a:ext cx="5120640" cy="320040"/>
          </a:xfrm>
          <a:prstGeom prst="rect">
            <a:avLst/>
          </a:prstGeom>
          <a:noFill/>
          <a:ln/>
        </p:spPr>
        <p:txBody>
          <a:bodyPr wrap="square" rtlCol="0" anchor="ctr"/>
          <a:lstStyle/>
          <a:p>
            <a:pPr algn="ctr" indent="0" marL="0">
              <a:buNone/>
            </a:pPr>
            <a:r>
              <a:rPr lang="en-US" sz="1100" dirty="0">
                <a:solidFill>
                  <a:srgbClr val="333333"/>
                </a:solidFill>
                <a:latin typeface="Calibri" pitchFamily="34" charset="0"/>
                <a:ea typeface="Calibri" pitchFamily="34" charset="-122"/>
                <a:cs typeface="Calibri" pitchFamily="34" charset="-120"/>
              </a:rPr>
              <a:t>March 22, 2023</a:t>
            </a:r>
            <a:endParaRPr lang="en-US" sz="1100" dirty="0"/>
          </a:p>
        </p:txBody>
      </p:sp>
      <p:sp>
        <p:nvSpPr>
          <p:cNvPr id="7" name="Text 5"/>
          <p:cNvSpPr/>
          <p:nvPr/>
        </p:nvSpPr>
        <p:spPr>
          <a:xfrm>
            <a:off x="594360" y="3611880"/>
            <a:ext cx="4846320" cy="1645920"/>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Dear Mr. O'Hara,</a:t>
            </a:r>
            <a:endParaRPr lang="en-US" sz="1200" dirty="0"/>
          </a:p>
          <a:p>
            <a:pPr indent="0" marL="0">
              <a:buNone/>
            </a:pPr>
            <a:endParaRPr lang="en-US" sz="1200" dirty="0"/>
          </a:p>
          <a:p>
            <a:pPr indent="0" marL="0">
              <a:buNone/>
            </a:pPr>
            <a:r>
              <a:rPr lang="en-US" sz="1200" dirty="0">
                <a:solidFill>
                  <a:srgbClr val="333333"/>
                </a:solidFill>
                <a:latin typeface="Calibri" pitchFamily="34" charset="0"/>
                <a:ea typeface="Calibri" pitchFamily="34" charset="-122"/>
                <a:cs typeface="Calibri" pitchFamily="34" charset="-120"/>
              </a:rPr>
              <a:t>Thank you for writing to me about the urgent climate crisis. The science confirms what we all know to be true...</a:t>
            </a:r>
            <a:endParaRPr lang="en-US" sz="1200" dirty="0"/>
          </a:p>
        </p:txBody>
      </p:sp>
      <p:sp>
        <p:nvSpPr>
          <p:cNvPr id="8" name="Shape 6"/>
          <p:cNvSpPr/>
          <p:nvPr/>
        </p:nvSpPr>
        <p:spPr>
          <a:xfrm>
            <a:off x="2286000" y="5532120"/>
            <a:ext cx="1463040" cy="0"/>
          </a:xfrm>
          <a:prstGeom prst="line">
            <a:avLst/>
          </a:prstGeom>
          <a:noFill/>
          <a:ln w="12700">
            <a:solidFill>
              <a:srgbClr val="333333"/>
            </a:solidFill>
            <a:prstDash val="solid"/>
          </a:ln>
        </p:spPr>
      </p:sp>
      <p:sp>
        <p:nvSpPr>
          <p:cNvPr id="9" name="Text 7"/>
          <p:cNvSpPr/>
          <p:nvPr/>
        </p:nvSpPr>
        <p:spPr>
          <a:xfrm>
            <a:off x="457200" y="5623560"/>
            <a:ext cx="5120640" cy="320040"/>
          </a:xfrm>
          <a:prstGeom prst="rect">
            <a:avLst/>
          </a:prstGeom>
          <a:noFill/>
          <a:ln/>
        </p:spPr>
        <p:txBody>
          <a:bodyPr wrap="square" rtlCol="0" anchor="ctr"/>
          <a:lstStyle/>
          <a:p>
            <a:pPr algn="ctr" indent="0" marL="0">
              <a:buNone/>
            </a:pPr>
            <a:r>
              <a:rPr lang="en-US" sz="1100" i="1" dirty="0">
                <a:solidFill>
                  <a:srgbClr val="333333"/>
                </a:solidFill>
                <a:latin typeface="Calibri" pitchFamily="34" charset="0"/>
                <a:ea typeface="Calibri" pitchFamily="34" charset="-122"/>
                <a:cs typeface="Calibri" pitchFamily="34" charset="-120"/>
              </a:rPr>
              <a:t>Joe Biden</a:t>
            </a:r>
            <a:endParaRPr lang="en-US" sz="1100" dirty="0"/>
          </a:p>
        </p:txBody>
      </p:sp>
      <p:sp>
        <p:nvSpPr>
          <p:cNvPr id="10" name="Text 8"/>
          <p:cNvSpPr/>
          <p:nvPr/>
        </p:nvSpPr>
        <p:spPr>
          <a:xfrm>
            <a:off x="6400800" y="914400"/>
            <a:ext cx="5303520" cy="2011680"/>
          </a:xfrm>
          <a:prstGeom prst="rect">
            <a:avLst/>
          </a:prstGeom>
          <a:noFill/>
          <a:ln/>
        </p:spPr>
        <p:txBody>
          <a:bodyPr wrap="square" rtlCol="0" anchor="t"/>
          <a:lstStyle/>
          <a:p>
            <a:pPr indent="0" marL="0">
              <a:buNone/>
            </a:pPr>
            <a:r>
              <a:rPr lang="en-US" sz="3200" b="1" i="1" dirty="0">
                <a:solidFill>
                  <a:srgbClr val="FFFFFF"/>
                </a:solidFill>
                <a:latin typeface="Georgia" pitchFamily="34" charset="0"/>
                <a:ea typeface="Georgia" pitchFamily="34" charset="-122"/>
                <a:cs typeface="Georgia" pitchFamily="34" charset="-120"/>
              </a:rPr>
              <a:t>"Thank you for writing to me about the urgent climate crisis."</a:t>
            </a:r>
            <a:endParaRPr lang="en-US" sz="3200" dirty="0"/>
          </a:p>
        </p:txBody>
      </p:sp>
      <p:sp>
        <p:nvSpPr>
          <p:cNvPr id="11" name="Text 9"/>
          <p:cNvSpPr/>
          <p:nvPr/>
        </p:nvSpPr>
        <p:spPr>
          <a:xfrm>
            <a:off x="6400800" y="3017520"/>
            <a:ext cx="5303520" cy="640080"/>
          </a:xfrm>
          <a:prstGeom prst="rect">
            <a:avLst/>
          </a:prstGeom>
          <a:noFill/>
          <a:ln/>
        </p:spPr>
        <p:txBody>
          <a:bodyPr wrap="square" rtlCol="0" anchor="ctr"/>
          <a:lstStyle/>
          <a:p>
            <a:pPr indent="0" marL="0">
              <a:buNone/>
            </a:pPr>
            <a:r>
              <a:rPr lang="en-US" sz="1200" dirty="0">
                <a:solidFill>
                  <a:srgbClr val="3DDC84"/>
                </a:solidFill>
                <a:latin typeface="Courier New" pitchFamily="34" charset="0"/>
                <a:ea typeface="Courier New" pitchFamily="34" charset="-122"/>
                <a:cs typeface="Courier New" pitchFamily="34" charset="-120"/>
              </a:rPr>
              <a:t>— The White House</a:t>
            </a:r>
            <a:endParaRPr lang="en-US" sz="1200" dirty="0"/>
          </a:p>
          <a:p>
            <a:pPr indent="0" marL="0">
              <a:buNone/>
            </a:pPr>
            <a:r>
              <a:rPr lang="en-US" sz="1200" dirty="0">
                <a:solidFill>
                  <a:srgbClr val="3DDC84"/>
                </a:solidFill>
                <a:latin typeface="Courier New" pitchFamily="34" charset="0"/>
                <a:ea typeface="Courier New" pitchFamily="34" charset="-122"/>
                <a:cs typeface="Courier New" pitchFamily="34" charset="-120"/>
              </a:rPr>
              <a:t>March 22, 2023</a:t>
            </a:r>
            <a:endParaRPr lang="en-US" sz="1200" dirty="0"/>
          </a:p>
        </p:txBody>
      </p:sp>
      <p:sp>
        <p:nvSpPr>
          <p:cNvPr id="12" name="Shape 10"/>
          <p:cNvSpPr/>
          <p:nvPr/>
        </p:nvSpPr>
        <p:spPr>
          <a:xfrm>
            <a:off x="6400800" y="3840480"/>
            <a:ext cx="5303520" cy="1828800"/>
          </a:xfrm>
          <a:prstGeom prst="rect">
            <a:avLst/>
          </a:prstGeom>
          <a:solidFill>
            <a:srgbClr val="192119"/>
          </a:solidFill>
          <a:ln w="6350">
            <a:solidFill>
              <a:srgbClr val="2E5234"/>
            </a:solidFill>
            <a:prstDash val="solid"/>
          </a:ln>
        </p:spPr>
      </p:sp>
      <p:sp>
        <p:nvSpPr>
          <p:cNvPr id="13" name="Text 11"/>
          <p:cNvSpPr/>
          <p:nvPr/>
        </p:nvSpPr>
        <p:spPr>
          <a:xfrm>
            <a:off x="6583680" y="3977640"/>
            <a:ext cx="4937760" cy="1097280"/>
          </a:xfrm>
          <a:prstGeom prst="rect">
            <a:avLst/>
          </a:prstGeom>
          <a:noFill/>
          <a:ln/>
        </p:spPr>
        <p:txBody>
          <a:bodyPr wrap="square" rtlCol="0" anchor="ctr"/>
          <a:lstStyle/>
          <a:p>
            <a:pPr indent="0" marL="0">
              <a:buNone/>
            </a:pPr>
            <a:r>
              <a:rPr lang="en-US" sz="1600" i="1" dirty="0">
                <a:solidFill>
                  <a:srgbClr val="7A9E80"/>
                </a:solidFill>
                <a:latin typeface="Calibri" pitchFamily="34" charset="0"/>
                <a:ea typeface="Calibri" pitchFamily="34" charset="-122"/>
                <a:cs typeface="Calibri" pitchFamily="34" charset="-120"/>
              </a:rPr>
              <a:t>In response to a petition for a Global Earth Month — sent from this movement, before GLAM had a name.</a:t>
            </a:r>
            <a:endParaRPr lang="en-US" sz="1600" dirty="0"/>
          </a:p>
        </p:txBody>
      </p:sp>
      <p:sp>
        <p:nvSpPr>
          <p:cNvPr id="14" name="Text 12"/>
          <p:cNvSpPr/>
          <p:nvPr/>
        </p:nvSpPr>
        <p:spPr>
          <a:xfrm>
            <a:off x="6583680" y="5166360"/>
            <a:ext cx="4937760" cy="548640"/>
          </a:xfrm>
          <a:prstGeom prst="rect">
            <a:avLst/>
          </a:prstGeom>
          <a:noFill/>
          <a:ln/>
        </p:spPr>
        <p:txBody>
          <a:bodyPr wrap="square" rtlCol="0" anchor="ctr"/>
          <a:lstStyle/>
          <a:p>
            <a:pPr indent="0" marL="0">
              <a:buNone/>
            </a:pPr>
            <a:r>
              <a:rPr lang="en-US" sz="1800" b="1" dirty="0">
                <a:solidFill>
                  <a:srgbClr val="3DDC84"/>
                </a:solidFill>
                <a:latin typeface="Georgia" pitchFamily="34" charset="0"/>
                <a:ea typeface="Georgia" pitchFamily="34" charset="-122"/>
                <a:cs typeface="Georgia" pitchFamily="34" charset="-120"/>
              </a:rPr>
              <a:t>I've been at this for a while.</a:t>
            </a:r>
            <a:endParaRPr lang="en-US" sz="1800" dirty="0"/>
          </a:p>
          <a:p>
            <a:pPr indent="0" marL="0">
              <a:buNone/>
            </a:pPr>
            <a:r>
              <a:rPr lang="en-US" sz="1800" b="1" dirty="0">
                <a:solidFill>
                  <a:srgbClr val="3DDC84"/>
                </a:solidFill>
                <a:latin typeface="Georgia" pitchFamily="34" charset="0"/>
                <a:ea typeface="Georgia" pitchFamily="34" charset="-122"/>
                <a:cs typeface="Georgia" pitchFamily="34" charset="-120"/>
              </a:rPr>
              <a:t>Today is the result.</a:t>
            </a:r>
            <a:endParaRPr lang="en-US" sz="1800" dirty="0"/>
          </a:p>
        </p:txBody>
      </p:sp>
      <p:sp>
        <p:nvSpPr>
          <p:cNvPr id="15" name="Shape 13"/>
          <p:cNvSpPr/>
          <p:nvPr/>
        </p:nvSpPr>
        <p:spPr>
          <a:xfrm>
            <a:off x="502920" y="4754880"/>
            <a:ext cx="1737360" cy="256032"/>
          </a:xfrm>
          <a:prstGeom prst="rect">
            <a:avLst/>
          </a:prstGeom>
          <a:solidFill>
            <a:srgbClr val="192119"/>
          </a:solidFill>
          <a:ln w="6350">
            <a:solidFill>
              <a:srgbClr val="2E5234"/>
            </a:solidFill>
            <a:prstDash val="solid"/>
          </a:ln>
        </p:spPr>
      </p:sp>
      <p:sp>
        <p:nvSpPr>
          <p:cNvPr id="16" name="Text 14"/>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2:35 PM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640080"/>
            <a:ext cx="7315200" cy="3200400"/>
          </a:xfrm>
          <a:prstGeom prst="rect">
            <a:avLst/>
          </a:prstGeom>
          <a:noFill/>
          <a:ln/>
          <a:effectLst>
            <a:outerShdw sx="100000" sy="100000" kx="0" ky="0" algn="bl" rotWithShape="0" blurRad="101600" dist="38100" dir="8100000">
              <a:srgbClr val="000000">
                <a:alpha val="35000"/>
              </a:srgbClr>
            </a:outerShdw>
          </a:effectLst>
        </p:spPr>
        <p:txBody>
          <a:bodyPr wrap="square"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Global Local</a:t>
            </a:r>
            <a:endParaRPr lang="en-US" sz="7200" dirty="0"/>
          </a:p>
          <a:p>
            <a:pPr indent="0" marL="0">
              <a:buNone/>
            </a:pPr>
            <a:r>
              <a:rPr lang="en-US" sz="7200" b="1" dirty="0">
                <a:solidFill>
                  <a:srgbClr val="FFFFFF"/>
                </a:solidFill>
                <a:latin typeface="Georgia" pitchFamily="34" charset="0"/>
                <a:ea typeface="Georgia" pitchFamily="34" charset="-122"/>
                <a:cs typeface="Georgia" pitchFamily="34" charset="-120"/>
              </a:rPr>
              <a:t>AI Mobilization</a:t>
            </a:r>
            <a:endParaRPr lang="en-US" sz="7200" dirty="0"/>
          </a:p>
        </p:txBody>
      </p:sp>
      <p:sp>
        <p:nvSpPr>
          <p:cNvPr id="3" name="Text 1"/>
          <p:cNvSpPr/>
          <p:nvPr/>
        </p:nvSpPr>
        <p:spPr>
          <a:xfrm>
            <a:off x="502920" y="3840480"/>
            <a:ext cx="7315200" cy="548640"/>
          </a:xfrm>
          <a:prstGeom prst="rect">
            <a:avLst/>
          </a:prstGeom>
          <a:noFill/>
          <a:ln/>
        </p:spPr>
        <p:txBody>
          <a:bodyPr wrap="square" rtlCol="0" anchor="ctr"/>
          <a:lstStyle/>
          <a:p>
            <a:pPr indent="0" marL="0">
              <a:buNone/>
            </a:pPr>
            <a:r>
              <a:rPr lang="en-US" sz="2600" i="1" dirty="0">
                <a:solidFill>
                  <a:srgbClr val="7A9E80"/>
                </a:solidFill>
                <a:latin typeface="Calibri" pitchFamily="34" charset="0"/>
                <a:ea typeface="Calibri" pitchFamily="34" charset="-122"/>
                <a:cs typeface="Calibri" pitchFamily="34" charset="-120"/>
              </a:rPr>
              <a:t>A movement. Not a startup.</a:t>
            </a:r>
            <a:endParaRPr lang="en-US" sz="2600" dirty="0"/>
          </a:p>
        </p:txBody>
      </p:sp>
      <p:sp>
        <p:nvSpPr>
          <p:cNvPr id="4" name="Shape 2"/>
          <p:cNvSpPr/>
          <p:nvPr/>
        </p:nvSpPr>
        <p:spPr>
          <a:xfrm>
            <a:off x="9235440" y="640080"/>
            <a:ext cx="2560320" cy="685800"/>
          </a:xfrm>
          <a:prstGeom prst="rect">
            <a:avLst/>
          </a:prstGeom>
          <a:solidFill>
            <a:srgbClr val="2AB86A"/>
          </a:solidFill>
          <a:ln w="12700">
            <a:solidFill>
              <a:srgbClr val="2AB86A"/>
            </a:solidFill>
            <a:prstDash val="solid"/>
          </a:ln>
        </p:spPr>
      </p:sp>
      <p:sp>
        <p:nvSpPr>
          <p:cNvPr id="5" name="Text 3"/>
          <p:cNvSpPr/>
          <p:nvPr/>
        </p:nvSpPr>
        <p:spPr>
          <a:xfrm>
            <a:off x="9235440" y="640080"/>
            <a:ext cx="2560320" cy="685800"/>
          </a:xfrm>
          <a:prstGeom prst="rect">
            <a:avLst/>
          </a:prstGeom>
          <a:noFill/>
          <a:ln/>
        </p:spPr>
        <p:txBody>
          <a:bodyPr wrap="square" rtlCol="0" anchor="ctr"/>
          <a:lstStyle/>
          <a:p>
            <a:pPr algn="ctr" indent="0" marL="0">
              <a:buNone/>
            </a:pPr>
            <a:r>
              <a:rPr lang="en-US" sz="1500" b="1" dirty="0">
                <a:solidFill>
                  <a:srgbClr val="060A07"/>
                </a:solidFill>
                <a:latin typeface="Courier New" pitchFamily="34" charset="0"/>
                <a:ea typeface="Courier New" pitchFamily="34" charset="-122"/>
                <a:cs typeface="Courier New" pitchFamily="34" charset="-120"/>
              </a:rPr>
              <a:t>Local</a:t>
            </a:r>
            <a:endParaRPr lang="en-US" sz="1500" dirty="0"/>
          </a:p>
        </p:txBody>
      </p:sp>
      <p:sp>
        <p:nvSpPr>
          <p:cNvPr id="6" name="Shape 4"/>
          <p:cNvSpPr/>
          <p:nvPr/>
        </p:nvSpPr>
        <p:spPr>
          <a:xfrm>
            <a:off x="9235440" y="1645920"/>
            <a:ext cx="2560320" cy="685800"/>
          </a:xfrm>
          <a:prstGeom prst="rect">
            <a:avLst/>
          </a:prstGeom>
          <a:solidFill>
            <a:srgbClr val="192119"/>
          </a:solidFill>
          <a:ln w="12700">
            <a:solidFill>
              <a:srgbClr val="2AB86A"/>
            </a:solidFill>
            <a:prstDash val="solid"/>
          </a:ln>
        </p:spPr>
      </p:sp>
      <p:sp>
        <p:nvSpPr>
          <p:cNvPr id="7" name="Text 5"/>
          <p:cNvSpPr/>
          <p:nvPr/>
        </p:nvSpPr>
        <p:spPr>
          <a:xfrm>
            <a:off x="9235440" y="1645920"/>
            <a:ext cx="2560320" cy="685800"/>
          </a:xfrm>
          <a:prstGeom prst="rect">
            <a:avLst/>
          </a:prstGeom>
          <a:noFill/>
          <a:ln/>
        </p:spPr>
        <p:txBody>
          <a:bodyPr wrap="square" rtlCol="0" anchor="ctr"/>
          <a:lstStyle/>
          <a:p>
            <a:pPr algn="ctr" indent="0" marL="0">
              <a:buNone/>
            </a:pPr>
            <a:r>
              <a:rPr lang="en-US" sz="1500" b="1" dirty="0">
                <a:solidFill>
                  <a:srgbClr val="3DDC84"/>
                </a:solidFill>
                <a:latin typeface="Courier New" pitchFamily="34" charset="0"/>
                <a:ea typeface="Courier New" pitchFamily="34" charset="-122"/>
                <a:cs typeface="Courier New" pitchFamily="34" charset="-120"/>
              </a:rPr>
              <a:t>Private</a:t>
            </a:r>
            <a:endParaRPr lang="en-US" sz="1500" dirty="0"/>
          </a:p>
        </p:txBody>
      </p:sp>
      <p:sp>
        <p:nvSpPr>
          <p:cNvPr id="8" name="Shape 6"/>
          <p:cNvSpPr/>
          <p:nvPr/>
        </p:nvSpPr>
        <p:spPr>
          <a:xfrm>
            <a:off x="9235440" y="2651760"/>
            <a:ext cx="2560320" cy="685800"/>
          </a:xfrm>
          <a:prstGeom prst="rect">
            <a:avLst/>
          </a:prstGeom>
          <a:solidFill>
            <a:srgbClr val="192119"/>
          </a:solidFill>
          <a:ln w="12700">
            <a:solidFill>
              <a:srgbClr val="2AB86A"/>
            </a:solidFill>
            <a:prstDash val="solid"/>
          </a:ln>
        </p:spPr>
      </p:sp>
      <p:sp>
        <p:nvSpPr>
          <p:cNvPr id="9" name="Text 7"/>
          <p:cNvSpPr/>
          <p:nvPr/>
        </p:nvSpPr>
        <p:spPr>
          <a:xfrm>
            <a:off x="9235440" y="2651760"/>
            <a:ext cx="2560320" cy="685800"/>
          </a:xfrm>
          <a:prstGeom prst="rect">
            <a:avLst/>
          </a:prstGeom>
          <a:noFill/>
          <a:ln/>
        </p:spPr>
        <p:txBody>
          <a:bodyPr wrap="square" rtlCol="0" anchor="ctr"/>
          <a:lstStyle/>
          <a:p>
            <a:pPr algn="ctr" indent="0" marL="0">
              <a:buNone/>
            </a:pPr>
            <a:r>
              <a:rPr lang="en-US" sz="1500" b="1" dirty="0">
                <a:solidFill>
                  <a:srgbClr val="3DDC84"/>
                </a:solidFill>
                <a:latin typeface="Courier New" pitchFamily="34" charset="0"/>
                <a:ea typeface="Courier New" pitchFamily="34" charset="-122"/>
                <a:cs typeface="Courier New" pitchFamily="34" charset="-120"/>
              </a:rPr>
              <a:t>Sovereign</a:t>
            </a:r>
            <a:endParaRPr lang="en-US" sz="1500" dirty="0"/>
          </a:p>
        </p:txBody>
      </p:sp>
      <p:sp>
        <p:nvSpPr>
          <p:cNvPr id="10" name="Shape 8"/>
          <p:cNvSpPr/>
          <p:nvPr/>
        </p:nvSpPr>
        <p:spPr>
          <a:xfrm>
            <a:off x="9235440" y="3657600"/>
            <a:ext cx="2560320" cy="685800"/>
          </a:xfrm>
          <a:prstGeom prst="rect">
            <a:avLst/>
          </a:prstGeom>
          <a:solidFill>
            <a:srgbClr val="192119"/>
          </a:solidFill>
          <a:ln w="12700">
            <a:solidFill>
              <a:srgbClr val="2AB86A"/>
            </a:solidFill>
            <a:prstDash val="solid"/>
          </a:ln>
        </p:spPr>
      </p:sp>
      <p:sp>
        <p:nvSpPr>
          <p:cNvPr id="11" name="Text 9"/>
          <p:cNvSpPr/>
          <p:nvPr/>
        </p:nvSpPr>
        <p:spPr>
          <a:xfrm>
            <a:off x="9235440" y="3657600"/>
            <a:ext cx="2560320" cy="685800"/>
          </a:xfrm>
          <a:prstGeom prst="rect">
            <a:avLst/>
          </a:prstGeom>
          <a:noFill/>
          <a:ln/>
        </p:spPr>
        <p:txBody>
          <a:bodyPr wrap="square" rtlCol="0" anchor="ctr"/>
          <a:lstStyle/>
          <a:p>
            <a:pPr algn="ctr" indent="0" marL="0">
              <a:buNone/>
            </a:pPr>
            <a:r>
              <a:rPr lang="en-US" sz="1500" b="1" dirty="0">
                <a:solidFill>
                  <a:srgbClr val="3DDC84"/>
                </a:solidFill>
                <a:latin typeface="Courier New" pitchFamily="34" charset="0"/>
                <a:ea typeface="Courier New" pitchFamily="34" charset="-122"/>
                <a:cs typeface="Courier New" pitchFamily="34" charset="-120"/>
              </a:rPr>
              <a:t>Open Source</a:t>
            </a:r>
            <a:endParaRPr lang="en-US" sz="1500" dirty="0"/>
          </a:p>
        </p:txBody>
      </p:sp>
      <p:sp>
        <p:nvSpPr>
          <p:cNvPr id="12" name="Shape 10"/>
          <p:cNvSpPr/>
          <p:nvPr/>
        </p:nvSpPr>
        <p:spPr>
          <a:xfrm>
            <a:off x="9235440" y="4663440"/>
            <a:ext cx="2560320" cy="685800"/>
          </a:xfrm>
          <a:prstGeom prst="rect">
            <a:avLst/>
          </a:prstGeom>
          <a:solidFill>
            <a:srgbClr val="192119"/>
          </a:solidFill>
          <a:ln w="12700">
            <a:solidFill>
              <a:srgbClr val="2AB86A"/>
            </a:solidFill>
            <a:prstDash val="solid"/>
          </a:ln>
        </p:spPr>
      </p:sp>
      <p:sp>
        <p:nvSpPr>
          <p:cNvPr id="13" name="Text 11"/>
          <p:cNvSpPr/>
          <p:nvPr/>
        </p:nvSpPr>
        <p:spPr>
          <a:xfrm>
            <a:off x="9235440" y="4663440"/>
            <a:ext cx="2560320" cy="685800"/>
          </a:xfrm>
          <a:prstGeom prst="rect">
            <a:avLst/>
          </a:prstGeom>
          <a:noFill/>
          <a:ln/>
        </p:spPr>
        <p:txBody>
          <a:bodyPr wrap="square" rtlCol="0" anchor="ctr"/>
          <a:lstStyle/>
          <a:p>
            <a:pPr algn="ctr" indent="0" marL="0">
              <a:buNone/>
            </a:pPr>
            <a:r>
              <a:rPr lang="en-US" sz="1500" b="1" dirty="0">
                <a:solidFill>
                  <a:srgbClr val="3DDC84"/>
                </a:solidFill>
                <a:latin typeface="Courier New" pitchFamily="34" charset="0"/>
                <a:ea typeface="Courier New" pitchFamily="34" charset="-122"/>
                <a:cs typeface="Courier New" pitchFamily="34" charset="-120"/>
              </a:rPr>
              <a:t>Non-Profit</a:t>
            </a:r>
            <a:endParaRPr lang="en-US" sz="1500" dirty="0"/>
          </a:p>
        </p:txBody>
      </p:sp>
      <p:sp>
        <p:nvSpPr>
          <p:cNvPr id="14" name="Text 12"/>
          <p:cNvSpPr/>
          <p:nvPr/>
        </p:nvSpPr>
        <p:spPr>
          <a:xfrm>
            <a:off x="502920" y="4572000"/>
            <a:ext cx="3657600" cy="365760"/>
          </a:xfrm>
          <a:prstGeom prst="rect">
            <a:avLst/>
          </a:prstGeom>
          <a:noFill/>
          <a:ln/>
        </p:spPr>
        <p:txBody>
          <a:bodyPr wrap="square" rtlCol="0" anchor="ctr"/>
          <a:lstStyle/>
          <a:p>
            <a:pPr indent="0" marL="0">
              <a:buNone/>
            </a:pPr>
            <a:r>
              <a:rPr lang="en-US" sz="1300" dirty="0">
                <a:solidFill>
                  <a:srgbClr val="2E5234"/>
                </a:solidFill>
                <a:latin typeface="Courier New" pitchFamily="34" charset="0"/>
                <a:ea typeface="Courier New" pitchFamily="34" charset="-122"/>
                <a:cs typeface="Courier New" pitchFamily="34" charset="-120"/>
              </a:rPr>
              <a:t>globallocal.ai</a:t>
            </a:r>
            <a:endParaRPr lang="en-US" sz="1300" dirty="0"/>
          </a:p>
        </p:txBody>
      </p:sp>
      <p:sp>
        <p:nvSpPr>
          <p:cNvPr id="15" name="Shape 13"/>
          <p:cNvSpPr/>
          <p:nvPr/>
        </p:nvSpPr>
        <p:spPr>
          <a:xfrm>
            <a:off x="502920" y="4754880"/>
            <a:ext cx="1737360" cy="256032"/>
          </a:xfrm>
          <a:prstGeom prst="rect">
            <a:avLst/>
          </a:prstGeom>
          <a:solidFill>
            <a:srgbClr val="192119"/>
          </a:solidFill>
          <a:ln w="6350">
            <a:solidFill>
              <a:srgbClr val="2E5234"/>
            </a:solidFill>
            <a:prstDash val="solid"/>
          </a:ln>
        </p:spPr>
      </p:sp>
      <p:sp>
        <p:nvSpPr>
          <p:cNvPr id="16" name="Text 14"/>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2:38 PM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A07"/>
        </a:solidFill>
      </p:bgPr>
    </p:bg>
    <p:spTree>
      <p:nvGrpSpPr>
        <p:cNvPr id="1" name=""/>
        <p:cNvGrpSpPr/>
        <p:nvPr/>
      </p:nvGrpSpPr>
      <p:grpSpPr>
        <a:xfrm>
          <a:off x="0" y="0"/>
          <a:ext cx="0" cy="0"/>
          <a:chOff x="0" y="0"/>
          <a:chExt cx="0" cy="0"/>
        </a:xfrm>
      </p:grpSpPr>
      <p:pic>
        <p:nvPicPr>
          <p:cNvPr id="2" name="Image 0" descr="/mnt/user-data/uploads/blueonwhitebackgroundwithtagline_3a15df02-3768-42fa-be62-19f1e4b68595.png">    </p:cNvPr>
          <p:cNvPicPr>
            <a:picLocks noChangeAspect="1"/>
          </p:cNvPicPr>
          <p:nvPr/>
        </p:nvPicPr>
        <p:blipFill>
          <a:blip r:embed="rId1"/>
          <a:stretch>
            <a:fillRect/>
          </a:stretch>
        </p:blipFill>
        <p:spPr>
          <a:xfrm>
            <a:off x="2423160" y="457200"/>
            <a:ext cx="7315200" cy="3048000"/>
          </a:xfrm>
          <a:prstGeom prst="rect">
            <a:avLst/>
          </a:prstGeom>
        </p:spPr>
      </p:pic>
      <p:sp>
        <p:nvSpPr>
          <p:cNvPr id="3" name="Shape 0"/>
          <p:cNvSpPr/>
          <p:nvPr/>
        </p:nvSpPr>
        <p:spPr>
          <a:xfrm>
            <a:off x="0" y="3657600"/>
            <a:ext cx="12161520" cy="36576"/>
          </a:xfrm>
          <a:prstGeom prst="rect">
            <a:avLst/>
          </a:prstGeom>
          <a:solidFill>
            <a:srgbClr val="3DDC84"/>
          </a:solidFill>
          <a:ln w="12700">
            <a:solidFill>
              <a:srgbClr val="3DDC84"/>
            </a:solidFill>
            <a:prstDash val="solid"/>
          </a:ln>
        </p:spPr>
      </p:sp>
      <p:sp>
        <p:nvSpPr>
          <p:cNvPr id="4" name="Text 1"/>
          <p:cNvSpPr/>
          <p:nvPr/>
        </p:nvSpPr>
        <p:spPr>
          <a:xfrm>
            <a:off x="502920" y="3840480"/>
            <a:ext cx="11155680" cy="6400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Today — April 22, 2026 — is Earth Day.</a:t>
            </a:r>
            <a:endParaRPr lang="en-US" sz="3600" dirty="0"/>
          </a:p>
        </p:txBody>
      </p:sp>
      <p:sp>
        <p:nvSpPr>
          <p:cNvPr id="5" name="Text 2"/>
          <p:cNvSpPr/>
          <p:nvPr/>
        </p:nvSpPr>
        <p:spPr>
          <a:xfrm>
            <a:off x="502920" y="4526280"/>
            <a:ext cx="11155680" cy="502920"/>
          </a:xfrm>
          <a:prstGeom prst="rect">
            <a:avLst/>
          </a:prstGeom>
          <a:noFill/>
          <a:ln/>
        </p:spPr>
        <p:txBody>
          <a:bodyPr wrap="square" rtlCol="0" anchor="ctr"/>
          <a:lstStyle/>
          <a:p>
            <a:pPr algn="ctr" indent="0" marL="0">
              <a:buNone/>
            </a:pPr>
            <a:r>
              <a:rPr lang="en-US" sz="2200" i="1" dirty="0">
                <a:solidFill>
                  <a:srgbClr val="3DDC84"/>
                </a:solidFill>
                <a:latin typeface="Calibri" pitchFamily="34" charset="0"/>
                <a:ea typeface="Calibri" pitchFamily="34" charset="-122"/>
                <a:cs typeface="Calibri" pitchFamily="34" charset="-120"/>
              </a:rPr>
              <a:t>Global Local AI launches today. On purpose.</a:t>
            </a:r>
            <a:endParaRPr lang="en-US" sz="2200" dirty="0"/>
          </a:p>
        </p:txBody>
      </p:sp>
      <p:sp>
        <p:nvSpPr>
          <p:cNvPr id="6" name="Text 3"/>
          <p:cNvSpPr/>
          <p:nvPr/>
        </p:nvSpPr>
        <p:spPr>
          <a:xfrm>
            <a:off x="502920" y="5120640"/>
            <a:ext cx="11155680" cy="365760"/>
          </a:xfrm>
          <a:prstGeom prst="rect">
            <a:avLst/>
          </a:prstGeom>
          <a:noFill/>
          <a:ln/>
        </p:spPr>
        <p:txBody>
          <a:bodyPr wrap="square" rtlCol="0" anchor="ctr"/>
          <a:lstStyle/>
          <a:p>
            <a:pPr algn="ctr" indent="0" marL="0">
              <a:buNone/>
            </a:pPr>
            <a:r>
              <a:rPr lang="en-US" sz="1100" spc="200" kern="0" dirty="0">
                <a:solidFill>
                  <a:srgbClr val="2E5234"/>
                </a:solidFill>
                <a:latin typeface="Courier New" pitchFamily="34" charset="0"/>
                <a:ea typeface="Courier New" pitchFamily="34" charset="-122"/>
                <a:cs typeface="Courier New" pitchFamily="34" charset="-120"/>
              </a:rPr>
              <a:t>1 Billion People  ·  192 Countries  ·  150,000 Partners</a:t>
            </a:r>
            <a:endParaRPr lang="en-US" sz="1100" dirty="0"/>
          </a:p>
        </p:txBody>
      </p:sp>
      <p:sp>
        <p:nvSpPr>
          <p:cNvPr id="7" name="Shape 4"/>
          <p:cNvSpPr/>
          <p:nvPr/>
        </p:nvSpPr>
        <p:spPr>
          <a:xfrm>
            <a:off x="502920" y="4754880"/>
            <a:ext cx="1737360" cy="256032"/>
          </a:xfrm>
          <a:prstGeom prst="rect">
            <a:avLst/>
          </a:prstGeom>
          <a:solidFill>
            <a:srgbClr val="192119"/>
          </a:solidFill>
          <a:ln w="6350">
            <a:solidFill>
              <a:srgbClr val="2E5234"/>
            </a:solidFill>
            <a:prstDash val="solid"/>
          </a:ln>
        </p:spPr>
      </p:sp>
      <p:sp>
        <p:nvSpPr>
          <p:cNvPr id="8" name="Text 5"/>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2:39 PM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THE TEAM  ·  2:40 PM</a:t>
            </a:r>
            <a:endParaRPr lang="en-US" sz="1000" dirty="0"/>
          </a:p>
        </p:txBody>
      </p:sp>
      <p:sp>
        <p:nvSpPr>
          <p:cNvPr id="3" name="Text 1"/>
          <p:cNvSpPr/>
          <p:nvPr/>
        </p:nvSpPr>
        <p:spPr>
          <a:xfrm>
            <a:off x="502920" y="548640"/>
            <a:ext cx="11155680" cy="146304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The people</a:t>
            </a:r>
            <a:endParaRPr lang="en-US" sz="5200" dirty="0"/>
          </a:p>
          <a:p>
            <a:pPr algn="ctr" indent="0" marL="0">
              <a:buNone/>
            </a:pPr>
            <a:r>
              <a:rPr lang="en-US" sz="5200" b="1" dirty="0">
                <a:solidFill>
                  <a:srgbClr val="FFFFFF"/>
                </a:solidFill>
                <a:latin typeface="Georgia" pitchFamily="34" charset="0"/>
                <a:ea typeface="Georgia" pitchFamily="34" charset="-122"/>
                <a:cs typeface="Georgia" pitchFamily="34" charset="-120"/>
              </a:rPr>
              <a:t>who made today.</a:t>
            </a:r>
            <a:endParaRPr lang="en-US" sz="5200" dirty="0"/>
          </a:p>
        </p:txBody>
      </p:sp>
      <p:sp>
        <p:nvSpPr>
          <p:cNvPr id="4" name="Shape 2"/>
          <p:cNvSpPr/>
          <p:nvPr/>
        </p:nvSpPr>
        <p:spPr>
          <a:xfrm>
            <a:off x="502920" y="2286000"/>
            <a:ext cx="3657600" cy="4114800"/>
          </a:xfrm>
          <a:prstGeom prst="rect">
            <a:avLst/>
          </a:prstGeom>
          <a:solidFill>
            <a:srgbClr val="192119"/>
          </a:solidFill>
          <a:ln w="25400">
            <a:solidFill>
              <a:srgbClr val="5DD8C0"/>
            </a:solidFill>
            <a:prstDash val="solid"/>
          </a:ln>
          <a:effectLst>
            <a:outerShdw sx="100000" sy="100000" kx="0" ky="0" algn="bl" rotWithShape="0" blurRad="152400" dist="50800" dir="8100000">
              <a:srgbClr val="000000">
                <a:alpha val="50000"/>
              </a:srgbClr>
            </a:outerShdw>
          </a:effectLst>
        </p:spPr>
      </p:sp>
      <p:sp>
        <p:nvSpPr>
          <p:cNvPr id="5" name="Shape 3"/>
          <p:cNvSpPr/>
          <p:nvPr/>
        </p:nvSpPr>
        <p:spPr>
          <a:xfrm>
            <a:off x="1645920" y="2468880"/>
            <a:ext cx="1371600" cy="1371600"/>
          </a:xfrm>
          <a:prstGeom prst="oval">
            <a:avLst/>
          </a:prstGeom>
          <a:solidFill>
            <a:srgbClr val="5DD8C0"/>
          </a:solidFill>
          <a:ln w="12700">
            <a:solidFill>
              <a:srgbClr val="5DD8C0"/>
            </a:solidFill>
            <a:prstDash val="solid"/>
          </a:ln>
        </p:spPr>
      </p:sp>
      <p:sp>
        <p:nvSpPr>
          <p:cNvPr id="6" name="Text 4"/>
          <p:cNvSpPr/>
          <p:nvPr/>
        </p:nvSpPr>
        <p:spPr>
          <a:xfrm>
            <a:off x="1645920" y="2468880"/>
            <a:ext cx="1371600" cy="1371600"/>
          </a:xfrm>
          <a:prstGeom prst="rect">
            <a:avLst/>
          </a:prstGeom>
          <a:noFill/>
          <a:ln/>
        </p:spPr>
        <p:txBody>
          <a:bodyPr wrap="square" rtlCol="0" anchor="ctr"/>
          <a:lstStyle/>
          <a:p>
            <a:pPr algn="ctr" indent="0" marL="0">
              <a:buNone/>
            </a:pPr>
            <a:r>
              <a:rPr lang="en-US" sz="4200" b="1" dirty="0">
                <a:solidFill>
                  <a:srgbClr val="060A07"/>
                </a:solidFill>
                <a:latin typeface="Georgia" pitchFamily="34" charset="0"/>
                <a:ea typeface="Georgia" pitchFamily="34" charset="-122"/>
                <a:cs typeface="Georgia" pitchFamily="34" charset="-120"/>
              </a:rPr>
              <a:t>C</a:t>
            </a:r>
            <a:endParaRPr lang="en-US" sz="4200" dirty="0"/>
          </a:p>
        </p:txBody>
      </p:sp>
      <p:sp>
        <p:nvSpPr>
          <p:cNvPr id="7" name="Text 5"/>
          <p:cNvSpPr/>
          <p:nvPr/>
        </p:nvSpPr>
        <p:spPr>
          <a:xfrm>
            <a:off x="640080" y="3977640"/>
            <a:ext cx="338328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Chris</a:t>
            </a:r>
            <a:endParaRPr lang="en-US" sz="2400" dirty="0"/>
          </a:p>
        </p:txBody>
      </p:sp>
      <p:sp>
        <p:nvSpPr>
          <p:cNvPr id="8" name="Text 6"/>
          <p:cNvSpPr/>
          <p:nvPr/>
        </p:nvSpPr>
        <p:spPr>
          <a:xfrm>
            <a:off x="640080" y="4526280"/>
            <a:ext cx="3383280" cy="365760"/>
          </a:xfrm>
          <a:prstGeom prst="rect">
            <a:avLst/>
          </a:prstGeom>
          <a:noFill/>
          <a:ln/>
        </p:spPr>
        <p:txBody>
          <a:bodyPr wrap="square" rtlCol="0" anchor="ctr"/>
          <a:lstStyle/>
          <a:p>
            <a:pPr algn="ctr" indent="0" marL="0">
              <a:buNone/>
            </a:pPr>
            <a:r>
              <a:rPr lang="en-US" sz="1000" spc="200" kern="0" dirty="0">
                <a:solidFill>
                  <a:srgbClr val="5DD8C0"/>
                </a:solidFill>
                <a:latin typeface="Courier New" pitchFamily="34" charset="0"/>
                <a:ea typeface="Courier New" pitchFamily="34" charset="-122"/>
                <a:cs typeface="Courier New" pitchFamily="34" charset="-120"/>
              </a:rPr>
              <a:t>DJ · Live Recording</a:t>
            </a:r>
            <a:endParaRPr lang="en-US" sz="1000" dirty="0"/>
          </a:p>
        </p:txBody>
      </p:sp>
      <p:sp>
        <p:nvSpPr>
          <p:cNvPr id="9" name="Text 7"/>
          <p:cNvSpPr/>
          <p:nvPr/>
        </p:nvSpPr>
        <p:spPr>
          <a:xfrm>
            <a:off x="731520" y="4983480"/>
            <a:ext cx="3200400" cy="1097280"/>
          </a:xfrm>
          <a:prstGeom prst="rect">
            <a:avLst/>
          </a:prstGeom>
          <a:noFill/>
          <a:ln/>
        </p:spPr>
        <p:txBody>
          <a:bodyPr wrap="square" rtlCol="0" anchor="ctr"/>
          <a:lstStyle/>
          <a:p>
            <a:pPr algn="ctr" indent="0" marL="0">
              <a:buNone/>
            </a:pPr>
            <a:r>
              <a:rPr lang="en-US" sz="1300" i="1" dirty="0">
                <a:solidFill>
                  <a:srgbClr val="7A9E80"/>
                </a:solidFill>
                <a:latin typeface="Calibri" pitchFamily="34" charset="0"/>
                <a:ea typeface="Calibri" pitchFamily="34" charset="-122"/>
                <a:cs typeface="Calibri" pitchFamily="34" charset="-120"/>
              </a:rPr>
              <a:t>The atmosphere in this room is his doing.</a:t>
            </a:r>
            <a:endParaRPr lang="en-US" sz="1300" dirty="0"/>
          </a:p>
        </p:txBody>
      </p:sp>
      <p:sp>
        <p:nvSpPr>
          <p:cNvPr id="10" name="Shape 8"/>
          <p:cNvSpPr/>
          <p:nvPr/>
        </p:nvSpPr>
        <p:spPr>
          <a:xfrm>
            <a:off x="4389120" y="2286000"/>
            <a:ext cx="3657600" cy="4114800"/>
          </a:xfrm>
          <a:prstGeom prst="rect">
            <a:avLst/>
          </a:prstGeom>
          <a:solidFill>
            <a:srgbClr val="192119"/>
          </a:solidFill>
          <a:ln w="25400">
            <a:solidFill>
              <a:srgbClr val="3DDC84"/>
            </a:solidFill>
            <a:prstDash val="solid"/>
          </a:ln>
          <a:effectLst>
            <a:outerShdw sx="100000" sy="100000" kx="0" ky="0" algn="bl" rotWithShape="0" blurRad="152400" dist="50800" dir="8100000">
              <a:srgbClr val="000000">
                <a:alpha val="50000"/>
              </a:srgbClr>
            </a:outerShdw>
          </a:effectLst>
        </p:spPr>
      </p:sp>
      <p:sp>
        <p:nvSpPr>
          <p:cNvPr id="11" name="Shape 9"/>
          <p:cNvSpPr/>
          <p:nvPr/>
        </p:nvSpPr>
        <p:spPr>
          <a:xfrm>
            <a:off x="5532120" y="2468880"/>
            <a:ext cx="1371600" cy="1371600"/>
          </a:xfrm>
          <a:prstGeom prst="oval">
            <a:avLst/>
          </a:prstGeom>
          <a:solidFill>
            <a:srgbClr val="3DDC84"/>
          </a:solidFill>
          <a:ln w="12700">
            <a:solidFill>
              <a:srgbClr val="3DDC84"/>
            </a:solidFill>
            <a:prstDash val="solid"/>
          </a:ln>
        </p:spPr>
      </p:sp>
      <p:sp>
        <p:nvSpPr>
          <p:cNvPr id="12" name="Text 10"/>
          <p:cNvSpPr/>
          <p:nvPr/>
        </p:nvSpPr>
        <p:spPr>
          <a:xfrm>
            <a:off x="5532120" y="2468880"/>
            <a:ext cx="1371600" cy="1371600"/>
          </a:xfrm>
          <a:prstGeom prst="rect">
            <a:avLst/>
          </a:prstGeom>
          <a:noFill/>
          <a:ln/>
        </p:spPr>
        <p:txBody>
          <a:bodyPr wrap="square" rtlCol="0" anchor="ctr"/>
          <a:lstStyle/>
          <a:p>
            <a:pPr algn="ctr" indent="0" marL="0">
              <a:buNone/>
            </a:pPr>
            <a:r>
              <a:rPr lang="en-US" sz="4200" b="1" dirty="0">
                <a:solidFill>
                  <a:srgbClr val="060A07"/>
                </a:solidFill>
                <a:latin typeface="Georgia" pitchFamily="34" charset="0"/>
                <a:ea typeface="Georgia" pitchFamily="34" charset="-122"/>
                <a:cs typeface="Georgia" pitchFamily="34" charset="-120"/>
              </a:rPr>
              <a:t>L</a:t>
            </a:r>
            <a:endParaRPr lang="en-US" sz="4200" dirty="0"/>
          </a:p>
        </p:txBody>
      </p:sp>
      <p:sp>
        <p:nvSpPr>
          <p:cNvPr id="13" name="Text 11"/>
          <p:cNvSpPr/>
          <p:nvPr/>
        </p:nvSpPr>
        <p:spPr>
          <a:xfrm>
            <a:off x="4526280" y="3977640"/>
            <a:ext cx="338328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Lucas</a:t>
            </a:r>
            <a:endParaRPr lang="en-US" sz="2400" dirty="0"/>
          </a:p>
        </p:txBody>
      </p:sp>
      <p:sp>
        <p:nvSpPr>
          <p:cNvPr id="14" name="Text 12"/>
          <p:cNvSpPr/>
          <p:nvPr/>
        </p:nvSpPr>
        <p:spPr>
          <a:xfrm>
            <a:off x="4526280" y="4526280"/>
            <a:ext cx="3383280" cy="365760"/>
          </a:xfrm>
          <a:prstGeom prst="rect">
            <a:avLst/>
          </a:prstGeom>
          <a:noFill/>
          <a:ln/>
        </p:spPr>
        <p:txBody>
          <a:bodyPr wrap="square" rtlCol="0" anchor="ctr"/>
          <a:lstStyle/>
          <a:p>
            <a:pPr algn="ctr" indent="0" marL="0">
              <a:buNone/>
            </a:pPr>
            <a:r>
              <a:rPr lang="en-US" sz="1000" spc="200" kern="0" dirty="0">
                <a:solidFill>
                  <a:srgbClr val="3DDC84"/>
                </a:solidFill>
                <a:latin typeface="Courier New" pitchFamily="34" charset="0"/>
                <a:ea typeface="Courier New" pitchFamily="34" charset="-122"/>
                <a:cs typeface="Courier New" pitchFamily="34" charset="-120"/>
              </a:rPr>
              <a:t>Technical Support</a:t>
            </a:r>
            <a:endParaRPr lang="en-US" sz="1000" dirty="0"/>
          </a:p>
        </p:txBody>
      </p:sp>
      <p:sp>
        <p:nvSpPr>
          <p:cNvPr id="15" name="Text 13"/>
          <p:cNvSpPr/>
          <p:nvPr/>
        </p:nvSpPr>
        <p:spPr>
          <a:xfrm>
            <a:off x="4617720" y="4983480"/>
            <a:ext cx="3200400" cy="1097280"/>
          </a:xfrm>
          <a:prstGeom prst="rect">
            <a:avLst/>
          </a:prstGeom>
          <a:noFill/>
          <a:ln/>
        </p:spPr>
        <p:txBody>
          <a:bodyPr wrap="square" rtlCol="0" anchor="ctr"/>
          <a:lstStyle/>
          <a:p>
            <a:pPr algn="ctr" indent="0" marL="0">
              <a:buNone/>
            </a:pPr>
            <a:r>
              <a:rPr lang="en-US" sz="1300" i="1" dirty="0">
                <a:solidFill>
                  <a:srgbClr val="7A9E80"/>
                </a:solidFill>
                <a:latin typeface="Calibri" pitchFamily="34" charset="0"/>
                <a:ea typeface="Calibri" pitchFamily="34" charset="-122"/>
                <a:cs typeface="Calibri" pitchFamily="34" charset="-120"/>
              </a:rPr>
              <a:t>Demo infrastructure. If it works — it's Lucas.</a:t>
            </a:r>
            <a:endParaRPr lang="en-US" sz="1300" dirty="0"/>
          </a:p>
        </p:txBody>
      </p:sp>
      <p:sp>
        <p:nvSpPr>
          <p:cNvPr id="16" name="Shape 14"/>
          <p:cNvSpPr/>
          <p:nvPr/>
        </p:nvSpPr>
        <p:spPr>
          <a:xfrm>
            <a:off x="8275320" y="2286000"/>
            <a:ext cx="3657600" cy="4114800"/>
          </a:xfrm>
          <a:prstGeom prst="rect">
            <a:avLst/>
          </a:prstGeom>
          <a:solidFill>
            <a:srgbClr val="192119"/>
          </a:solidFill>
          <a:ln w="25400">
            <a:solidFill>
              <a:srgbClr val="F0C060"/>
            </a:solidFill>
            <a:prstDash val="solid"/>
          </a:ln>
          <a:effectLst>
            <a:outerShdw sx="100000" sy="100000" kx="0" ky="0" algn="bl" rotWithShape="0" blurRad="152400" dist="50800" dir="8100000">
              <a:srgbClr val="000000">
                <a:alpha val="50000"/>
              </a:srgbClr>
            </a:outerShdw>
          </a:effectLst>
        </p:spPr>
      </p:sp>
      <p:sp>
        <p:nvSpPr>
          <p:cNvPr id="17" name="Shape 15"/>
          <p:cNvSpPr/>
          <p:nvPr/>
        </p:nvSpPr>
        <p:spPr>
          <a:xfrm>
            <a:off x="9418320" y="2468880"/>
            <a:ext cx="1371600" cy="1371600"/>
          </a:xfrm>
          <a:prstGeom prst="oval">
            <a:avLst/>
          </a:prstGeom>
          <a:solidFill>
            <a:srgbClr val="F0C060"/>
          </a:solidFill>
          <a:ln w="12700">
            <a:solidFill>
              <a:srgbClr val="F0C060"/>
            </a:solidFill>
            <a:prstDash val="solid"/>
          </a:ln>
        </p:spPr>
      </p:sp>
      <p:sp>
        <p:nvSpPr>
          <p:cNvPr id="18" name="Text 16"/>
          <p:cNvSpPr/>
          <p:nvPr/>
        </p:nvSpPr>
        <p:spPr>
          <a:xfrm>
            <a:off x="9418320" y="2468880"/>
            <a:ext cx="1371600" cy="1371600"/>
          </a:xfrm>
          <a:prstGeom prst="rect">
            <a:avLst/>
          </a:prstGeom>
          <a:noFill/>
          <a:ln/>
        </p:spPr>
        <p:txBody>
          <a:bodyPr wrap="square" rtlCol="0" anchor="ctr"/>
          <a:lstStyle/>
          <a:p>
            <a:pPr algn="ctr" indent="0" marL="0">
              <a:buNone/>
            </a:pPr>
            <a:r>
              <a:rPr lang="en-US" sz="4200" b="1" dirty="0">
                <a:solidFill>
                  <a:srgbClr val="060A07"/>
                </a:solidFill>
                <a:latin typeface="Georgia" pitchFamily="34" charset="0"/>
                <a:ea typeface="Georgia" pitchFamily="34" charset="-122"/>
                <a:cs typeface="Georgia" pitchFamily="34" charset="-120"/>
              </a:rPr>
              <a:t>T</a:t>
            </a:r>
            <a:endParaRPr lang="en-US" sz="4200" dirty="0"/>
          </a:p>
        </p:txBody>
      </p:sp>
      <p:sp>
        <p:nvSpPr>
          <p:cNvPr id="19" name="Text 17"/>
          <p:cNvSpPr/>
          <p:nvPr/>
        </p:nvSpPr>
        <p:spPr>
          <a:xfrm>
            <a:off x="8412480" y="3977640"/>
            <a:ext cx="3383280" cy="502920"/>
          </a:xfrm>
          <a:prstGeom prst="rect">
            <a:avLst/>
          </a:prstGeom>
          <a:noFill/>
          <a:ln/>
        </p:spPr>
        <p:txBody>
          <a:bodyPr wrap="square"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Tania</a:t>
            </a:r>
            <a:endParaRPr lang="en-US" sz="2400" dirty="0"/>
          </a:p>
        </p:txBody>
      </p:sp>
      <p:sp>
        <p:nvSpPr>
          <p:cNvPr id="20" name="Text 18"/>
          <p:cNvSpPr/>
          <p:nvPr/>
        </p:nvSpPr>
        <p:spPr>
          <a:xfrm>
            <a:off x="8412480" y="4526280"/>
            <a:ext cx="3383280" cy="365760"/>
          </a:xfrm>
          <a:prstGeom prst="rect">
            <a:avLst/>
          </a:prstGeom>
          <a:noFill/>
          <a:ln/>
        </p:spPr>
        <p:txBody>
          <a:bodyPr wrap="square" rtlCol="0" anchor="ctr"/>
          <a:lstStyle/>
          <a:p>
            <a:pPr algn="ctr" indent="0" marL="0">
              <a:buNone/>
            </a:pPr>
            <a:r>
              <a:rPr lang="en-US" sz="1000" spc="200" kern="0" dirty="0">
                <a:solidFill>
                  <a:srgbClr val="F0C060"/>
                </a:solidFill>
                <a:latin typeface="Courier New" pitchFamily="34" charset="0"/>
                <a:ea typeface="Courier New" pitchFamily="34" charset="-122"/>
                <a:cs typeface="Courier New" pitchFamily="34" charset="-120"/>
              </a:rPr>
              <a:t>Co-Founder · Moderator</a:t>
            </a:r>
            <a:endParaRPr lang="en-US" sz="1000" dirty="0"/>
          </a:p>
        </p:txBody>
      </p:sp>
      <p:sp>
        <p:nvSpPr>
          <p:cNvPr id="21" name="Text 19"/>
          <p:cNvSpPr/>
          <p:nvPr/>
        </p:nvSpPr>
        <p:spPr>
          <a:xfrm>
            <a:off x="8503920" y="4983480"/>
            <a:ext cx="3200400" cy="1097280"/>
          </a:xfrm>
          <a:prstGeom prst="rect">
            <a:avLst/>
          </a:prstGeom>
          <a:noFill/>
          <a:ln/>
        </p:spPr>
        <p:txBody>
          <a:bodyPr wrap="square" rtlCol="0" anchor="ctr"/>
          <a:lstStyle/>
          <a:p>
            <a:pPr algn="ctr" indent="0" marL="0">
              <a:buNone/>
            </a:pPr>
            <a:r>
              <a:rPr lang="en-US" sz="1300" i="1" dirty="0">
                <a:solidFill>
                  <a:srgbClr val="7A9E80"/>
                </a:solidFill>
                <a:latin typeface="Calibri" pitchFamily="34" charset="0"/>
                <a:ea typeface="Calibri" pitchFamily="34" charset="-122"/>
                <a:cs typeface="Calibri" pitchFamily="34" charset="-120"/>
              </a:rPr>
              <a:t>Discussion lead. She'll be up next. Listen to her.</a:t>
            </a:r>
            <a:endParaRPr lang="en-US" sz="1300" dirty="0"/>
          </a:p>
        </p:txBody>
      </p:sp>
      <p:sp>
        <p:nvSpPr>
          <p:cNvPr id="22" name="Shape 20"/>
          <p:cNvSpPr/>
          <p:nvPr/>
        </p:nvSpPr>
        <p:spPr>
          <a:xfrm>
            <a:off x="502920" y="4754880"/>
            <a:ext cx="1737360" cy="256032"/>
          </a:xfrm>
          <a:prstGeom prst="rect">
            <a:avLst/>
          </a:prstGeom>
          <a:solidFill>
            <a:srgbClr val="192119"/>
          </a:solidFill>
          <a:ln w="6350">
            <a:solidFill>
              <a:srgbClr val="2E5234"/>
            </a:solidFill>
            <a:prstDash val="solid"/>
          </a:ln>
        </p:spPr>
      </p:sp>
      <p:sp>
        <p:nvSpPr>
          <p:cNvPr id="23" name="Text 21"/>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2:40 PM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A07"/>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60A07"/>
          </a:solidFill>
          <a:ln w="12700">
            <a:solidFill>
              <a:srgbClr val="060A07"/>
            </a:solidFill>
            <a:prstDash val="solid"/>
          </a:ln>
        </p:spPr>
      </p:sp>
      <p:sp>
        <p:nvSpPr>
          <p:cNvPr id="3" name="Text 1"/>
          <p:cNvSpPr/>
          <p:nvPr/>
        </p:nvSpPr>
        <p:spPr>
          <a:xfrm>
            <a:off x="502920" y="1371600"/>
            <a:ext cx="11155680" cy="457200"/>
          </a:xfrm>
          <a:prstGeom prst="rect">
            <a:avLst/>
          </a:prstGeom>
          <a:noFill/>
          <a:ln/>
        </p:spPr>
        <p:txBody>
          <a:bodyPr wrap="square" rtlCol="0" anchor="ctr"/>
          <a:lstStyle/>
          <a:p>
            <a:pPr algn="ctr" indent="0" marL="0">
              <a:buNone/>
            </a:pPr>
            <a:r>
              <a:rPr lang="en-US" sz="1400" b="1" spc="800" kern="0" dirty="0">
                <a:solidFill>
                  <a:srgbClr val="3DDC84"/>
                </a:solidFill>
                <a:latin typeface="Courier New" pitchFamily="34" charset="0"/>
                <a:ea typeface="Courier New" pitchFamily="34" charset="-122"/>
                <a:cs typeface="Courier New" pitchFamily="34" charset="-120"/>
              </a:rPr>
              <a:t>PART 2</a:t>
            </a:r>
            <a:endParaRPr lang="en-US" sz="1400" dirty="0"/>
          </a:p>
        </p:txBody>
      </p:sp>
      <p:sp>
        <p:nvSpPr>
          <p:cNvPr id="4" name="Text 2"/>
          <p:cNvSpPr/>
          <p:nvPr/>
        </p:nvSpPr>
        <p:spPr>
          <a:xfrm>
            <a:off x="502920" y="1920240"/>
            <a:ext cx="11155680" cy="2560320"/>
          </a:xfrm>
          <a:prstGeom prst="rect">
            <a:avLst/>
          </a:prstGeom>
          <a:noFill/>
          <a:ln/>
        </p:spPr>
        <p:txBody>
          <a:bodyPr wrap="square"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What is</a:t>
            </a:r>
            <a:endParaRPr lang="en-US" sz="7200" dirty="0"/>
          </a:p>
          <a:p>
            <a:pPr algn="ctr" indent="0" marL="0">
              <a:buNone/>
            </a:pPr>
            <a:r>
              <a:rPr lang="en-US" sz="7200" b="1" dirty="0">
                <a:solidFill>
                  <a:srgbClr val="FFFFFF"/>
                </a:solidFill>
                <a:latin typeface="Georgia" pitchFamily="34" charset="0"/>
                <a:ea typeface="Georgia" pitchFamily="34" charset="-122"/>
                <a:cs typeface="Georgia" pitchFamily="34" charset="-120"/>
              </a:rPr>
              <a:t>Global Local AI?</a:t>
            </a:r>
            <a:endParaRPr lang="en-US" sz="7200" dirty="0"/>
          </a:p>
        </p:txBody>
      </p:sp>
      <p:sp>
        <p:nvSpPr>
          <p:cNvPr id="5" name="Text 3"/>
          <p:cNvSpPr/>
          <p:nvPr/>
        </p:nvSpPr>
        <p:spPr>
          <a:xfrm>
            <a:off x="502920" y="4663440"/>
            <a:ext cx="11155680" cy="457200"/>
          </a:xfrm>
          <a:prstGeom prst="rect">
            <a:avLst/>
          </a:prstGeom>
          <a:noFill/>
          <a:ln/>
        </p:spPr>
        <p:txBody>
          <a:bodyPr wrap="square" rtlCol="0" anchor="ctr"/>
          <a:lstStyle/>
          <a:p>
            <a:pPr algn="ctr" indent="0" marL="0">
              <a:buNone/>
            </a:pPr>
            <a:r>
              <a:rPr lang="en-US" sz="2000" i="1" dirty="0">
                <a:solidFill>
                  <a:srgbClr val="7A9E80"/>
                </a:solidFill>
                <a:latin typeface="Calibri" pitchFamily="34" charset="0"/>
                <a:ea typeface="Calibri" pitchFamily="34" charset="-122"/>
                <a:cs typeface="Calibri" pitchFamily="34" charset="-120"/>
              </a:rPr>
              <a:t>And why does it matter today, of all days.</a:t>
            </a:r>
            <a:endParaRPr lang="en-US" sz="2000" dirty="0"/>
          </a:p>
        </p:txBody>
      </p:sp>
      <p:sp>
        <p:nvSpPr>
          <p:cNvPr id="6" name="Shape 4"/>
          <p:cNvSpPr/>
          <p:nvPr/>
        </p:nvSpPr>
        <p:spPr>
          <a:xfrm>
            <a:off x="502920" y="4754880"/>
            <a:ext cx="1737360" cy="256032"/>
          </a:xfrm>
          <a:prstGeom prst="rect">
            <a:avLst/>
          </a:prstGeom>
          <a:solidFill>
            <a:srgbClr val="192119"/>
          </a:solidFill>
          <a:ln w="6350">
            <a:solidFill>
              <a:srgbClr val="2E5234"/>
            </a:solidFill>
            <a:prstDash val="solid"/>
          </a:ln>
        </p:spPr>
      </p:sp>
      <p:sp>
        <p:nvSpPr>
          <p:cNvPr id="7" name="Text 5"/>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2:40 PM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WHAT IS LOCAL AI?  ·  2:40 PM</a:t>
            </a:r>
            <a:endParaRPr lang="en-US" sz="1000" dirty="0"/>
          </a:p>
        </p:txBody>
      </p:sp>
      <p:sp>
        <p:nvSpPr>
          <p:cNvPr id="3" name="Text 1"/>
          <p:cNvSpPr/>
          <p:nvPr/>
        </p:nvSpPr>
        <p:spPr>
          <a:xfrm>
            <a:off x="502920" y="594360"/>
            <a:ext cx="5029200" cy="228600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Same intelligence.</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Completely different architecture.</a:t>
            </a:r>
            <a:endParaRPr lang="en-US" sz="3200" dirty="0"/>
          </a:p>
        </p:txBody>
      </p:sp>
      <p:sp>
        <p:nvSpPr>
          <p:cNvPr id="4" name="Shape 2"/>
          <p:cNvSpPr/>
          <p:nvPr/>
        </p:nvSpPr>
        <p:spPr>
          <a:xfrm>
            <a:off x="502920" y="3291840"/>
            <a:ext cx="5303520" cy="3246120"/>
          </a:xfrm>
          <a:prstGeom prst="rect">
            <a:avLst/>
          </a:prstGeom>
          <a:solidFill>
            <a:srgbClr val="1A0808"/>
          </a:solidFill>
          <a:ln w="19050">
            <a:solidFill>
              <a:srgbClr val="E05C5C"/>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685800" y="3429000"/>
            <a:ext cx="4937760" cy="365760"/>
          </a:xfrm>
          <a:prstGeom prst="rect">
            <a:avLst/>
          </a:prstGeom>
          <a:noFill/>
          <a:ln/>
        </p:spPr>
        <p:txBody>
          <a:bodyPr wrap="square" rtlCol="0" anchor="ctr"/>
          <a:lstStyle/>
          <a:p>
            <a:pPr indent="0" marL="0">
              <a:buNone/>
            </a:pPr>
            <a:r>
              <a:rPr lang="en-US" sz="1100" b="1" spc="300" kern="0" dirty="0">
                <a:solidFill>
                  <a:srgbClr val="E05C5C"/>
                </a:solidFill>
                <a:latin typeface="Courier New" pitchFamily="34" charset="0"/>
                <a:ea typeface="Courier New" pitchFamily="34" charset="-122"/>
                <a:cs typeface="Courier New" pitchFamily="34" charset="-120"/>
              </a:rPr>
              <a:t>☁  CLOUD AI</a:t>
            </a:r>
            <a:endParaRPr lang="en-US" sz="1100" dirty="0"/>
          </a:p>
        </p:txBody>
      </p:sp>
      <p:sp>
        <p:nvSpPr>
          <p:cNvPr id="6" name="Shape 4"/>
          <p:cNvSpPr/>
          <p:nvPr/>
        </p:nvSpPr>
        <p:spPr>
          <a:xfrm>
            <a:off x="685800" y="3931920"/>
            <a:ext cx="64008" cy="320040"/>
          </a:xfrm>
          <a:prstGeom prst="rect">
            <a:avLst/>
          </a:prstGeom>
          <a:solidFill>
            <a:srgbClr val="E05C5C"/>
          </a:solidFill>
          <a:ln w="12700">
            <a:solidFill>
              <a:srgbClr val="E05C5C"/>
            </a:solidFill>
            <a:prstDash val="solid"/>
          </a:ln>
        </p:spPr>
      </p:sp>
      <p:sp>
        <p:nvSpPr>
          <p:cNvPr id="7" name="Text 5"/>
          <p:cNvSpPr/>
          <p:nvPr/>
        </p:nvSpPr>
        <p:spPr>
          <a:xfrm>
            <a:off x="868680" y="3904488"/>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Your query leaves your device</a:t>
            </a:r>
            <a:endParaRPr lang="en-US" sz="1400" dirty="0"/>
          </a:p>
        </p:txBody>
      </p:sp>
      <p:sp>
        <p:nvSpPr>
          <p:cNvPr id="8" name="Shape 6"/>
          <p:cNvSpPr/>
          <p:nvPr/>
        </p:nvSpPr>
        <p:spPr>
          <a:xfrm>
            <a:off x="685800" y="4407408"/>
            <a:ext cx="64008" cy="320040"/>
          </a:xfrm>
          <a:prstGeom prst="rect">
            <a:avLst/>
          </a:prstGeom>
          <a:solidFill>
            <a:srgbClr val="E05C5C"/>
          </a:solidFill>
          <a:ln w="12700">
            <a:solidFill>
              <a:srgbClr val="E05C5C"/>
            </a:solidFill>
            <a:prstDash val="solid"/>
          </a:ln>
        </p:spPr>
      </p:sp>
      <p:sp>
        <p:nvSpPr>
          <p:cNvPr id="9" name="Text 7"/>
          <p:cNvSpPr/>
          <p:nvPr/>
        </p:nvSpPr>
        <p:spPr>
          <a:xfrm>
            <a:off x="868680" y="4379976"/>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Sent to a corporate data center</a:t>
            </a:r>
            <a:endParaRPr lang="en-US" sz="1400" dirty="0"/>
          </a:p>
        </p:txBody>
      </p:sp>
      <p:sp>
        <p:nvSpPr>
          <p:cNvPr id="10" name="Shape 8"/>
          <p:cNvSpPr/>
          <p:nvPr/>
        </p:nvSpPr>
        <p:spPr>
          <a:xfrm>
            <a:off x="685800" y="4882896"/>
            <a:ext cx="64008" cy="320040"/>
          </a:xfrm>
          <a:prstGeom prst="rect">
            <a:avLst/>
          </a:prstGeom>
          <a:solidFill>
            <a:srgbClr val="E05C5C"/>
          </a:solidFill>
          <a:ln w="12700">
            <a:solidFill>
              <a:srgbClr val="E05C5C"/>
            </a:solidFill>
            <a:prstDash val="solid"/>
          </a:ln>
        </p:spPr>
      </p:sp>
      <p:sp>
        <p:nvSpPr>
          <p:cNvPr id="11" name="Text 9"/>
          <p:cNvSpPr/>
          <p:nvPr/>
        </p:nvSpPr>
        <p:spPr>
          <a:xfrm>
            <a:off x="868680" y="4855464"/>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Logged · Stored · Potentially trained on</a:t>
            </a:r>
            <a:endParaRPr lang="en-US" sz="1400" dirty="0"/>
          </a:p>
        </p:txBody>
      </p:sp>
      <p:sp>
        <p:nvSpPr>
          <p:cNvPr id="12" name="Shape 10"/>
          <p:cNvSpPr/>
          <p:nvPr/>
        </p:nvSpPr>
        <p:spPr>
          <a:xfrm>
            <a:off x="685800" y="5358384"/>
            <a:ext cx="64008" cy="320040"/>
          </a:xfrm>
          <a:prstGeom prst="rect">
            <a:avLst/>
          </a:prstGeom>
          <a:solidFill>
            <a:srgbClr val="E05C5C"/>
          </a:solidFill>
          <a:ln w="12700">
            <a:solidFill>
              <a:srgbClr val="E05C5C"/>
            </a:solidFill>
            <a:prstDash val="solid"/>
          </a:ln>
        </p:spPr>
      </p:sp>
      <p:sp>
        <p:nvSpPr>
          <p:cNvPr id="13" name="Text 11"/>
          <p:cNvSpPr/>
          <p:nvPr/>
        </p:nvSpPr>
        <p:spPr>
          <a:xfrm>
            <a:off x="868680" y="5330952"/>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Third parties can be compelled to share it</a:t>
            </a:r>
            <a:endParaRPr lang="en-US" sz="1400" dirty="0"/>
          </a:p>
        </p:txBody>
      </p:sp>
      <p:sp>
        <p:nvSpPr>
          <p:cNvPr id="14" name="Shape 12"/>
          <p:cNvSpPr/>
          <p:nvPr/>
        </p:nvSpPr>
        <p:spPr>
          <a:xfrm>
            <a:off x="685800" y="5833872"/>
            <a:ext cx="64008" cy="320040"/>
          </a:xfrm>
          <a:prstGeom prst="rect">
            <a:avLst/>
          </a:prstGeom>
          <a:solidFill>
            <a:srgbClr val="E05C5C"/>
          </a:solidFill>
          <a:ln w="12700">
            <a:solidFill>
              <a:srgbClr val="E05C5C"/>
            </a:solidFill>
            <a:prstDash val="solid"/>
          </a:ln>
        </p:spPr>
      </p:sp>
      <p:sp>
        <p:nvSpPr>
          <p:cNvPr id="15" name="Text 13"/>
          <p:cNvSpPr/>
          <p:nvPr/>
        </p:nvSpPr>
        <p:spPr>
          <a:xfrm>
            <a:off x="868680" y="5806440"/>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Privacy is a policy. Policies change.</a:t>
            </a:r>
            <a:endParaRPr lang="en-US" sz="1400" dirty="0"/>
          </a:p>
        </p:txBody>
      </p:sp>
      <p:sp>
        <p:nvSpPr>
          <p:cNvPr id="16" name="Shape 14"/>
          <p:cNvSpPr/>
          <p:nvPr/>
        </p:nvSpPr>
        <p:spPr>
          <a:xfrm>
            <a:off x="6492240" y="3291840"/>
            <a:ext cx="5303520" cy="3246120"/>
          </a:xfrm>
          <a:prstGeom prst="rect">
            <a:avLst/>
          </a:prstGeom>
          <a:solidFill>
            <a:srgbClr val="081A0E"/>
          </a:solidFill>
          <a:ln w="19050">
            <a:solidFill>
              <a:srgbClr val="3DDC84"/>
            </a:solidFill>
            <a:prstDash val="solid"/>
          </a:ln>
          <a:effectLst>
            <a:outerShdw sx="100000" sy="100000" kx="0" ky="0" algn="bl" rotWithShape="0" blurRad="101600" dist="38100" dir="8100000">
              <a:srgbClr val="000000">
                <a:alpha val="35000"/>
              </a:srgbClr>
            </a:outerShdw>
          </a:effectLst>
        </p:spPr>
      </p:sp>
      <p:sp>
        <p:nvSpPr>
          <p:cNvPr id="17" name="Text 15"/>
          <p:cNvSpPr/>
          <p:nvPr/>
        </p:nvSpPr>
        <p:spPr>
          <a:xfrm>
            <a:off x="6675120" y="3429000"/>
            <a:ext cx="4937760" cy="365760"/>
          </a:xfrm>
          <a:prstGeom prst="rect">
            <a:avLst/>
          </a:prstGeom>
          <a:noFill/>
          <a:ln/>
        </p:spPr>
        <p:txBody>
          <a:bodyPr wrap="square" rtlCol="0" anchor="ctr"/>
          <a:lstStyle/>
          <a:p>
            <a:pPr indent="0" marL="0">
              <a:buNone/>
            </a:pPr>
            <a:r>
              <a:rPr lang="en-US" sz="1100" b="1" spc="300" kern="0" dirty="0">
                <a:solidFill>
                  <a:srgbClr val="3DDC84"/>
                </a:solidFill>
                <a:latin typeface="Courier New" pitchFamily="34" charset="0"/>
                <a:ea typeface="Courier New" pitchFamily="34" charset="-122"/>
                <a:cs typeface="Courier New" pitchFamily="34" charset="-120"/>
              </a:rPr>
              <a:t>⬡  LOCAL AI</a:t>
            </a:r>
            <a:endParaRPr lang="en-US" sz="1100" dirty="0"/>
          </a:p>
        </p:txBody>
      </p:sp>
      <p:sp>
        <p:nvSpPr>
          <p:cNvPr id="18" name="Shape 16"/>
          <p:cNvSpPr/>
          <p:nvPr/>
        </p:nvSpPr>
        <p:spPr>
          <a:xfrm>
            <a:off x="6675120" y="3931920"/>
            <a:ext cx="64008" cy="320040"/>
          </a:xfrm>
          <a:prstGeom prst="rect">
            <a:avLst/>
          </a:prstGeom>
          <a:solidFill>
            <a:srgbClr val="3DDC84"/>
          </a:solidFill>
          <a:ln w="12700">
            <a:solidFill>
              <a:srgbClr val="3DDC84"/>
            </a:solidFill>
            <a:prstDash val="solid"/>
          </a:ln>
        </p:spPr>
      </p:sp>
      <p:sp>
        <p:nvSpPr>
          <p:cNvPr id="19" name="Text 17"/>
          <p:cNvSpPr/>
          <p:nvPr/>
        </p:nvSpPr>
        <p:spPr>
          <a:xfrm>
            <a:off x="6858000" y="3904488"/>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Your query never leaves your device</a:t>
            </a:r>
            <a:endParaRPr lang="en-US" sz="1400" dirty="0"/>
          </a:p>
        </p:txBody>
      </p:sp>
      <p:sp>
        <p:nvSpPr>
          <p:cNvPr id="20" name="Shape 18"/>
          <p:cNvSpPr/>
          <p:nvPr/>
        </p:nvSpPr>
        <p:spPr>
          <a:xfrm>
            <a:off x="6675120" y="4407408"/>
            <a:ext cx="64008" cy="320040"/>
          </a:xfrm>
          <a:prstGeom prst="rect">
            <a:avLst/>
          </a:prstGeom>
          <a:solidFill>
            <a:srgbClr val="3DDC84"/>
          </a:solidFill>
          <a:ln w="12700">
            <a:solidFill>
              <a:srgbClr val="3DDC84"/>
            </a:solidFill>
            <a:prstDash val="solid"/>
          </a:ln>
        </p:spPr>
      </p:sp>
      <p:sp>
        <p:nvSpPr>
          <p:cNvPr id="21" name="Text 19"/>
          <p:cNvSpPr/>
          <p:nvPr/>
        </p:nvSpPr>
        <p:spPr>
          <a:xfrm>
            <a:off x="6858000" y="4379976"/>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Runs on your own hardware — right here</a:t>
            </a:r>
            <a:endParaRPr lang="en-US" sz="1400" dirty="0"/>
          </a:p>
        </p:txBody>
      </p:sp>
      <p:sp>
        <p:nvSpPr>
          <p:cNvPr id="22" name="Shape 20"/>
          <p:cNvSpPr/>
          <p:nvPr/>
        </p:nvSpPr>
        <p:spPr>
          <a:xfrm>
            <a:off x="6675120" y="4882896"/>
            <a:ext cx="64008" cy="320040"/>
          </a:xfrm>
          <a:prstGeom prst="rect">
            <a:avLst/>
          </a:prstGeom>
          <a:solidFill>
            <a:srgbClr val="3DDC84"/>
          </a:solidFill>
          <a:ln w="12700">
            <a:solidFill>
              <a:srgbClr val="3DDC84"/>
            </a:solidFill>
            <a:prstDash val="solid"/>
          </a:ln>
        </p:spPr>
      </p:sp>
      <p:sp>
        <p:nvSpPr>
          <p:cNvPr id="23" name="Text 21"/>
          <p:cNvSpPr/>
          <p:nvPr/>
        </p:nvSpPr>
        <p:spPr>
          <a:xfrm>
            <a:off x="6858000" y="4855464"/>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Nothing stored externally. Nothing subpoenaed.</a:t>
            </a:r>
            <a:endParaRPr lang="en-US" sz="1400" dirty="0"/>
          </a:p>
        </p:txBody>
      </p:sp>
      <p:sp>
        <p:nvSpPr>
          <p:cNvPr id="24" name="Shape 22"/>
          <p:cNvSpPr/>
          <p:nvPr/>
        </p:nvSpPr>
        <p:spPr>
          <a:xfrm>
            <a:off x="6675120" y="5358384"/>
            <a:ext cx="64008" cy="320040"/>
          </a:xfrm>
          <a:prstGeom prst="rect">
            <a:avLst/>
          </a:prstGeom>
          <a:solidFill>
            <a:srgbClr val="3DDC84"/>
          </a:solidFill>
          <a:ln w="12700">
            <a:solidFill>
              <a:srgbClr val="3DDC84"/>
            </a:solidFill>
            <a:prstDash val="solid"/>
          </a:ln>
        </p:spPr>
      </p:sp>
      <p:sp>
        <p:nvSpPr>
          <p:cNvPr id="25" name="Text 23"/>
          <p:cNvSpPr/>
          <p:nvPr/>
        </p:nvSpPr>
        <p:spPr>
          <a:xfrm>
            <a:off x="6858000" y="5330952"/>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No third party exists to compel</a:t>
            </a:r>
            <a:endParaRPr lang="en-US" sz="1400" dirty="0"/>
          </a:p>
        </p:txBody>
      </p:sp>
      <p:sp>
        <p:nvSpPr>
          <p:cNvPr id="26" name="Shape 24"/>
          <p:cNvSpPr/>
          <p:nvPr/>
        </p:nvSpPr>
        <p:spPr>
          <a:xfrm>
            <a:off x="6675120" y="5833872"/>
            <a:ext cx="64008" cy="320040"/>
          </a:xfrm>
          <a:prstGeom prst="rect">
            <a:avLst/>
          </a:prstGeom>
          <a:solidFill>
            <a:srgbClr val="3DDC84"/>
          </a:solidFill>
          <a:ln w="12700">
            <a:solidFill>
              <a:srgbClr val="3DDC84"/>
            </a:solidFill>
            <a:prstDash val="solid"/>
          </a:ln>
        </p:spPr>
      </p:sp>
      <p:sp>
        <p:nvSpPr>
          <p:cNvPr id="27" name="Text 25"/>
          <p:cNvSpPr/>
          <p:nvPr/>
        </p:nvSpPr>
        <p:spPr>
          <a:xfrm>
            <a:off x="6858000" y="5806440"/>
            <a:ext cx="4754880" cy="36576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Privacy is structural. The default state.</a:t>
            </a:r>
            <a:endParaRPr lang="en-US" sz="1400" dirty="0"/>
          </a:p>
        </p:txBody>
      </p:sp>
      <p:sp>
        <p:nvSpPr>
          <p:cNvPr id="28" name="Shape 26"/>
          <p:cNvSpPr/>
          <p:nvPr/>
        </p:nvSpPr>
        <p:spPr>
          <a:xfrm>
            <a:off x="502920" y="4754880"/>
            <a:ext cx="1737360" cy="256032"/>
          </a:xfrm>
          <a:prstGeom prst="rect">
            <a:avLst/>
          </a:prstGeom>
          <a:solidFill>
            <a:srgbClr val="192119"/>
          </a:solidFill>
          <a:ln w="6350">
            <a:solidFill>
              <a:srgbClr val="2E5234"/>
            </a:solidFill>
            <a:prstDash val="solid"/>
          </a:ln>
        </p:spPr>
      </p:sp>
      <p:sp>
        <p:nvSpPr>
          <p:cNvPr id="29" name="Text 2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2:40 PM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PRIVACY  ·  2:43 PM</a:t>
            </a:r>
            <a:endParaRPr lang="en-US" sz="1000" dirty="0"/>
          </a:p>
        </p:txBody>
      </p:sp>
      <p:sp>
        <p:nvSpPr>
          <p:cNvPr id="3" name="Text 1"/>
          <p:cNvSpPr/>
          <p:nvPr/>
        </p:nvSpPr>
        <p:spPr>
          <a:xfrm>
            <a:off x="502920" y="502920"/>
            <a:ext cx="5943600" cy="18288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Your questions.</a:t>
            </a:r>
            <a:endParaRPr lang="en-US" sz="4800" dirty="0"/>
          </a:p>
          <a:p>
            <a:pPr indent="0" marL="0">
              <a:buNone/>
            </a:pPr>
            <a:r>
              <a:rPr lang="en-US" sz="4800" b="1" dirty="0">
                <a:solidFill>
                  <a:srgbClr val="FFFFFF"/>
                </a:solidFill>
                <a:latin typeface="Georgia" pitchFamily="34" charset="0"/>
                <a:ea typeface="Georgia" pitchFamily="34" charset="-122"/>
                <a:cs typeface="Georgia" pitchFamily="34" charset="-120"/>
              </a:rPr>
              <a:t>Your fears. Your family.</a:t>
            </a:r>
            <a:endParaRPr lang="en-US" sz="4800" dirty="0"/>
          </a:p>
        </p:txBody>
      </p:sp>
      <p:sp>
        <p:nvSpPr>
          <p:cNvPr id="4" name="Shape 2"/>
          <p:cNvSpPr/>
          <p:nvPr/>
        </p:nvSpPr>
        <p:spPr>
          <a:xfrm>
            <a:off x="502920" y="2514600"/>
            <a:ext cx="5486400" cy="1600200"/>
          </a:xfrm>
          <a:prstGeom prst="rect">
            <a:avLst/>
          </a:prstGeom>
          <a:solidFill>
            <a:srgbClr val="192119"/>
          </a:solidFill>
          <a:ln w="6350">
            <a:solidFill>
              <a:srgbClr val="2E5234"/>
            </a:solidFill>
            <a:prstDash val="solid"/>
          </a:ln>
        </p:spPr>
      </p:sp>
      <p:sp>
        <p:nvSpPr>
          <p:cNvPr id="5" name="Text 3"/>
          <p:cNvSpPr/>
          <p:nvPr/>
        </p:nvSpPr>
        <p:spPr>
          <a:xfrm>
            <a:off x="685800" y="2651760"/>
            <a:ext cx="822960" cy="1280160"/>
          </a:xfrm>
          <a:prstGeom prst="rect">
            <a:avLst/>
          </a:prstGeom>
          <a:noFill/>
          <a:ln/>
        </p:spPr>
        <p:txBody>
          <a:bodyPr wrap="square" rtlCol="0" anchor="t"/>
          <a:lstStyle/>
          <a:p>
            <a:pPr indent="0" marL="0">
              <a:buNone/>
            </a:pPr>
            <a:r>
              <a:rPr lang="en-US" sz="2600" dirty="0">
                <a:solidFill>
                  <a:srgbClr val="000000"/>
                </a:solidFill>
              </a:rPr>
              <a:t>👧</a:t>
            </a:r>
            <a:endParaRPr lang="en-US" sz="2600" dirty="0"/>
          </a:p>
        </p:txBody>
      </p:sp>
      <p:sp>
        <p:nvSpPr>
          <p:cNvPr id="6" name="Text 4"/>
          <p:cNvSpPr/>
          <p:nvPr/>
        </p:nvSpPr>
        <p:spPr>
          <a:xfrm>
            <a:off x="1554480" y="2606040"/>
            <a:ext cx="4206240" cy="41148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Your child's questions</a:t>
            </a:r>
            <a:endParaRPr lang="en-US" sz="1500" dirty="0"/>
          </a:p>
        </p:txBody>
      </p:sp>
      <p:sp>
        <p:nvSpPr>
          <p:cNvPr id="7" name="Text 5"/>
          <p:cNvSpPr/>
          <p:nvPr/>
        </p:nvSpPr>
        <p:spPr>
          <a:xfrm>
            <a:off x="1554480" y="3017520"/>
            <a:ext cx="4206240" cy="8686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Health, school, worries — logged on corporate servers.</a:t>
            </a:r>
            <a:endParaRPr lang="en-US" sz="1300" dirty="0"/>
          </a:p>
        </p:txBody>
      </p:sp>
      <p:sp>
        <p:nvSpPr>
          <p:cNvPr id="8" name="Shape 6"/>
          <p:cNvSpPr/>
          <p:nvPr/>
        </p:nvSpPr>
        <p:spPr>
          <a:xfrm>
            <a:off x="6355080" y="2514600"/>
            <a:ext cx="5486400" cy="1600200"/>
          </a:xfrm>
          <a:prstGeom prst="rect">
            <a:avLst/>
          </a:prstGeom>
          <a:solidFill>
            <a:srgbClr val="192119"/>
          </a:solidFill>
          <a:ln w="6350">
            <a:solidFill>
              <a:srgbClr val="2E5234"/>
            </a:solidFill>
            <a:prstDash val="solid"/>
          </a:ln>
        </p:spPr>
      </p:sp>
      <p:sp>
        <p:nvSpPr>
          <p:cNvPr id="9" name="Text 7"/>
          <p:cNvSpPr/>
          <p:nvPr/>
        </p:nvSpPr>
        <p:spPr>
          <a:xfrm>
            <a:off x="6537960" y="2651760"/>
            <a:ext cx="822960" cy="1280160"/>
          </a:xfrm>
          <a:prstGeom prst="rect">
            <a:avLst/>
          </a:prstGeom>
          <a:noFill/>
          <a:ln/>
        </p:spPr>
        <p:txBody>
          <a:bodyPr wrap="square" rtlCol="0" anchor="t"/>
          <a:lstStyle/>
          <a:p>
            <a:pPr indent="0" marL="0">
              <a:buNone/>
            </a:pPr>
            <a:r>
              <a:rPr lang="en-US" sz="2600" dirty="0">
                <a:solidFill>
                  <a:srgbClr val="000000"/>
                </a:solidFill>
              </a:rPr>
              <a:t>🏥</a:t>
            </a:r>
            <a:endParaRPr lang="en-US" sz="2600" dirty="0"/>
          </a:p>
        </p:txBody>
      </p:sp>
      <p:sp>
        <p:nvSpPr>
          <p:cNvPr id="10" name="Text 8"/>
          <p:cNvSpPr/>
          <p:nvPr/>
        </p:nvSpPr>
        <p:spPr>
          <a:xfrm>
            <a:off x="7406640" y="2606040"/>
            <a:ext cx="4206240" cy="41148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Your health searches</a:t>
            </a:r>
            <a:endParaRPr lang="en-US" sz="1500" dirty="0"/>
          </a:p>
        </p:txBody>
      </p:sp>
      <p:sp>
        <p:nvSpPr>
          <p:cNvPr id="11" name="Text 9"/>
          <p:cNvSpPr/>
          <p:nvPr/>
        </p:nvSpPr>
        <p:spPr>
          <a:xfrm>
            <a:off x="7406640" y="3017520"/>
            <a:ext cx="4206240" cy="8686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Symptoms, conditions, fears — building a profile you never consented to.</a:t>
            </a:r>
            <a:endParaRPr lang="en-US" sz="1300" dirty="0"/>
          </a:p>
        </p:txBody>
      </p:sp>
      <p:sp>
        <p:nvSpPr>
          <p:cNvPr id="12" name="Shape 10"/>
          <p:cNvSpPr/>
          <p:nvPr/>
        </p:nvSpPr>
        <p:spPr>
          <a:xfrm>
            <a:off x="502920" y="4297680"/>
            <a:ext cx="5486400" cy="1600200"/>
          </a:xfrm>
          <a:prstGeom prst="rect">
            <a:avLst/>
          </a:prstGeom>
          <a:solidFill>
            <a:srgbClr val="192119"/>
          </a:solidFill>
          <a:ln w="6350">
            <a:solidFill>
              <a:srgbClr val="2E5234"/>
            </a:solidFill>
            <a:prstDash val="solid"/>
          </a:ln>
        </p:spPr>
      </p:sp>
      <p:sp>
        <p:nvSpPr>
          <p:cNvPr id="13" name="Text 11"/>
          <p:cNvSpPr/>
          <p:nvPr/>
        </p:nvSpPr>
        <p:spPr>
          <a:xfrm>
            <a:off x="685800" y="4434840"/>
            <a:ext cx="822960" cy="1280160"/>
          </a:xfrm>
          <a:prstGeom prst="rect">
            <a:avLst/>
          </a:prstGeom>
          <a:noFill/>
          <a:ln/>
        </p:spPr>
        <p:txBody>
          <a:bodyPr wrap="square" rtlCol="0" anchor="t"/>
          <a:lstStyle/>
          <a:p>
            <a:pPr indent="0" marL="0">
              <a:buNone/>
            </a:pPr>
            <a:r>
              <a:rPr lang="en-US" sz="2600" dirty="0">
                <a:solidFill>
                  <a:srgbClr val="000000"/>
                </a:solidFill>
              </a:rPr>
              <a:t>💰</a:t>
            </a:r>
            <a:endParaRPr lang="en-US" sz="2600" dirty="0"/>
          </a:p>
        </p:txBody>
      </p:sp>
      <p:sp>
        <p:nvSpPr>
          <p:cNvPr id="14" name="Text 12"/>
          <p:cNvSpPr/>
          <p:nvPr/>
        </p:nvSpPr>
        <p:spPr>
          <a:xfrm>
            <a:off x="1554480" y="4389120"/>
            <a:ext cx="4206240" cy="41148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Your financial worries</a:t>
            </a:r>
            <a:endParaRPr lang="en-US" sz="1500" dirty="0"/>
          </a:p>
        </p:txBody>
      </p:sp>
      <p:sp>
        <p:nvSpPr>
          <p:cNvPr id="15" name="Text 13"/>
          <p:cNvSpPr/>
          <p:nvPr/>
        </p:nvSpPr>
        <p:spPr>
          <a:xfrm>
            <a:off x="1554480" y="4800600"/>
            <a:ext cx="4206240" cy="8686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Debt, salary, savings — stored by companies whose interests aren't yours.</a:t>
            </a:r>
            <a:endParaRPr lang="en-US" sz="1300" dirty="0"/>
          </a:p>
        </p:txBody>
      </p:sp>
      <p:sp>
        <p:nvSpPr>
          <p:cNvPr id="16" name="Shape 14"/>
          <p:cNvSpPr/>
          <p:nvPr/>
        </p:nvSpPr>
        <p:spPr>
          <a:xfrm>
            <a:off x="6355080" y="4297680"/>
            <a:ext cx="5486400" cy="1600200"/>
          </a:xfrm>
          <a:prstGeom prst="rect">
            <a:avLst/>
          </a:prstGeom>
          <a:solidFill>
            <a:srgbClr val="192119"/>
          </a:solidFill>
          <a:ln w="6350">
            <a:solidFill>
              <a:srgbClr val="2E5234"/>
            </a:solidFill>
            <a:prstDash val="solid"/>
          </a:ln>
        </p:spPr>
      </p:sp>
      <p:sp>
        <p:nvSpPr>
          <p:cNvPr id="17" name="Text 15"/>
          <p:cNvSpPr/>
          <p:nvPr/>
        </p:nvSpPr>
        <p:spPr>
          <a:xfrm>
            <a:off x="6537960" y="4434840"/>
            <a:ext cx="822960" cy="1280160"/>
          </a:xfrm>
          <a:prstGeom prst="rect">
            <a:avLst/>
          </a:prstGeom>
          <a:noFill/>
          <a:ln/>
        </p:spPr>
        <p:txBody>
          <a:bodyPr wrap="square" rtlCol="0" anchor="t"/>
          <a:lstStyle/>
          <a:p>
            <a:pPr indent="0" marL="0">
              <a:buNone/>
            </a:pPr>
            <a:r>
              <a:rPr lang="en-US" sz="2600" dirty="0">
                <a:solidFill>
                  <a:srgbClr val="000000"/>
                </a:solidFill>
              </a:rPr>
              <a:t>💬</a:t>
            </a:r>
            <a:endParaRPr lang="en-US" sz="2600" dirty="0"/>
          </a:p>
        </p:txBody>
      </p:sp>
      <p:sp>
        <p:nvSpPr>
          <p:cNvPr id="18" name="Text 16"/>
          <p:cNvSpPr/>
          <p:nvPr/>
        </p:nvSpPr>
        <p:spPr>
          <a:xfrm>
            <a:off x="7406640" y="4389120"/>
            <a:ext cx="4206240" cy="41148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Your most private thoughts</a:t>
            </a:r>
            <a:endParaRPr lang="en-US" sz="1500" dirty="0"/>
          </a:p>
        </p:txBody>
      </p:sp>
      <p:sp>
        <p:nvSpPr>
          <p:cNvPr id="19" name="Text 17"/>
          <p:cNvSpPr/>
          <p:nvPr/>
        </p:nvSpPr>
        <p:spPr>
          <a:xfrm>
            <a:off x="7406640" y="4800600"/>
            <a:ext cx="4206240" cy="8686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Doubts, plans, grief — outlasting the conversation, on someone else's servers.</a:t>
            </a:r>
            <a:endParaRPr lang="en-US" sz="1300" dirty="0"/>
          </a:p>
        </p:txBody>
      </p:sp>
      <p:sp>
        <p:nvSpPr>
          <p:cNvPr id="20" name="Text 18"/>
          <p:cNvSpPr/>
          <p:nvPr/>
        </p:nvSpPr>
        <p:spPr>
          <a:xfrm>
            <a:off x="502920" y="6492240"/>
            <a:ext cx="11155680" cy="256032"/>
          </a:xfrm>
          <a:prstGeom prst="rect">
            <a:avLst/>
          </a:prstGeom>
          <a:noFill/>
          <a:ln/>
        </p:spPr>
        <p:txBody>
          <a:bodyPr wrap="square" rtlCol="0" anchor="ctr"/>
          <a:lstStyle/>
          <a:p>
            <a:pPr algn="ctr" indent="0" marL="0">
              <a:buNone/>
            </a:pPr>
            <a:r>
              <a:rPr lang="en-US" sz="1400" i="1" dirty="0">
                <a:solidFill>
                  <a:srgbClr val="7A9E80"/>
                </a:solidFill>
                <a:latin typeface="Calibri" pitchFamily="34" charset="0"/>
                <a:ea typeface="Calibri" pitchFamily="34" charset="-122"/>
                <a:cs typeface="Calibri" pitchFamily="34" charset="-120"/>
              </a:rPr>
              <a:t>When you use cloud AI — you are not the customer. You are the product.</a:t>
            </a:r>
            <a:endParaRPr lang="en-US" sz="1400" dirty="0"/>
          </a:p>
        </p:txBody>
      </p:sp>
      <p:sp>
        <p:nvSpPr>
          <p:cNvPr id="21" name="Shape 19"/>
          <p:cNvSpPr/>
          <p:nvPr/>
        </p:nvSpPr>
        <p:spPr>
          <a:xfrm>
            <a:off x="502920" y="4754880"/>
            <a:ext cx="1737360" cy="256032"/>
          </a:xfrm>
          <a:prstGeom prst="rect">
            <a:avLst/>
          </a:prstGeom>
          <a:solidFill>
            <a:srgbClr val="192119"/>
          </a:solidFill>
          <a:ln w="6350">
            <a:solidFill>
              <a:srgbClr val="2E5234"/>
            </a:solidFill>
            <a:prstDash val="solid"/>
          </a:ln>
        </p:spPr>
      </p:sp>
      <p:sp>
        <p:nvSpPr>
          <p:cNvPr id="22" name="Text 20"/>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2:43 PM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305"/>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PRIVACY  ·  THE PROOF  ·  2:45 PM</a:t>
            </a:r>
            <a:endParaRPr lang="en-US" sz="1000" dirty="0"/>
          </a:p>
        </p:txBody>
      </p:sp>
      <p:sp>
        <p:nvSpPr>
          <p:cNvPr id="3" name="Text 1"/>
          <p:cNvSpPr/>
          <p:nvPr/>
        </p:nvSpPr>
        <p:spPr>
          <a:xfrm>
            <a:off x="502920" y="594360"/>
            <a:ext cx="5943600" cy="182880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This is not</a:t>
            </a:r>
            <a:endParaRPr lang="en-US" sz="6000" dirty="0"/>
          </a:p>
          <a:p>
            <a:pPr indent="0" marL="0">
              <a:buNone/>
            </a:pPr>
            <a:r>
              <a:rPr lang="en-US" sz="6000" b="1" dirty="0">
                <a:solidFill>
                  <a:srgbClr val="FFFFFF"/>
                </a:solidFill>
                <a:latin typeface="Georgia" pitchFamily="34" charset="0"/>
                <a:ea typeface="Georgia" pitchFamily="34" charset="-122"/>
                <a:cs typeface="Georgia" pitchFamily="34" charset="-120"/>
              </a:rPr>
              <a:t>hypothetical.</a:t>
            </a:r>
            <a:endParaRPr lang="en-US" sz="6000" dirty="0"/>
          </a:p>
        </p:txBody>
      </p:sp>
      <p:sp>
        <p:nvSpPr>
          <p:cNvPr id="4" name="Shape 2"/>
          <p:cNvSpPr/>
          <p:nvPr/>
        </p:nvSpPr>
        <p:spPr>
          <a:xfrm>
            <a:off x="502920" y="2560320"/>
            <a:ext cx="11155680" cy="2286000"/>
          </a:xfrm>
          <a:prstGeom prst="rect">
            <a:avLst/>
          </a:prstGeom>
          <a:solidFill>
            <a:srgbClr val="1A0512"/>
          </a:solidFill>
          <a:ln w="25400">
            <a:solidFill>
              <a:srgbClr val="E05C5C"/>
            </a:solidFill>
            <a:prstDash val="solid"/>
          </a:ln>
          <a:effectLst>
            <a:outerShdw sx="100000" sy="100000" kx="0" ky="0" algn="bl" rotWithShape="0" blurRad="152400" dist="50800" dir="8100000">
              <a:srgbClr val="000000">
                <a:alpha val="50000"/>
              </a:srgbClr>
            </a:outerShdw>
          </a:effectLst>
        </p:spPr>
      </p:sp>
      <p:sp>
        <p:nvSpPr>
          <p:cNvPr id="5" name="Shape 3"/>
          <p:cNvSpPr/>
          <p:nvPr/>
        </p:nvSpPr>
        <p:spPr>
          <a:xfrm>
            <a:off x="502920" y="2560320"/>
            <a:ext cx="91440" cy="2286000"/>
          </a:xfrm>
          <a:prstGeom prst="rect">
            <a:avLst/>
          </a:prstGeom>
          <a:solidFill>
            <a:srgbClr val="E05C5C"/>
          </a:solidFill>
          <a:ln w="12700">
            <a:solidFill>
              <a:srgbClr val="E05C5C"/>
            </a:solidFill>
            <a:prstDash val="solid"/>
          </a:ln>
        </p:spPr>
      </p:sp>
      <p:sp>
        <p:nvSpPr>
          <p:cNvPr id="6" name="Text 4"/>
          <p:cNvSpPr/>
          <p:nvPr/>
        </p:nvSpPr>
        <p:spPr>
          <a:xfrm>
            <a:off x="777240" y="2697480"/>
            <a:ext cx="3657600" cy="365760"/>
          </a:xfrm>
          <a:prstGeom prst="rect">
            <a:avLst/>
          </a:prstGeom>
          <a:noFill/>
          <a:ln/>
        </p:spPr>
        <p:txBody>
          <a:bodyPr wrap="square" rtlCol="0" anchor="ctr"/>
          <a:lstStyle/>
          <a:p>
            <a:pPr indent="0" marL="0">
              <a:buNone/>
            </a:pPr>
            <a:r>
              <a:rPr lang="en-US" sz="1100" b="1" spc="300" kern="0" dirty="0">
                <a:solidFill>
                  <a:srgbClr val="E05C5C"/>
                </a:solidFill>
                <a:latin typeface="Courier New" pitchFamily="34" charset="0"/>
                <a:ea typeface="Courier New" pitchFamily="34" charset="-122"/>
                <a:cs typeface="Courier New" pitchFamily="34" charset="-120"/>
              </a:rPr>
              <a:t>SAMSUNG · 2023</a:t>
            </a:r>
            <a:endParaRPr lang="en-US" sz="1100" dirty="0"/>
          </a:p>
        </p:txBody>
      </p:sp>
      <p:sp>
        <p:nvSpPr>
          <p:cNvPr id="7" name="Text 5"/>
          <p:cNvSpPr/>
          <p:nvPr/>
        </p:nvSpPr>
        <p:spPr>
          <a:xfrm>
            <a:off x="777240" y="3154680"/>
            <a:ext cx="10515600" cy="109728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Samsung engineers pasted proprietary source code into ChatGPT.</a:t>
            </a:r>
            <a:endParaRPr lang="en-US" sz="2400" dirty="0"/>
          </a:p>
          <a:p>
            <a:pPr indent="0" marL="0">
              <a:buNone/>
            </a:pPr>
            <a:r>
              <a:rPr lang="en-US" sz="2400" b="1" dirty="0">
                <a:solidFill>
                  <a:srgbClr val="FFFFFF"/>
                </a:solidFill>
                <a:latin typeface="Georgia" pitchFamily="34" charset="0"/>
                <a:ea typeface="Georgia" pitchFamily="34" charset="-122"/>
                <a:cs typeface="Georgia" pitchFamily="34" charset="-120"/>
              </a:rPr>
              <a:t>It became part of OpenAI's training data. Permanently.</a:t>
            </a:r>
            <a:endParaRPr lang="en-US" sz="2400" dirty="0"/>
          </a:p>
        </p:txBody>
      </p:sp>
      <p:sp>
        <p:nvSpPr>
          <p:cNvPr id="8" name="Text 6"/>
          <p:cNvSpPr/>
          <p:nvPr/>
        </p:nvSpPr>
        <p:spPr>
          <a:xfrm>
            <a:off x="777240" y="4343400"/>
            <a:ext cx="10515600" cy="365760"/>
          </a:xfrm>
          <a:prstGeom prst="rect">
            <a:avLst/>
          </a:prstGeom>
          <a:noFill/>
          <a:ln/>
        </p:spPr>
        <p:txBody>
          <a:bodyPr wrap="square" rtlCol="0" anchor="ctr"/>
          <a:lstStyle/>
          <a:p>
            <a:pPr indent="0" marL="0">
              <a:buNone/>
            </a:pPr>
            <a:r>
              <a:rPr lang="en-US" sz="1000" dirty="0">
                <a:solidFill>
                  <a:srgbClr val="2E5234"/>
                </a:solidFill>
                <a:latin typeface="Courier New" pitchFamily="34" charset="0"/>
                <a:ea typeface="Courier New" pitchFamily="34" charset="-122"/>
                <a:cs typeface="Courier New" pitchFamily="34" charset="-120"/>
              </a:rPr>
              <a:t>A documented, real-world case of corporate data exfiltration through cloud AI.  —  MIT dspace, Feb 2026</a:t>
            </a:r>
            <a:endParaRPr lang="en-US" sz="1000" dirty="0"/>
          </a:p>
        </p:txBody>
      </p:sp>
      <p:sp>
        <p:nvSpPr>
          <p:cNvPr id="9" name="Shape 7"/>
          <p:cNvSpPr/>
          <p:nvPr/>
        </p:nvSpPr>
        <p:spPr>
          <a:xfrm>
            <a:off x="502920" y="5074920"/>
            <a:ext cx="11155680" cy="1417320"/>
          </a:xfrm>
          <a:prstGeom prst="rect">
            <a:avLst/>
          </a:prstGeom>
          <a:solidFill>
            <a:srgbClr val="192119"/>
          </a:solidFill>
          <a:ln w="6350">
            <a:solidFill>
              <a:srgbClr val="223026"/>
            </a:solidFill>
            <a:prstDash val="solid"/>
          </a:ln>
        </p:spPr>
      </p:sp>
      <p:sp>
        <p:nvSpPr>
          <p:cNvPr id="10" name="Text 8"/>
          <p:cNvSpPr/>
          <p:nvPr/>
        </p:nvSpPr>
        <p:spPr>
          <a:xfrm>
            <a:off x="685800" y="5166360"/>
            <a:ext cx="10789920" cy="1188720"/>
          </a:xfrm>
          <a:prstGeom prst="rect">
            <a:avLst/>
          </a:prstGeom>
          <a:noFill/>
          <a:ln/>
        </p:spPr>
        <p:txBody>
          <a:bodyPr wrap="square" rtlCol="0" anchor="ctr"/>
          <a:lstStyle/>
          <a:p>
            <a:pPr indent="0" marL="0">
              <a:buNone/>
            </a:pPr>
            <a:r>
              <a:rPr lang="en-US" sz="1800" i="1" dirty="0">
                <a:solidFill>
                  <a:srgbClr val="3DDC84"/>
                </a:solidFill>
                <a:latin typeface="Calibri" pitchFamily="34" charset="0"/>
                <a:ea typeface="Calibri" pitchFamily="34" charset="-122"/>
                <a:cs typeface="Calibri" pitchFamily="34" charset="-120"/>
              </a:rPr>
              <a:t>If it happened to Samsung — with trained engineers — it can happen to anyone.</a:t>
            </a:r>
            <a:endParaRPr lang="en-US" sz="1800" dirty="0"/>
          </a:p>
          <a:p>
            <a:pPr indent="0" marL="0">
              <a:buNone/>
            </a:pPr>
            <a:r>
              <a:rPr lang="en-US" sz="1800" i="1" dirty="0">
                <a:solidFill>
                  <a:srgbClr val="3DDC84"/>
                </a:solidFill>
                <a:latin typeface="Calibri" pitchFamily="34" charset="0"/>
                <a:ea typeface="Calibri" pitchFamily="34" charset="-122"/>
                <a:cs typeface="Calibri" pitchFamily="34" charset="-120"/>
              </a:rPr>
              <a:t>Local AI eliminates this risk. There is no server to send data to.</a:t>
            </a:r>
            <a:endParaRPr lang="en-US" sz="1800" dirty="0"/>
          </a:p>
        </p:txBody>
      </p:sp>
      <p:sp>
        <p:nvSpPr>
          <p:cNvPr id="11" name="Shape 9"/>
          <p:cNvSpPr/>
          <p:nvPr/>
        </p:nvSpPr>
        <p:spPr>
          <a:xfrm>
            <a:off x="502920" y="4754880"/>
            <a:ext cx="1737360" cy="256032"/>
          </a:xfrm>
          <a:prstGeom prst="rect">
            <a:avLst/>
          </a:prstGeom>
          <a:solidFill>
            <a:srgbClr val="192119"/>
          </a:solidFill>
          <a:ln w="6350">
            <a:solidFill>
              <a:srgbClr val="2E5234"/>
            </a:solidFill>
            <a:prstDash val="solid"/>
          </a:ln>
        </p:spPr>
      </p:sp>
      <p:sp>
        <p:nvSpPr>
          <p:cNvPr id="12" name="Text 10"/>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2:45 PM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731520"/>
            <a:ext cx="7315200" cy="3657600"/>
          </a:xfrm>
          <a:prstGeom prst="rect">
            <a:avLst/>
          </a:prstGeom>
          <a:noFill/>
          <a:ln/>
          <a:effectLst>
            <a:outerShdw sx="100000" sy="100000" kx="0" ky="0" algn="bl" rotWithShape="0" blurRad="101600" dist="38100" dir="8100000">
              <a:srgbClr val="000000">
                <a:alpha val="35000"/>
              </a:srgbClr>
            </a:outerShdw>
          </a:effectLst>
        </p:spPr>
        <p:txBody>
          <a:bodyPr wrap="square"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Every query.</a:t>
            </a:r>
            <a:endParaRPr lang="en-US" sz="7200" dirty="0"/>
          </a:p>
          <a:p>
            <a:pPr indent="0" marL="0">
              <a:buNone/>
            </a:pPr>
            <a:r>
              <a:rPr lang="en-US" sz="7200" b="1" dirty="0">
                <a:solidFill>
                  <a:srgbClr val="FFFFFF"/>
                </a:solidFill>
                <a:latin typeface="Georgia" pitchFamily="34" charset="0"/>
                <a:ea typeface="Georgia" pitchFamily="34" charset="-122"/>
                <a:cs typeface="Georgia" pitchFamily="34" charset="-120"/>
              </a:rPr>
              <a:t>Every day.</a:t>
            </a:r>
            <a:endParaRPr lang="en-US" sz="7200" dirty="0"/>
          </a:p>
          <a:p>
            <a:pPr indent="0" marL="0">
              <a:buNone/>
            </a:pPr>
            <a:r>
              <a:rPr lang="en-US" sz="7200" b="1" dirty="0">
                <a:solidFill>
                  <a:srgbClr val="FFFFFF"/>
                </a:solidFill>
                <a:latin typeface="Georgia" pitchFamily="34" charset="0"/>
                <a:ea typeface="Georgia" pitchFamily="34" charset="-122"/>
                <a:cs typeface="Georgia" pitchFamily="34" charset="-120"/>
              </a:rPr>
              <a:t>Someone pays.</a:t>
            </a:r>
            <a:endParaRPr lang="en-US" sz="7200" dirty="0"/>
          </a:p>
        </p:txBody>
      </p:sp>
      <p:sp>
        <p:nvSpPr>
          <p:cNvPr id="3" name="Text 1"/>
          <p:cNvSpPr/>
          <p:nvPr/>
        </p:nvSpPr>
        <p:spPr>
          <a:xfrm>
            <a:off x="502920" y="4434840"/>
            <a:ext cx="7315200" cy="1188720"/>
          </a:xfrm>
          <a:prstGeom prst="rect">
            <a:avLst/>
          </a:prstGeom>
          <a:noFill/>
          <a:ln/>
        </p:spPr>
        <p:txBody>
          <a:bodyPr wrap="square" rtlCol="0" anchor="ctr"/>
          <a:lstStyle/>
          <a:p>
            <a:pPr indent="0" marL="0">
              <a:buNone/>
            </a:pPr>
            <a:r>
              <a:rPr lang="en-US" sz="2600" i="1" dirty="0">
                <a:solidFill>
                  <a:srgbClr val="7A9E80"/>
                </a:solidFill>
                <a:latin typeface="Calibri" pitchFamily="34" charset="0"/>
                <a:ea typeface="Calibri" pitchFamily="34" charset="-122"/>
                <a:cs typeface="Calibri" pitchFamily="34" charset="-120"/>
              </a:rPr>
              <a:t>The cloud is invisible.</a:t>
            </a:r>
            <a:endParaRPr lang="en-US" sz="2600" dirty="0"/>
          </a:p>
          <a:p>
            <a:pPr indent="0" marL="0">
              <a:buNone/>
            </a:pPr>
            <a:r>
              <a:rPr lang="en-US" sz="2600" i="1" dirty="0">
                <a:solidFill>
                  <a:srgbClr val="7A9E80"/>
                </a:solidFill>
                <a:latin typeface="Calibri" pitchFamily="34" charset="0"/>
                <a:ea typeface="Calibri" pitchFamily="34" charset="-122"/>
                <a:cs typeface="Calibri" pitchFamily="34" charset="-120"/>
              </a:rPr>
              <a:t>The cost is not.</a:t>
            </a:r>
            <a:endParaRPr lang="en-US" sz="2600" dirty="0"/>
          </a:p>
        </p:txBody>
      </p:sp>
      <p:sp>
        <p:nvSpPr>
          <p:cNvPr id="4" name="Shape 2"/>
          <p:cNvSpPr/>
          <p:nvPr/>
        </p:nvSpPr>
        <p:spPr>
          <a:xfrm>
            <a:off x="8321040" y="640080"/>
            <a:ext cx="3474720" cy="5394960"/>
          </a:xfrm>
          <a:prstGeom prst="rect">
            <a:avLst/>
          </a:prstGeom>
          <a:solidFill>
            <a:srgbClr val="1A0808"/>
          </a:solidFill>
          <a:ln w="12700">
            <a:solidFill>
              <a:srgbClr val="E05C5C"/>
            </a:solidFill>
            <a:prstDash val="solid"/>
          </a:ln>
        </p:spPr>
      </p:sp>
      <p:sp>
        <p:nvSpPr>
          <p:cNvPr id="5" name="Text 3"/>
          <p:cNvSpPr/>
          <p:nvPr/>
        </p:nvSpPr>
        <p:spPr>
          <a:xfrm>
            <a:off x="8503920" y="822960"/>
            <a:ext cx="3108960" cy="822960"/>
          </a:xfrm>
          <a:prstGeom prst="rect">
            <a:avLst/>
          </a:prstGeom>
          <a:noFill/>
          <a:ln/>
        </p:spPr>
        <p:txBody>
          <a:bodyPr wrap="square" rtlCol="0" anchor="ctr"/>
          <a:lstStyle/>
          <a:p>
            <a:pPr indent="0" marL="0">
              <a:buNone/>
            </a:pPr>
            <a:r>
              <a:rPr lang="en-US" sz="1000" b="1" spc="200" kern="0" dirty="0">
                <a:solidFill>
                  <a:srgbClr val="E05C5C"/>
                </a:solidFill>
                <a:latin typeface="Courier New" pitchFamily="34" charset="0"/>
                <a:ea typeface="Courier New" pitchFamily="34" charset="-122"/>
                <a:cs typeface="Courier New" pitchFamily="34" charset="-120"/>
              </a:rPr>
              <a:t>THE ENVIRONMENTAL</a:t>
            </a:r>
            <a:endParaRPr lang="en-US" sz="1000" dirty="0"/>
          </a:p>
          <a:p>
            <a:pPr indent="0" marL="0">
              <a:buNone/>
            </a:pPr>
            <a:r>
              <a:rPr lang="en-US" sz="1000" b="1" spc="200" kern="0" dirty="0">
                <a:solidFill>
                  <a:srgbClr val="E05C5C"/>
                </a:solidFill>
                <a:latin typeface="Courier New" pitchFamily="34" charset="0"/>
                <a:ea typeface="Courier New" pitchFamily="34" charset="-122"/>
                <a:cs typeface="Courier New" pitchFamily="34" charset="-120"/>
              </a:rPr>
              <a:t>COST OF CLOUD AI</a:t>
            </a:r>
            <a:endParaRPr lang="en-US" sz="1000" dirty="0"/>
          </a:p>
        </p:txBody>
      </p:sp>
      <p:sp>
        <p:nvSpPr>
          <p:cNvPr id="6" name="Shape 4"/>
          <p:cNvSpPr/>
          <p:nvPr/>
        </p:nvSpPr>
        <p:spPr>
          <a:xfrm>
            <a:off x="8503920" y="1828800"/>
            <a:ext cx="64008" cy="365760"/>
          </a:xfrm>
          <a:prstGeom prst="rect">
            <a:avLst/>
          </a:prstGeom>
          <a:solidFill>
            <a:srgbClr val="E05C5C"/>
          </a:solidFill>
          <a:ln w="12700">
            <a:solidFill>
              <a:srgbClr val="E05C5C"/>
            </a:solidFill>
            <a:prstDash val="solid"/>
          </a:ln>
        </p:spPr>
      </p:sp>
      <p:sp>
        <p:nvSpPr>
          <p:cNvPr id="7" name="Text 5"/>
          <p:cNvSpPr/>
          <p:nvPr/>
        </p:nvSpPr>
        <p:spPr>
          <a:xfrm>
            <a:off x="8686800" y="1801368"/>
            <a:ext cx="2926080" cy="548640"/>
          </a:xfrm>
          <a:prstGeom prst="rect">
            <a:avLst/>
          </a:prstGeom>
          <a:noFill/>
          <a:ln/>
        </p:spPr>
        <p:txBody>
          <a:bodyPr wrap="square" rtlCol="0" anchor="ctr"/>
          <a:lstStyle/>
          <a:p>
            <a:pPr indent="0" marL="0">
              <a:buNone/>
            </a:pPr>
            <a:r>
              <a:rPr lang="en-US" sz="1200" dirty="0">
                <a:solidFill>
                  <a:srgbClr val="7A9E80"/>
                </a:solidFill>
                <a:latin typeface="Calibri" pitchFamily="34" charset="0"/>
                <a:ea typeface="Calibri" pitchFamily="34" charset="-122"/>
                <a:cs typeface="Calibri" pitchFamily="34" charset="-120"/>
              </a:rPr>
              <a:t>2.5 billion ChatGPT queries processed every single day</a:t>
            </a:r>
            <a:endParaRPr lang="en-US" sz="1200" dirty="0"/>
          </a:p>
        </p:txBody>
      </p:sp>
      <p:sp>
        <p:nvSpPr>
          <p:cNvPr id="8" name="Shape 6"/>
          <p:cNvSpPr/>
          <p:nvPr/>
        </p:nvSpPr>
        <p:spPr>
          <a:xfrm>
            <a:off x="8503920" y="2606040"/>
            <a:ext cx="64008" cy="365760"/>
          </a:xfrm>
          <a:prstGeom prst="rect">
            <a:avLst/>
          </a:prstGeom>
          <a:solidFill>
            <a:srgbClr val="E05C5C"/>
          </a:solidFill>
          <a:ln w="12700">
            <a:solidFill>
              <a:srgbClr val="E05C5C"/>
            </a:solidFill>
            <a:prstDash val="solid"/>
          </a:ln>
        </p:spPr>
      </p:sp>
      <p:sp>
        <p:nvSpPr>
          <p:cNvPr id="9" name="Text 7"/>
          <p:cNvSpPr/>
          <p:nvPr/>
        </p:nvSpPr>
        <p:spPr>
          <a:xfrm>
            <a:off x="8686800" y="2578608"/>
            <a:ext cx="2926080" cy="548640"/>
          </a:xfrm>
          <a:prstGeom prst="rect">
            <a:avLst/>
          </a:prstGeom>
          <a:noFill/>
          <a:ln/>
        </p:spPr>
        <p:txBody>
          <a:bodyPr wrap="square" rtlCol="0" anchor="ctr"/>
          <a:lstStyle/>
          <a:p>
            <a:pPr indent="0" marL="0">
              <a:buNone/>
            </a:pPr>
            <a:r>
              <a:rPr lang="en-US" sz="1200" dirty="0">
                <a:solidFill>
                  <a:srgbClr val="7A9E80"/>
                </a:solidFill>
                <a:latin typeface="Calibri" pitchFamily="34" charset="0"/>
                <a:ea typeface="Calibri" pitchFamily="34" charset="-122"/>
                <a:cs typeface="Calibri" pitchFamily="34" charset="-120"/>
              </a:rPr>
              <a:t>US data centers: 183 TWh in 2024</a:t>
            </a:r>
            <a:endParaRPr lang="en-US" sz="1200" dirty="0"/>
          </a:p>
        </p:txBody>
      </p:sp>
      <p:sp>
        <p:nvSpPr>
          <p:cNvPr id="10" name="Shape 8"/>
          <p:cNvSpPr/>
          <p:nvPr/>
        </p:nvSpPr>
        <p:spPr>
          <a:xfrm>
            <a:off x="8503920" y="3383280"/>
            <a:ext cx="64008" cy="365760"/>
          </a:xfrm>
          <a:prstGeom prst="rect">
            <a:avLst/>
          </a:prstGeom>
          <a:solidFill>
            <a:srgbClr val="E05C5C"/>
          </a:solidFill>
          <a:ln w="12700">
            <a:solidFill>
              <a:srgbClr val="E05C5C"/>
            </a:solidFill>
            <a:prstDash val="solid"/>
          </a:ln>
        </p:spPr>
      </p:sp>
      <p:sp>
        <p:nvSpPr>
          <p:cNvPr id="11" name="Text 9"/>
          <p:cNvSpPr/>
          <p:nvPr/>
        </p:nvSpPr>
        <p:spPr>
          <a:xfrm>
            <a:off x="8686800" y="3355848"/>
            <a:ext cx="2926080" cy="548640"/>
          </a:xfrm>
          <a:prstGeom prst="rect">
            <a:avLst/>
          </a:prstGeom>
          <a:noFill/>
          <a:ln/>
        </p:spPr>
        <p:txBody>
          <a:bodyPr wrap="square" rtlCol="0" anchor="ctr"/>
          <a:lstStyle/>
          <a:p>
            <a:pPr indent="0" marL="0">
              <a:buNone/>
            </a:pPr>
            <a:r>
              <a:rPr lang="en-US" sz="1200" dirty="0">
                <a:solidFill>
                  <a:srgbClr val="7A9E80"/>
                </a:solidFill>
                <a:latin typeface="Calibri" pitchFamily="34" charset="0"/>
                <a:ea typeface="Calibri" pitchFamily="34" charset="-122"/>
                <a:cs typeface="Calibri" pitchFamily="34" charset="-120"/>
              </a:rPr>
              <a:t>17 billion gallons of water — cooling</a:t>
            </a:r>
            <a:endParaRPr lang="en-US" sz="1200" dirty="0"/>
          </a:p>
        </p:txBody>
      </p:sp>
      <p:sp>
        <p:nvSpPr>
          <p:cNvPr id="12" name="Shape 10"/>
          <p:cNvSpPr/>
          <p:nvPr/>
        </p:nvSpPr>
        <p:spPr>
          <a:xfrm>
            <a:off x="8503920" y="4160520"/>
            <a:ext cx="64008" cy="365760"/>
          </a:xfrm>
          <a:prstGeom prst="rect">
            <a:avLst/>
          </a:prstGeom>
          <a:solidFill>
            <a:srgbClr val="E05C5C"/>
          </a:solidFill>
          <a:ln w="12700">
            <a:solidFill>
              <a:srgbClr val="E05C5C"/>
            </a:solidFill>
            <a:prstDash val="solid"/>
          </a:ln>
        </p:spPr>
      </p:sp>
      <p:sp>
        <p:nvSpPr>
          <p:cNvPr id="13" name="Text 11"/>
          <p:cNvSpPr/>
          <p:nvPr/>
        </p:nvSpPr>
        <p:spPr>
          <a:xfrm>
            <a:off x="8686800" y="4133088"/>
            <a:ext cx="2926080" cy="548640"/>
          </a:xfrm>
          <a:prstGeom prst="rect">
            <a:avLst/>
          </a:prstGeom>
          <a:noFill/>
          <a:ln/>
        </p:spPr>
        <p:txBody>
          <a:bodyPr wrap="square" rtlCol="0" anchor="ctr"/>
          <a:lstStyle/>
          <a:p>
            <a:pPr indent="0" marL="0">
              <a:buNone/>
            </a:pPr>
            <a:r>
              <a:rPr lang="en-US" sz="1200" dirty="0">
                <a:solidFill>
                  <a:srgbClr val="7A9E80"/>
                </a:solidFill>
                <a:latin typeface="Calibri" pitchFamily="34" charset="0"/>
                <a:ea typeface="Calibri" pitchFamily="34" charset="-122"/>
                <a:cs typeface="Calibri" pitchFamily="34" charset="-120"/>
              </a:rPr>
              <a:t>Nearly 60% powered by gas and coal</a:t>
            </a:r>
            <a:endParaRPr lang="en-US" sz="1200" dirty="0"/>
          </a:p>
        </p:txBody>
      </p:sp>
      <p:sp>
        <p:nvSpPr>
          <p:cNvPr id="14" name="Shape 12"/>
          <p:cNvSpPr/>
          <p:nvPr/>
        </p:nvSpPr>
        <p:spPr>
          <a:xfrm>
            <a:off x="8503920" y="4937760"/>
            <a:ext cx="64008" cy="365760"/>
          </a:xfrm>
          <a:prstGeom prst="rect">
            <a:avLst/>
          </a:prstGeom>
          <a:solidFill>
            <a:srgbClr val="E05C5C"/>
          </a:solidFill>
          <a:ln w="12700">
            <a:solidFill>
              <a:srgbClr val="E05C5C"/>
            </a:solidFill>
            <a:prstDash val="solid"/>
          </a:ln>
        </p:spPr>
      </p:sp>
      <p:sp>
        <p:nvSpPr>
          <p:cNvPr id="15" name="Text 13"/>
          <p:cNvSpPr/>
          <p:nvPr/>
        </p:nvSpPr>
        <p:spPr>
          <a:xfrm>
            <a:off x="8686800" y="4910328"/>
            <a:ext cx="2926080" cy="548640"/>
          </a:xfrm>
          <a:prstGeom prst="rect">
            <a:avLst/>
          </a:prstGeom>
          <a:noFill/>
          <a:ln/>
        </p:spPr>
        <p:txBody>
          <a:bodyPr wrap="square" rtlCol="0" anchor="ctr"/>
          <a:lstStyle/>
          <a:p>
            <a:pPr indent="0" marL="0">
              <a:buNone/>
            </a:pPr>
            <a:r>
              <a:rPr lang="en-US" sz="1200" dirty="0">
                <a:solidFill>
                  <a:srgbClr val="7A9E80"/>
                </a:solidFill>
                <a:latin typeface="Calibri" pitchFamily="34" charset="0"/>
                <a:ea typeface="Calibri" pitchFamily="34" charset="-122"/>
                <a:cs typeface="Calibri" pitchFamily="34" charset="-120"/>
              </a:rPr>
              <a:t>Most people using AI have no idea</a:t>
            </a:r>
            <a:endParaRPr lang="en-US" sz="1200" dirty="0"/>
          </a:p>
        </p:txBody>
      </p:sp>
      <p:sp>
        <p:nvSpPr>
          <p:cNvPr id="16" name="Shape 14"/>
          <p:cNvSpPr/>
          <p:nvPr/>
        </p:nvSpPr>
        <p:spPr>
          <a:xfrm>
            <a:off x="502920" y="4754880"/>
            <a:ext cx="1737360" cy="256032"/>
          </a:xfrm>
          <a:prstGeom prst="rect">
            <a:avLst/>
          </a:prstGeom>
          <a:solidFill>
            <a:srgbClr val="192119"/>
          </a:solidFill>
          <a:ln w="6350">
            <a:solidFill>
              <a:srgbClr val="2E5234"/>
            </a:solidFill>
            <a:prstDash val="solid"/>
          </a:ln>
        </p:spPr>
      </p:sp>
      <p:sp>
        <p:nvSpPr>
          <p:cNvPr id="17" name="Text 15"/>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2:46 PM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ENVIRONMENTAL IMPACT  ·  2:46 PM</a:t>
            </a:r>
            <a:endParaRPr lang="en-US" sz="1000" dirty="0"/>
          </a:p>
        </p:txBody>
      </p:sp>
      <p:sp>
        <p:nvSpPr>
          <p:cNvPr id="3" name="Text 1"/>
          <p:cNvSpPr/>
          <p:nvPr/>
        </p:nvSpPr>
        <p:spPr>
          <a:xfrm>
            <a:off x="502920" y="457200"/>
            <a:ext cx="11155680" cy="4114800"/>
          </a:xfrm>
          <a:prstGeom prst="rect">
            <a:avLst/>
          </a:prstGeom>
          <a:noFill/>
          <a:ln/>
        </p:spPr>
        <p:txBody>
          <a:bodyPr wrap="square" rtlCol="0" anchor="ctr"/>
          <a:lstStyle/>
          <a:p>
            <a:pPr algn="ctr" indent="0" marL="0">
              <a:buNone/>
            </a:pPr>
            <a:r>
              <a:rPr lang="en-US" sz="22000" b="1" dirty="0">
                <a:solidFill>
                  <a:srgbClr val="E05C5C">
                    <a:alpha val="85000"/>
                  </a:srgbClr>
                </a:solidFill>
                <a:latin typeface="Georgia" pitchFamily="34" charset="0"/>
                <a:ea typeface="Georgia" pitchFamily="34" charset="-122"/>
                <a:cs typeface="Georgia" pitchFamily="34" charset="-120"/>
              </a:rPr>
              <a:t>415</a:t>
            </a:r>
            <a:endParaRPr lang="en-US" sz="22000" dirty="0"/>
          </a:p>
        </p:txBody>
      </p:sp>
      <p:sp>
        <p:nvSpPr>
          <p:cNvPr id="4" name="Text 2"/>
          <p:cNvSpPr/>
          <p:nvPr/>
        </p:nvSpPr>
        <p:spPr>
          <a:xfrm>
            <a:off x="502920" y="4023360"/>
            <a:ext cx="11155680" cy="1097280"/>
          </a:xfrm>
          <a:prstGeom prst="rect">
            <a:avLst/>
          </a:prstGeom>
          <a:noFill/>
          <a:ln/>
        </p:spPr>
        <p:txBody>
          <a:bodyPr wrap="square" rtlCol="0" anchor="ctr"/>
          <a:lstStyle/>
          <a:p>
            <a:pPr algn="ctr" indent="0" marL="0">
              <a:buNone/>
            </a:pPr>
            <a:r>
              <a:rPr lang="en-US" sz="7200" b="1" dirty="0">
                <a:solidFill>
                  <a:srgbClr val="E05C5C"/>
                </a:solidFill>
                <a:latin typeface="Georgia" pitchFamily="34" charset="0"/>
                <a:ea typeface="Georgia" pitchFamily="34" charset="-122"/>
                <a:cs typeface="Georgia" pitchFamily="34" charset="-120"/>
              </a:rPr>
              <a:t>TWh</a:t>
            </a:r>
            <a:endParaRPr lang="en-US" sz="7200" dirty="0"/>
          </a:p>
        </p:txBody>
      </p:sp>
      <p:sp>
        <p:nvSpPr>
          <p:cNvPr id="5" name="Text 3"/>
          <p:cNvSpPr/>
          <p:nvPr/>
        </p:nvSpPr>
        <p:spPr>
          <a:xfrm>
            <a:off x="502920" y="5166360"/>
            <a:ext cx="11155680" cy="4572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Global data center electricity consumed in 2024</a:t>
            </a:r>
            <a:endParaRPr lang="en-US" sz="2200" dirty="0"/>
          </a:p>
        </p:txBody>
      </p:sp>
      <p:sp>
        <p:nvSpPr>
          <p:cNvPr id="6" name="Text 4"/>
          <p:cNvSpPr/>
          <p:nvPr/>
        </p:nvSpPr>
        <p:spPr>
          <a:xfrm>
            <a:off x="502920" y="5669280"/>
            <a:ext cx="11155680" cy="365760"/>
          </a:xfrm>
          <a:prstGeom prst="rect">
            <a:avLst/>
          </a:prstGeom>
          <a:noFill/>
          <a:ln/>
        </p:spPr>
        <p:txBody>
          <a:bodyPr wrap="square" rtlCol="0" anchor="ctr"/>
          <a:lstStyle/>
          <a:p>
            <a:pPr algn="ctr" indent="0" marL="0">
              <a:buNone/>
            </a:pPr>
            <a:r>
              <a:rPr lang="en-US" sz="1200" spc="100" kern="0" dirty="0">
                <a:solidFill>
                  <a:srgbClr val="2E5234"/>
                </a:solidFill>
                <a:latin typeface="Courier New" pitchFamily="34" charset="0"/>
                <a:ea typeface="Courier New" pitchFamily="34" charset="-122"/>
                <a:cs typeface="Courier New" pitchFamily="34" charset="-120"/>
              </a:rPr>
              <a:t>= Japan's entire annual energy demand  ·  Doubling to 945 TWh by 2030</a:t>
            </a:r>
            <a:endParaRPr lang="en-US" sz="1200" dirty="0"/>
          </a:p>
        </p:txBody>
      </p:sp>
      <p:sp>
        <p:nvSpPr>
          <p:cNvPr id="7" name="Text 5"/>
          <p:cNvSpPr/>
          <p:nvPr/>
        </p:nvSpPr>
        <p:spPr>
          <a:xfrm>
            <a:off x="502920" y="6172200"/>
            <a:ext cx="8229600" cy="182880"/>
          </a:xfrm>
          <a:prstGeom prst="rect">
            <a:avLst/>
          </a:prstGeom>
          <a:noFill/>
          <a:ln/>
        </p:spPr>
        <p:txBody>
          <a:bodyPr wrap="square" rtlCol="0" anchor="ctr"/>
          <a:lstStyle/>
          <a:p>
            <a:pPr indent="0" marL="0">
              <a:buNone/>
            </a:pPr>
            <a:r>
              <a:rPr lang="en-US" sz="800" i="1" dirty="0">
                <a:solidFill>
                  <a:srgbClr val="2E5234"/>
                </a:solidFill>
                <a:latin typeface="Courier New" pitchFamily="34" charset="0"/>
                <a:ea typeface="Courier New" pitchFamily="34" charset="-122"/>
                <a:cs typeface="Courier New" pitchFamily="34" charset="-120"/>
              </a:rPr>
              <a:t>Source: IEA Energy &amp; AI Report, 2025</a:t>
            </a:r>
            <a:endParaRPr lang="en-US" sz="800" dirty="0"/>
          </a:p>
        </p:txBody>
      </p:sp>
      <p:sp>
        <p:nvSpPr>
          <p:cNvPr id="8" name="Shape 6"/>
          <p:cNvSpPr/>
          <p:nvPr/>
        </p:nvSpPr>
        <p:spPr>
          <a:xfrm>
            <a:off x="502920" y="4754880"/>
            <a:ext cx="1737360" cy="256032"/>
          </a:xfrm>
          <a:prstGeom prst="rect">
            <a:avLst/>
          </a:prstGeom>
          <a:solidFill>
            <a:srgbClr val="192119"/>
          </a:solidFill>
          <a:ln w="6350">
            <a:solidFill>
              <a:srgbClr val="2E5234"/>
            </a:solidFill>
            <a:prstDash val="solid"/>
          </a:ln>
        </p:spPr>
      </p:sp>
      <p:sp>
        <p:nvSpPr>
          <p:cNvPr id="9" name="Text 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2:47 PM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0810"/>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ENVIRONMENTAL IMPACT  ·  2:47 PM</a:t>
            </a:r>
            <a:endParaRPr lang="en-US" sz="1000" dirty="0"/>
          </a:p>
        </p:txBody>
      </p:sp>
      <p:sp>
        <p:nvSpPr>
          <p:cNvPr id="3" name="Text 1"/>
          <p:cNvSpPr/>
          <p:nvPr/>
        </p:nvSpPr>
        <p:spPr>
          <a:xfrm>
            <a:off x="502920" y="365760"/>
            <a:ext cx="11155680" cy="3840480"/>
          </a:xfrm>
          <a:prstGeom prst="rect">
            <a:avLst/>
          </a:prstGeom>
          <a:noFill/>
          <a:ln/>
        </p:spPr>
        <p:txBody>
          <a:bodyPr wrap="square" rtlCol="0" anchor="ctr"/>
          <a:lstStyle/>
          <a:p>
            <a:pPr algn="ctr" indent="0" marL="0">
              <a:buNone/>
            </a:pPr>
            <a:r>
              <a:rPr lang="en-US" sz="22000" b="1" dirty="0">
                <a:solidFill>
                  <a:srgbClr val="F0C060">
                    <a:alpha val="85000"/>
                  </a:srgbClr>
                </a:solidFill>
                <a:latin typeface="Georgia" pitchFamily="34" charset="0"/>
                <a:ea typeface="Georgia" pitchFamily="34" charset="-122"/>
                <a:cs typeface="Georgia" pitchFamily="34" charset="-120"/>
              </a:rPr>
              <a:t>17</a:t>
            </a:r>
            <a:endParaRPr lang="en-US" sz="22000" dirty="0"/>
          </a:p>
        </p:txBody>
      </p:sp>
      <p:sp>
        <p:nvSpPr>
          <p:cNvPr id="4" name="Text 2"/>
          <p:cNvSpPr/>
          <p:nvPr/>
        </p:nvSpPr>
        <p:spPr>
          <a:xfrm>
            <a:off x="502920" y="3931920"/>
            <a:ext cx="11155680" cy="1005840"/>
          </a:xfrm>
          <a:prstGeom prst="rect">
            <a:avLst/>
          </a:prstGeom>
          <a:noFill/>
          <a:ln/>
        </p:spPr>
        <p:txBody>
          <a:bodyPr wrap="square" rtlCol="0" anchor="ctr"/>
          <a:lstStyle/>
          <a:p>
            <a:pPr algn="ctr" indent="0" marL="0">
              <a:buNone/>
            </a:pPr>
            <a:r>
              <a:rPr lang="en-US" sz="6000" b="1" dirty="0">
                <a:solidFill>
                  <a:srgbClr val="F0C060"/>
                </a:solidFill>
                <a:latin typeface="Georgia" pitchFamily="34" charset="0"/>
                <a:ea typeface="Georgia" pitchFamily="34" charset="-122"/>
                <a:cs typeface="Georgia" pitchFamily="34" charset="-120"/>
              </a:rPr>
              <a:t>Billion Gallons</a:t>
            </a:r>
            <a:endParaRPr lang="en-US" sz="6000" dirty="0"/>
          </a:p>
        </p:txBody>
      </p:sp>
      <p:sp>
        <p:nvSpPr>
          <p:cNvPr id="5" name="Text 3"/>
          <p:cNvSpPr/>
          <p:nvPr/>
        </p:nvSpPr>
        <p:spPr>
          <a:xfrm>
            <a:off x="502920" y="5029200"/>
            <a:ext cx="11155680" cy="4572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Water consumed cooling US data centers in 2023 alone</a:t>
            </a:r>
            <a:endParaRPr lang="en-US" sz="2200" dirty="0"/>
          </a:p>
        </p:txBody>
      </p:sp>
      <p:sp>
        <p:nvSpPr>
          <p:cNvPr id="6" name="Text 4"/>
          <p:cNvSpPr/>
          <p:nvPr/>
        </p:nvSpPr>
        <p:spPr>
          <a:xfrm>
            <a:off x="502920" y="5577840"/>
            <a:ext cx="11155680" cy="365760"/>
          </a:xfrm>
          <a:prstGeom prst="rect">
            <a:avLst/>
          </a:prstGeom>
          <a:noFill/>
          <a:ln/>
        </p:spPr>
        <p:txBody>
          <a:bodyPr wrap="square" rtlCol="0" anchor="ctr"/>
          <a:lstStyle/>
          <a:p>
            <a:pPr algn="ctr" indent="0" marL="0">
              <a:buNone/>
            </a:pPr>
            <a:r>
              <a:rPr lang="en-US" sz="1200" spc="100" kern="0" dirty="0">
                <a:solidFill>
                  <a:srgbClr val="2E5234"/>
                </a:solidFill>
                <a:latin typeface="Courier New" pitchFamily="34" charset="0"/>
                <a:ea typeface="Courier New" pitchFamily="34" charset="-122"/>
                <a:cs typeface="Courier New" pitchFamily="34" charset="-120"/>
              </a:rPr>
              <a:t>Rising to 33 billion gallons by 2028  ·  From rivers and aquifers, often in water-stressed communities</a:t>
            </a:r>
            <a:endParaRPr lang="en-US" sz="1200" dirty="0"/>
          </a:p>
        </p:txBody>
      </p:sp>
      <p:sp>
        <p:nvSpPr>
          <p:cNvPr id="7" name="Text 5"/>
          <p:cNvSpPr/>
          <p:nvPr/>
        </p:nvSpPr>
        <p:spPr>
          <a:xfrm>
            <a:off x="502920" y="6080760"/>
            <a:ext cx="8229600" cy="182880"/>
          </a:xfrm>
          <a:prstGeom prst="rect">
            <a:avLst/>
          </a:prstGeom>
          <a:noFill/>
          <a:ln/>
        </p:spPr>
        <p:txBody>
          <a:bodyPr wrap="square" rtlCol="0" anchor="ctr"/>
          <a:lstStyle/>
          <a:p>
            <a:pPr indent="0" marL="0">
              <a:buNone/>
            </a:pPr>
            <a:r>
              <a:rPr lang="en-US" sz="800" i="1" dirty="0">
                <a:solidFill>
                  <a:srgbClr val="2E5234"/>
                </a:solidFill>
                <a:latin typeface="Courier New" pitchFamily="34" charset="0"/>
                <a:ea typeface="Courier New" pitchFamily="34" charset="-122"/>
                <a:cs typeface="Courier New" pitchFamily="34" charset="-120"/>
              </a:rPr>
              <a:t>Source: Berkeley Lab / US DOE, December 2024</a:t>
            </a:r>
            <a:endParaRPr lang="en-US" sz="800" dirty="0"/>
          </a:p>
        </p:txBody>
      </p:sp>
      <p:sp>
        <p:nvSpPr>
          <p:cNvPr id="8" name="Shape 6"/>
          <p:cNvSpPr/>
          <p:nvPr/>
        </p:nvSpPr>
        <p:spPr>
          <a:xfrm>
            <a:off x="502920" y="4754880"/>
            <a:ext cx="1737360" cy="256032"/>
          </a:xfrm>
          <a:prstGeom prst="rect">
            <a:avLst/>
          </a:prstGeom>
          <a:solidFill>
            <a:srgbClr val="192119"/>
          </a:solidFill>
          <a:ln w="6350">
            <a:solidFill>
              <a:srgbClr val="2E5234"/>
            </a:solidFill>
            <a:prstDash val="solid"/>
          </a:ln>
        </p:spPr>
      </p:sp>
      <p:sp>
        <p:nvSpPr>
          <p:cNvPr id="9" name="Text 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2:47 PM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THE HIDDEN COST  ·  2:48 PM</a:t>
            </a:r>
            <a:endParaRPr lang="en-US" sz="1000" dirty="0"/>
          </a:p>
        </p:txBody>
      </p:sp>
      <p:sp>
        <p:nvSpPr>
          <p:cNvPr id="3" name="Text 1"/>
          <p:cNvSpPr/>
          <p:nvPr/>
        </p:nvSpPr>
        <p:spPr>
          <a:xfrm>
            <a:off x="502920" y="594360"/>
            <a:ext cx="5943600" cy="41148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More than half</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the energy has</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nothing to do</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with intelligence.</a:t>
            </a:r>
            <a:endParaRPr lang="en-US" sz="4400" dirty="0"/>
          </a:p>
        </p:txBody>
      </p:sp>
      <p:sp>
        <p:nvSpPr>
          <p:cNvPr id="4" name="Shape 2"/>
          <p:cNvSpPr/>
          <p:nvPr/>
        </p:nvSpPr>
        <p:spPr>
          <a:xfrm>
            <a:off x="6858000" y="594360"/>
            <a:ext cx="4937760" cy="2743200"/>
          </a:xfrm>
          <a:prstGeom prst="rect">
            <a:avLst/>
          </a:prstGeom>
          <a:solidFill>
            <a:srgbClr val="1A0808"/>
          </a:solidFill>
          <a:ln w="19050">
            <a:solidFill>
              <a:srgbClr val="E05C5C"/>
            </a:solidFill>
            <a:prstDash val="solid"/>
          </a:ln>
        </p:spPr>
      </p:sp>
      <p:sp>
        <p:nvSpPr>
          <p:cNvPr id="5" name="Text 3"/>
          <p:cNvSpPr/>
          <p:nvPr/>
        </p:nvSpPr>
        <p:spPr>
          <a:xfrm>
            <a:off x="7040880" y="777240"/>
            <a:ext cx="4572000" cy="1371600"/>
          </a:xfrm>
          <a:prstGeom prst="rect">
            <a:avLst/>
          </a:prstGeom>
          <a:noFill/>
          <a:ln/>
        </p:spPr>
        <p:txBody>
          <a:bodyPr wrap="square" rtlCol="0" anchor="ctr"/>
          <a:lstStyle/>
          <a:p>
            <a:pPr algn="ctr" indent="0" marL="0">
              <a:buNone/>
            </a:pPr>
            <a:r>
              <a:rPr lang="en-US" sz="7200" b="1" dirty="0">
                <a:solidFill>
                  <a:srgbClr val="E05C5C"/>
                </a:solidFill>
                <a:latin typeface="Georgia" pitchFamily="34" charset="0"/>
                <a:ea typeface="Georgia" pitchFamily="34" charset="-122"/>
                <a:cs typeface="Georgia" pitchFamily="34" charset="-120"/>
              </a:rPr>
              <a:t>37–52%</a:t>
            </a:r>
            <a:endParaRPr lang="en-US" sz="7200" dirty="0"/>
          </a:p>
        </p:txBody>
      </p:sp>
      <p:sp>
        <p:nvSpPr>
          <p:cNvPr id="6" name="Text 4"/>
          <p:cNvSpPr/>
          <p:nvPr/>
        </p:nvSpPr>
        <p:spPr>
          <a:xfrm>
            <a:off x="7040880" y="2194560"/>
            <a:ext cx="4572000" cy="914400"/>
          </a:xfrm>
          <a:prstGeom prst="rect">
            <a:avLst/>
          </a:prstGeom>
          <a:noFill/>
          <a:ln/>
        </p:spPr>
        <p:txBody>
          <a:bodyPr wrap="square" rtlCol="0" anchor="ctr"/>
          <a:lstStyle/>
          <a:p>
            <a:pPr algn="ctr" indent="0" marL="0">
              <a:buNone/>
            </a:pPr>
            <a:r>
              <a:rPr lang="en-US" sz="1500" dirty="0">
                <a:solidFill>
                  <a:srgbClr val="7A9E80"/>
                </a:solidFill>
                <a:latin typeface="Calibri" pitchFamily="34" charset="0"/>
                <a:ea typeface="Calibri" pitchFamily="34" charset="-122"/>
                <a:cs typeface="Calibri" pitchFamily="34" charset="-120"/>
              </a:rPr>
              <a:t>of cloud AI energy is just moving data</a:t>
            </a:r>
            <a:endParaRPr lang="en-US" sz="1500" dirty="0"/>
          </a:p>
          <a:p>
            <a:pPr algn="ctr" indent="0" marL="0">
              <a:buNone/>
            </a:pPr>
            <a:r>
              <a:rPr lang="en-US" sz="1500" dirty="0">
                <a:solidFill>
                  <a:srgbClr val="7A9E80"/>
                </a:solidFill>
                <a:latin typeface="Calibri" pitchFamily="34" charset="0"/>
                <a:ea typeface="Calibri" pitchFamily="34" charset="-122"/>
                <a:cs typeface="Calibri" pitchFamily="34" charset="-120"/>
              </a:rPr>
              <a:t>before the model even starts thinking</a:t>
            </a:r>
            <a:endParaRPr lang="en-US" sz="1500" dirty="0"/>
          </a:p>
        </p:txBody>
      </p:sp>
      <p:sp>
        <p:nvSpPr>
          <p:cNvPr id="7" name="Shape 5"/>
          <p:cNvSpPr/>
          <p:nvPr/>
        </p:nvSpPr>
        <p:spPr>
          <a:xfrm>
            <a:off x="6858000" y="3566160"/>
            <a:ext cx="4937760" cy="2743200"/>
          </a:xfrm>
          <a:prstGeom prst="rect">
            <a:avLst/>
          </a:prstGeom>
          <a:solidFill>
            <a:srgbClr val="081A0E"/>
          </a:solidFill>
          <a:ln w="19050">
            <a:solidFill>
              <a:srgbClr val="3DDC84"/>
            </a:solidFill>
            <a:prstDash val="solid"/>
          </a:ln>
        </p:spPr>
      </p:sp>
      <p:sp>
        <p:nvSpPr>
          <p:cNvPr id="8" name="Text 6"/>
          <p:cNvSpPr/>
          <p:nvPr/>
        </p:nvSpPr>
        <p:spPr>
          <a:xfrm>
            <a:off x="7040880" y="3749040"/>
            <a:ext cx="4572000" cy="1371600"/>
          </a:xfrm>
          <a:prstGeom prst="rect">
            <a:avLst/>
          </a:prstGeom>
          <a:noFill/>
          <a:ln/>
        </p:spPr>
        <p:txBody>
          <a:bodyPr wrap="square" rtlCol="0" anchor="ctr"/>
          <a:lstStyle/>
          <a:p>
            <a:pPr algn="ctr" indent="0" marL="0">
              <a:buNone/>
            </a:pPr>
            <a:r>
              <a:rPr lang="en-US" sz="9600" b="1" dirty="0">
                <a:solidFill>
                  <a:srgbClr val="3DDC84"/>
                </a:solidFill>
                <a:latin typeface="Georgia" pitchFamily="34" charset="0"/>
                <a:ea typeface="Georgia" pitchFamily="34" charset="-122"/>
                <a:cs typeface="Georgia" pitchFamily="34" charset="-120"/>
              </a:rPr>
              <a:t>0%</a:t>
            </a:r>
            <a:endParaRPr lang="en-US" sz="9600" dirty="0"/>
          </a:p>
        </p:txBody>
      </p:sp>
      <p:sp>
        <p:nvSpPr>
          <p:cNvPr id="9" name="Text 7"/>
          <p:cNvSpPr/>
          <p:nvPr/>
        </p:nvSpPr>
        <p:spPr>
          <a:xfrm>
            <a:off x="7040880" y="5166360"/>
            <a:ext cx="4572000" cy="914400"/>
          </a:xfrm>
          <a:prstGeom prst="rect">
            <a:avLst/>
          </a:prstGeom>
          <a:noFill/>
          <a:ln/>
        </p:spPr>
        <p:txBody>
          <a:bodyPr wrap="square" rtlCol="0" anchor="ctr"/>
          <a:lstStyle/>
          <a:p>
            <a:pPr algn="ctr" indent="0" marL="0">
              <a:buNone/>
            </a:pPr>
            <a:r>
              <a:rPr lang="en-US" sz="1500" dirty="0">
                <a:solidFill>
                  <a:srgbClr val="7A9E80"/>
                </a:solidFill>
                <a:latin typeface="Calibri" pitchFamily="34" charset="0"/>
                <a:ea typeface="Calibri" pitchFamily="34" charset="-122"/>
                <a:cs typeface="Calibri" pitchFamily="34" charset="-120"/>
              </a:rPr>
              <a:t>network overhead with local AI</a:t>
            </a:r>
            <a:endParaRPr lang="en-US" sz="1500" dirty="0"/>
          </a:p>
          <a:p>
            <a:pPr algn="ctr" indent="0" marL="0">
              <a:buNone/>
            </a:pPr>
            <a:r>
              <a:rPr lang="en-US" sz="1500" dirty="0">
                <a:solidFill>
                  <a:srgbClr val="7A9E80"/>
                </a:solidFill>
                <a:latin typeface="Calibri" pitchFamily="34" charset="0"/>
                <a:ea typeface="Calibri" pitchFamily="34" charset="-122"/>
                <a:cs typeface="Calibri" pitchFamily="34" charset="-120"/>
              </a:rPr>
              <a:t>Eliminated entirely — by design</a:t>
            </a:r>
            <a:endParaRPr lang="en-US" sz="1500" dirty="0"/>
          </a:p>
        </p:txBody>
      </p:sp>
      <p:sp>
        <p:nvSpPr>
          <p:cNvPr id="10" name="Text 8"/>
          <p:cNvSpPr/>
          <p:nvPr/>
        </p:nvSpPr>
        <p:spPr>
          <a:xfrm>
            <a:off x="502920" y="6309360"/>
            <a:ext cx="8229600" cy="182880"/>
          </a:xfrm>
          <a:prstGeom prst="rect">
            <a:avLst/>
          </a:prstGeom>
          <a:noFill/>
          <a:ln/>
        </p:spPr>
        <p:txBody>
          <a:bodyPr wrap="square" rtlCol="0" anchor="ctr"/>
          <a:lstStyle/>
          <a:p>
            <a:pPr indent="0" marL="0">
              <a:buNone/>
            </a:pPr>
            <a:r>
              <a:rPr lang="en-US" sz="800" i="1" dirty="0">
                <a:solidFill>
                  <a:srgbClr val="2E5234"/>
                </a:solidFill>
                <a:latin typeface="Courier New" pitchFamily="34" charset="0"/>
                <a:ea typeface="Courier New" pitchFamily="34" charset="-122"/>
                <a:cs typeface="Courier New" pitchFamily="34" charset="-120"/>
              </a:rPr>
              <a:t>Source: ArXiv — Hybrid Edge-Cloud AI, January 2025</a:t>
            </a:r>
            <a:endParaRPr lang="en-US" sz="800" dirty="0"/>
          </a:p>
        </p:txBody>
      </p:sp>
      <p:sp>
        <p:nvSpPr>
          <p:cNvPr id="11" name="Shape 9"/>
          <p:cNvSpPr/>
          <p:nvPr/>
        </p:nvSpPr>
        <p:spPr>
          <a:xfrm>
            <a:off x="502920" y="4754880"/>
            <a:ext cx="1737360" cy="256032"/>
          </a:xfrm>
          <a:prstGeom prst="rect">
            <a:avLst/>
          </a:prstGeom>
          <a:solidFill>
            <a:srgbClr val="192119"/>
          </a:solidFill>
          <a:ln w="6350">
            <a:solidFill>
              <a:srgbClr val="2E5234"/>
            </a:solidFill>
            <a:prstDash val="solid"/>
          </a:ln>
        </p:spPr>
      </p:sp>
      <p:sp>
        <p:nvSpPr>
          <p:cNvPr id="12" name="Text 10"/>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2:48 PM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THE SOLUTION EXISTS  ·  2:49 PM</a:t>
            </a:r>
            <a:endParaRPr lang="en-US" sz="1000" dirty="0"/>
          </a:p>
        </p:txBody>
      </p:sp>
      <p:sp>
        <p:nvSpPr>
          <p:cNvPr id="3" name="Text 1"/>
          <p:cNvSpPr/>
          <p:nvPr/>
        </p:nvSpPr>
        <p:spPr>
          <a:xfrm>
            <a:off x="502920" y="594360"/>
            <a:ext cx="11155680" cy="146304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The capability is here.</a:t>
            </a:r>
            <a:endParaRPr lang="en-US" sz="5200" dirty="0"/>
          </a:p>
          <a:p>
            <a:pPr algn="ctr" indent="0" marL="0">
              <a:buNone/>
            </a:pPr>
            <a:r>
              <a:rPr lang="en-US" sz="5200" b="1" dirty="0">
                <a:solidFill>
                  <a:srgbClr val="FFFFFF"/>
                </a:solidFill>
                <a:latin typeface="Georgia" pitchFamily="34" charset="0"/>
                <a:ea typeface="Georgia" pitchFamily="34" charset="-122"/>
                <a:cs typeface="Georgia" pitchFamily="34" charset="-120"/>
              </a:rPr>
              <a:t>Right now.</a:t>
            </a:r>
            <a:endParaRPr lang="en-US" sz="5200" dirty="0"/>
          </a:p>
        </p:txBody>
      </p:sp>
      <p:sp>
        <p:nvSpPr>
          <p:cNvPr id="4" name="Shape 2"/>
          <p:cNvSpPr/>
          <p:nvPr/>
        </p:nvSpPr>
        <p:spPr>
          <a:xfrm>
            <a:off x="502920" y="2331720"/>
            <a:ext cx="3657600" cy="4114800"/>
          </a:xfrm>
          <a:prstGeom prst="rect">
            <a:avLst/>
          </a:prstGeom>
          <a:solidFill>
            <a:srgbClr val="192119"/>
          </a:solidFill>
          <a:ln w="25400">
            <a:solidFill>
              <a:srgbClr val="3DDC84"/>
            </a:solidFill>
            <a:prstDash val="solid"/>
          </a:ln>
          <a:effectLst>
            <a:outerShdw sx="100000" sy="100000" kx="0" ky="0" algn="bl" rotWithShape="0" blurRad="152400" dist="50800" dir="8100000">
              <a:srgbClr val="000000">
                <a:alpha val="50000"/>
              </a:srgbClr>
            </a:outerShdw>
          </a:effectLst>
        </p:spPr>
      </p:sp>
      <p:sp>
        <p:nvSpPr>
          <p:cNvPr id="5" name="Shape 3"/>
          <p:cNvSpPr/>
          <p:nvPr/>
        </p:nvSpPr>
        <p:spPr>
          <a:xfrm>
            <a:off x="502920" y="2331720"/>
            <a:ext cx="3657600" cy="64008"/>
          </a:xfrm>
          <a:prstGeom prst="rect">
            <a:avLst/>
          </a:prstGeom>
          <a:solidFill>
            <a:srgbClr val="3DDC84"/>
          </a:solidFill>
          <a:ln w="12700">
            <a:solidFill>
              <a:srgbClr val="3DDC84"/>
            </a:solidFill>
            <a:prstDash val="solid"/>
          </a:ln>
        </p:spPr>
      </p:sp>
      <p:sp>
        <p:nvSpPr>
          <p:cNvPr id="6" name="Text 4"/>
          <p:cNvSpPr/>
          <p:nvPr/>
        </p:nvSpPr>
        <p:spPr>
          <a:xfrm>
            <a:off x="594360" y="2514600"/>
            <a:ext cx="3474720" cy="1463040"/>
          </a:xfrm>
          <a:prstGeom prst="rect">
            <a:avLst/>
          </a:prstGeom>
          <a:noFill/>
          <a:ln/>
        </p:spPr>
        <p:txBody>
          <a:bodyPr wrap="square" rtlCol="0" anchor="ctr"/>
          <a:lstStyle/>
          <a:p>
            <a:pPr algn="ctr" indent="0" marL="0">
              <a:buNone/>
            </a:pPr>
            <a:r>
              <a:rPr lang="en-US" sz="7200" b="1" dirty="0">
                <a:solidFill>
                  <a:srgbClr val="3DDC84"/>
                </a:solidFill>
                <a:latin typeface="Georgia" pitchFamily="34" charset="0"/>
                <a:ea typeface="Georgia" pitchFamily="34" charset="-122"/>
                <a:cs typeface="Georgia" pitchFamily="34" charset="-120"/>
              </a:rPr>
              <a:t>88.7%</a:t>
            </a:r>
            <a:endParaRPr lang="en-US" sz="7200" dirty="0"/>
          </a:p>
        </p:txBody>
      </p:sp>
      <p:sp>
        <p:nvSpPr>
          <p:cNvPr id="7" name="Text 5"/>
          <p:cNvSpPr/>
          <p:nvPr/>
        </p:nvSpPr>
        <p:spPr>
          <a:xfrm>
            <a:off x="685800" y="4069080"/>
            <a:ext cx="3291840" cy="146304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Of everyday AI queries can be handled</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accurately by local models right now</a:t>
            </a:r>
            <a:endParaRPr lang="en-US" sz="1500" dirty="0"/>
          </a:p>
        </p:txBody>
      </p:sp>
      <p:sp>
        <p:nvSpPr>
          <p:cNvPr id="8" name="Text 6"/>
          <p:cNvSpPr/>
          <p:nvPr/>
        </p:nvSpPr>
        <p:spPr>
          <a:xfrm>
            <a:off x="685800" y="5669280"/>
            <a:ext cx="3291840" cy="502920"/>
          </a:xfrm>
          <a:prstGeom prst="rect">
            <a:avLst/>
          </a:prstGeom>
          <a:noFill/>
          <a:ln/>
        </p:spPr>
        <p:txBody>
          <a:bodyPr wrap="square" rtlCol="0" anchor="ctr"/>
          <a:lstStyle/>
          <a:p>
            <a:pPr algn="ctr" indent="0" marL="0">
              <a:buNone/>
            </a:pPr>
            <a:r>
              <a:rPr lang="en-US" sz="900" dirty="0">
                <a:solidFill>
                  <a:srgbClr val="2E5234"/>
                </a:solidFill>
                <a:latin typeface="Courier New" pitchFamily="34" charset="0"/>
                <a:ea typeface="Courier New" pitchFamily="34" charset="-122"/>
                <a:cs typeface="Courier New" pitchFamily="34" charset="-120"/>
              </a:rPr>
              <a:t>Stanford / Hazy Research, Nov 2025</a:t>
            </a:r>
            <a:endParaRPr lang="en-US" sz="900" dirty="0"/>
          </a:p>
        </p:txBody>
      </p:sp>
      <p:sp>
        <p:nvSpPr>
          <p:cNvPr id="9" name="Shape 7"/>
          <p:cNvSpPr/>
          <p:nvPr/>
        </p:nvSpPr>
        <p:spPr>
          <a:xfrm>
            <a:off x="4389120" y="2331720"/>
            <a:ext cx="3657600" cy="4114800"/>
          </a:xfrm>
          <a:prstGeom prst="rect">
            <a:avLst/>
          </a:prstGeom>
          <a:solidFill>
            <a:srgbClr val="192119"/>
          </a:solidFill>
          <a:ln w="25400">
            <a:solidFill>
              <a:srgbClr val="5DD8C0"/>
            </a:solidFill>
            <a:prstDash val="solid"/>
          </a:ln>
          <a:effectLst>
            <a:outerShdw sx="100000" sy="100000" kx="0" ky="0" algn="bl" rotWithShape="0" blurRad="152400" dist="50800" dir="8100000">
              <a:srgbClr val="000000">
                <a:alpha val="50000"/>
              </a:srgbClr>
            </a:outerShdw>
          </a:effectLst>
        </p:spPr>
      </p:sp>
      <p:sp>
        <p:nvSpPr>
          <p:cNvPr id="10" name="Shape 8"/>
          <p:cNvSpPr/>
          <p:nvPr/>
        </p:nvSpPr>
        <p:spPr>
          <a:xfrm>
            <a:off x="4389120" y="2331720"/>
            <a:ext cx="3657600" cy="64008"/>
          </a:xfrm>
          <a:prstGeom prst="rect">
            <a:avLst/>
          </a:prstGeom>
          <a:solidFill>
            <a:srgbClr val="5DD8C0"/>
          </a:solidFill>
          <a:ln w="12700">
            <a:solidFill>
              <a:srgbClr val="5DD8C0"/>
            </a:solidFill>
            <a:prstDash val="solid"/>
          </a:ln>
        </p:spPr>
      </p:sp>
      <p:sp>
        <p:nvSpPr>
          <p:cNvPr id="11" name="Text 9"/>
          <p:cNvSpPr/>
          <p:nvPr/>
        </p:nvSpPr>
        <p:spPr>
          <a:xfrm>
            <a:off x="4480560" y="2514600"/>
            <a:ext cx="3474720" cy="1463040"/>
          </a:xfrm>
          <a:prstGeom prst="rect">
            <a:avLst/>
          </a:prstGeom>
          <a:noFill/>
          <a:ln/>
        </p:spPr>
        <p:txBody>
          <a:bodyPr wrap="square" rtlCol="0" anchor="ctr"/>
          <a:lstStyle/>
          <a:p>
            <a:pPr algn="ctr" indent="0" marL="0">
              <a:buNone/>
            </a:pPr>
            <a:r>
              <a:rPr lang="en-US" sz="7200" b="1" dirty="0">
                <a:solidFill>
                  <a:srgbClr val="5DD8C0"/>
                </a:solidFill>
                <a:latin typeface="Georgia" pitchFamily="34" charset="0"/>
                <a:ea typeface="Georgia" pitchFamily="34" charset="-122"/>
                <a:cs typeface="Georgia" pitchFamily="34" charset="-120"/>
              </a:rPr>
              <a:t>90%</a:t>
            </a:r>
            <a:endParaRPr lang="en-US" sz="7200" dirty="0"/>
          </a:p>
        </p:txBody>
      </p:sp>
      <p:sp>
        <p:nvSpPr>
          <p:cNvPr id="12" name="Text 10"/>
          <p:cNvSpPr/>
          <p:nvPr/>
        </p:nvSpPr>
        <p:spPr>
          <a:xfrm>
            <a:off x="4572000" y="4069080"/>
            <a:ext cx="3291840" cy="146304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Energy reduction with smaller local models</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without any loss of accuracy</a:t>
            </a:r>
            <a:endParaRPr lang="en-US" sz="1500" dirty="0"/>
          </a:p>
        </p:txBody>
      </p:sp>
      <p:sp>
        <p:nvSpPr>
          <p:cNvPr id="13" name="Text 11"/>
          <p:cNvSpPr/>
          <p:nvPr/>
        </p:nvSpPr>
        <p:spPr>
          <a:xfrm>
            <a:off x="4572000" y="5669280"/>
            <a:ext cx="3291840" cy="502920"/>
          </a:xfrm>
          <a:prstGeom prst="rect">
            <a:avLst/>
          </a:prstGeom>
          <a:noFill/>
          <a:ln/>
        </p:spPr>
        <p:txBody>
          <a:bodyPr wrap="square" rtlCol="0" anchor="ctr"/>
          <a:lstStyle/>
          <a:p>
            <a:pPr algn="ctr" indent="0" marL="0">
              <a:buNone/>
            </a:pPr>
            <a:r>
              <a:rPr lang="en-US" sz="900" dirty="0">
                <a:solidFill>
                  <a:srgbClr val="2E5234"/>
                </a:solidFill>
                <a:latin typeface="Courier New" pitchFamily="34" charset="0"/>
                <a:ea typeface="Courier New" pitchFamily="34" charset="-122"/>
                <a:cs typeface="Courier New" pitchFamily="34" charset="-120"/>
              </a:rPr>
              <a:t>UNESCO / UCL, July 2025</a:t>
            </a:r>
            <a:endParaRPr lang="en-US" sz="900" dirty="0"/>
          </a:p>
        </p:txBody>
      </p:sp>
      <p:sp>
        <p:nvSpPr>
          <p:cNvPr id="14" name="Shape 12"/>
          <p:cNvSpPr/>
          <p:nvPr/>
        </p:nvSpPr>
        <p:spPr>
          <a:xfrm>
            <a:off x="8275320" y="2331720"/>
            <a:ext cx="3657600" cy="4114800"/>
          </a:xfrm>
          <a:prstGeom prst="rect">
            <a:avLst/>
          </a:prstGeom>
          <a:solidFill>
            <a:srgbClr val="192119"/>
          </a:solidFill>
          <a:ln w="25400">
            <a:solidFill>
              <a:srgbClr val="F0C060"/>
            </a:solidFill>
            <a:prstDash val="solid"/>
          </a:ln>
          <a:effectLst>
            <a:outerShdw sx="100000" sy="100000" kx="0" ky="0" algn="bl" rotWithShape="0" blurRad="152400" dist="50800" dir="8100000">
              <a:srgbClr val="000000">
                <a:alpha val="50000"/>
              </a:srgbClr>
            </a:outerShdw>
          </a:effectLst>
        </p:spPr>
      </p:sp>
      <p:sp>
        <p:nvSpPr>
          <p:cNvPr id="15" name="Shape 13"/>
          <p:cNvSpPr/>
          <p:nvPr/>
        </p:nvSpPr>
        <p:spPr>
          <a:xfrm>
            <a:off x="8275320" y="2331720"/>
            <a:ext cx="3657600" cy="64008"/>
          </a:xfrm>
          <a:prstGeom prst="rect">
            <a:avLst/>
          </a:prstGeom>
          <a:solidFill>
            <a:srgbClr val="F0C060"/>
          </a:solidFill>
          <a:ln w="12700">
            <a:solidFill>
              <a:srgbClr val="F0C060"/>
            </a:solidFill>
            <a:prstDash val="solid"/>
          </a:ln>
        </p:spPr>
      </p:sp>
      <p:sp>
        <p:nvSpPr>
          <p:cNvPr id="16" name="Text 14"/>
          <p:cNvSpPr/>
          <p:nvPr/>
        </p:nvSpPr>
        <p:spPr>
          <a:xfrm>
            <a:off x="8366760" y="2514600"/>
            <a:ext cx="3474720" cy="1463040"/>
          </a:xfrm>
          <a:prstGeom prst="rect">
            <a:avLst/>
          </a:prstGeom>
          <a:noFill/>
          <a:ln/>
        </p:spPr>
        <p:txBody>
          <a:bodyPr wrap="square" rtlCol="0" anchor="ctr"/>
          <a:lstStyle/>
          <a:p>
            <a:pPr algn="ctr" indent="0" marL="0">
              <a:buNone/>
            </a:pPr>
            <a:r>
              <a:rPr lang="en-US" sz="7200" b="1" dirty="0">
                <a:solidFill>
                  <a:srgbClr val="F0C060"/>
                </a:solidFill>
                <a:latin typeface="Georgia" pitchFamily="34" charset="0"/>
                <a:ea typeface="Georgia" pitchFamily="34" charset="-122"/>
                <a:cs typeface="Georgia" pitchFamily="34" charset="-120"/>
              </a:rPr>
              <a:t>5.3×</a:t>
            </a:r>
            <a:endParaRPr lang="en-US" sz="7200" dirty="0"/>
          </a:p>
        </p:txBody>
      </p:sp>
      <p:sp>
        <p:nvSpPr>
          <p:cNvPr id="17" name="Text 15"/>
          <p:cNvSpPr/>
          <p:nvPr/>
        </p:nvSpPr>
        <p:spPr>
          <a:xfrm>
            <a:off x="8458200" y="4069080"/>
            <a:ext cx="3291840" cy="146304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Improvement in local AI efficiency per watt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from 2023 to 2025 — and accelerating</a:t>
            </a:r>
            <a:endParaRPr lang="en-US" sz="1500" dirty="0"/>
          </a:p>
        </p:txBody>
      </p:sp>
      <p:sp>
        <p:nvSpPr>
          <p:cNvPr id="18" name="Text 16"/>
          <p:cNvSpPr/>
          <p:nvPr/>
        </p:nvSpPr>
        <p:spPr>
          <a:xfrm>
            <a:off x="8458200" y="5669280"/>
            <a:ext cx="3291840" cy="502920"/>
          </a:xfrm>
          <a:prstGeom prst="rect">
            <a:avLst/>
          </a:prstGeom>
          <a:noFill/>
          <a:ln/>
        </p:spPr>
        <p:txBody>
          <a:bodyPr wrap="square" rtlCol="0" anchor="ctr"/>
          <a:lstStyle/>
          <a:p>
            <a:pPr algn="ctr" indent="0" marL="0">
              <a:buNone/>
            </a:pPr>
            <a:r>
              <a:rPr lang="en-US" sz="900" dirty="0">
                <a:solidFill>
                  <a:srgbClr val="2E5234"/>
                </a:solidFill>
                <a:latin typeface="Courier New" pitchFamily="34" charset="0"/>
                <a:ea typeface="Courier New" pitchFamily="34" charset="-122"/>
                <a:cs typeface="Courier New" pitchFamily="34" charset="-120"/>
              </a:rPr>
              <a:t>Stanford / Hazy Research, Nov 2025</a:t>
            </a:r>
            <a:endParaRPr lang="en-US" sz="900" dirty="0"/>
          </a:p>
        </p:txBody>
      </p:sp>
      <p:sp>
        <p:nvSpPr>
          <p:cNvPr id="19" name="Shape 17"/>
          <p:cNvSpPr/>
          <p:nvPr/>
        </p:nvSpPr>
        <p:spPr>
          <a:xfrm>
            <a:off x="502920" y="4754880"/>
            <a:ext cx="1737360" cy="256032"/>
          </a:xfrm>
          <a:prstGeom prst="rect">
            <a:avLst/>
          </a:prstGeom>
          <a:solidFill>
            <a:srgbClr val="192119"/>
          </a:solidFill>
          <a:ln w="6350">
            <a:solidFill>
              <a:srgbClr val="2E5234"/>
            </a:solidFill>
            <a:prstDash val="solid"/>
          </a:ln>
        </p:spPr>
      </p:sp>
      <p:sp>
        <p:nvSpPr>
          <p:cNvPr id="20" name="Text 18"/>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2:49 PM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IMPACT AT SCALE  ·  2:50 PM</a:t>
            </a:r>
            <a:endParaRPr lang="en-US" sz="1000" dirty="0"/>
          </a:p>
        </p:txBody>
      </p:sp>
      <p:sp>
        <p:nvSpPr>
          <p:cNvPr id="3" name="Text 1"/>
          <p:cNvSpPr/>
          <p:nvPr/>
        </p:nvSpPr>
        <p:spPr>
          <a:xfrm>
            <a:off x="502920" y="548640"/>
            <a:ext cx="11155680" cy="182880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What if 100 million</a:t>
            </a:r>
            <a:endParaRPr lang="en-US" sz="5200" dirty="0"/>
          </a:p>
          <a:p>
            <a:pPr algn="ctr" indent="0" marL="0">
              <a:buNone/>
            </a:pPr>
            <a:r>
              <a:rPr lang="en-US" sz="5200" b="1" dirty="0">
                <a:solidFill>
                  <a:srgbClr val="FFFFFF"/>
                </a:solidFill>
                <a:latin typeface="Georgia" pitchFamily="34" charset="0"/>
                <a:ea typeface="Georgia" pitchFamily="34" charset="-122"/>
                <a:cs typeface="Georgia" pitchFamily="34" charset="-120"/>
              </a:rPr>
              <a:t>of us went local?</a:t>
            </a:r>
            <a:endParaRPr lang="en-US" sz="5200" dirty="0"/>
          </a:p>
        </p:txBody>
      </p:sp>
      <p:sp>
        <p:nvSpPr>
          <p:cNvPr id="4" name="Shape 2"/>
          <p:cNvSpPr/>
          <p:nvPr/>
        </p:nvSpPr>
        <p:spPr>
          <a:xfrm>
            <a:off x="502920" y="2606040"/>
            <a:ext cx="5486400" cy="1691640"/>
          </a:xfrm>
          <a:prstGeom prst="rect">
            <a:avLst/>
          </a:prstGeom>
          <a:solidFill>
            <a:srgbClr val="192119"/>
          </a:solidFill>
          <a:ln w="19050">
            <a:solidFill>
              <a:srgbClr val="3DDC84"/>
            </a:solidFill>
            <a:prstDash val="solid"/>
          </a:ln>
          <a:effectLst>
            <a:outerShdw sx="100000" sy="100000" kx="0" ky="0" algn="bl" rotWithShape="0" blurRad="101600" dist="38100" dir="8100000">
              <a:srgbClr val="000000">
                <a:alpha val="35000"/>
              </a:srgbClr>
            </a:outerShdw>
          </a:effectLst>
        </p:spPr>
      </p:sp>
      <p:sp>
        <p:nvSpPr>
          <p:cNvPr id="5" name="Text 3"/>
          <p:cNvSpPr/>
          <p:nvPr/>
        </p:nvSpPr>
        <p:spPr>
          <a:xfrm>
            <a:off x="640080" y="2788920"/>
            <a:ext cx="914400" cy="118872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6" name="Text 4"/>
          <p:cNvSpPr/>
          <p:nvPr/>
        </p:nvSpPr>
        <p:spPr>
          <a:xfrm>
            <a:off x="1600200" y="2743200"/>
            <a:ext cx="4114800" cy="822960"/>
          </a:xfrm>
          <a:prstGeom prst="rect">
            <a:avLst/>
          </a:prstGeom>
          <a:noFill/>
          <a:ln/>
        </p:spPr>
        <p:txBody>
          <a:bodyPr wrap="square" rtlCol="0" anchor="ctr"/>
          <a:lstStyle/>
          <a:p>
            <a:pPr indent="0" marL="0">
              <a:buNone/>
            </a:pPr>
            <a:r>
              <a:rPr lang="en-US" sz="4000" b="1" dirty="0">
                <a:solidFill>
                  <a:srgbClr val="3DDC84"/>
                </a:solidFill>
                <a:latin typeface="Georgia" pitchFamily="34" charset="0"/>
                <a:ea typeface="Georgia" pitchFamily="34" charset="-122"/>
                <a:cs typeface="Georgia" pitchFamily="34" charset="-120"/>
              </a:rPr>
              <a:t>54.75 GWh</a:t>
            </a:r>
            <a:endParaRPr lang="en-US" sz="4000" dirty="0"/>
          </a:p>
        </p:txBody>
      </p:sp>
      <p:sp>
        <p:nvSpPr>
          <p:cNvPr id="7" name="Text 5"/>
          <p:cNvSpPr/>
          <p:nvPr/>
        </p:nvSpPr>
        <p:spPr>
          <a:xfrm>
            <a:off x="1600200" y="3566160"/>
            <a:ext cx="4114800" cy="54864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Energy saved per year</a:t>
            </a:r>
            <a:endParaRPr lang="en-US" sz="1400" dirty="0"/>
          </a:p>
        </p:txBody>
      </p:sp>
      <p:sp>
        <p:nvSpPr>
          <p:cNvPr id="8" name="Shape 6"/>
          <p:cNvSpPr/>
          <p:nvPr/>
        </p:nvSpPr>
        <p:spPr>
          <a:xfrm>
            <a:off x="6355080" y="2606040"/>
            <a:ext cx="5486400" cy="1691640"/>
          </a:xfrm>
          <a:prstGeom prst="rect">
            <a:avLst/>
          </a:prstGeom>
          <a:solidFill>
            <a:srgbClr val="192119"/>
          </a:solidFill>
          <a:ln w="19050">
            <a:solidFill>
              <a:srgbClr val="5DD8C0"/>
            </a:solidFill>
            <a:prstDash val="solid"/>
          </a:ln>
          <a:effectLst>
            <a:outerShdw sx="100000" sy="100000" kx="0" ky="0" algn="bl" rotWithShape="0" blurRad="101600" dist="38100" dir="8100000">
              <a:srgbClr val="000000">
                <a:alpha val="35000"/>
              </a:srgbClr>
            </a:outerShdw>
          </a:effectLst>
        </p:spPr>
      </p:sp>
      <p:sp>
        <p:nvSpPr>
          <p:cNvPr id="9" name="Text 7"/>
          <p:cNvSpPr/>
          <p:nvPr/>
        </p:nvSpPr>
        <p:spPr>
          <a:xfrm>
            <a:off x="6492240" y="2788920"/>
            <a:ext cx="914400" cy="118872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0" name="Text 8"/>
          <p:cNvSpPr/>
          <p:nvPr/>
        </p:nvSpPr>
        <p:spPr>
          <a:xfrm>
            <a:off x="7452360" y="2743200"/>
            <a:ext cx="4114800" cy="822960"/>
          </a:xfrm>
          <a:prstGeom prst="rect">
            <a:avLst/>
          </a:prstGeom>
          <a:noFill/>
          <a:ln/>
        </p:spPr>
        <p:txBody>
          <a:bodyPr wrap="square" rtlCol="0" anchor="ctr"/>
          <a:lstStyle/>
          <a:p>
            <a:pPr indent="0" marL="0">
              <a:buNone/>
            </a:pPr>
            <a:r>
              <a:rPr lang="en-US" sz="4000" b="1" dirty="0">
                <a:solidFill>
                  <a:srgbClr val="5DD8C0"/>
                </a:solidFill>
                <a:latin typeface="Georgia" pitchFamily="34" charset="0"/>
                <a:ea typeface="Georgia" pitchFamily="34" charset="-122"/>
                <a:cs typeface="Georgia" pitchFamily="34" charset="-120"/>
              </a:rPr>
              <a:t>24,600 t</a:t>
            </a:r>
            <a:endParaRPr lang="en-US" sz="4000" dirty="0"/>
          </a:p>
        </p:txBody>
      </p:sp>
      <p:sp>
        <p:nvSpPr>
          <p:cNvPr id="11" name="Text 9"/>
          <p:cNvSpPr/>
          <p:nvPr/>
        </p:nvSpPr>
        <p:spPr>
          <a:xfrm>
            <a:off x="7452360" y="3566160"/>
            <a:ext cx="4114800" cy="54864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CO₂ avoided per year</a:t>
            </a:r>
            <a:endParaRPr lang="en-US" sz="1400" dirty="0"/>
          </a:p>
        </p:txBody>
      </p:sp>
      <p:sp>
        <p:nvSpPr>
          <p:cNvPr id="12" name="Shape 10"/>
          <p:cNvSpPr/>
          <p:nvPr/>
        </p:nvSpPr>
        <p:spPr>
          <a:xfrm>
            <a:off x="502920" y="4480560"/>
            <a:ext cx="5486400" cy="1691640"/>
          </a:xfrm>
          <a:prstGeom prst="rect">
            <a:avLst/>
          </a:prstGeom>
          <a:solidFill>
            <a:srgbClr val="192119"/>
          </a:solidFill>
          <a:ln w="19050">
            <a:solidFill>
              <a:srgbClr val="F0C060"/>
            </a:solidFill>
            <a:prstDash val="solid"/>
          </a:ln>
          <a:effectLst>
            <a:outerShdw sx="100000" sy="100000" kx="0" ky="0" algn="bl" rotWithShape="0" blurRad="101600" dist="38100" dir="8100000">
              <a:srgbClr val="000000">
                <a:alpha val="35000"/>
              </a:srgbClr>
            </a:outerShdw>
          </a:effectLst>
        </p:spPr>
      </p:sp>
      <p:sp>
        <p:nvSpPr>
          <p:cNvPr id="13" name="Text 11"/>
          <p:cNvSpPr/>
          <p:nvPr/>
        </p:nvSpPr>
        <p:spPr>
          <a:xfrm>
            <a:off x="640080" y="4663440"/>
            <a:ext cx="914400" cy="118872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4" name="Text 12"/>
          <p:cNvSpPr/>
          <p:nvPr/>
        </p:nvSpPr>
        <p:spPr>
          <a:xfrm>
            <a:off x="1600200" y="4617720"/>
            <a:ext cx="4114800" cy="822960"/>
          </a:xfrm>
          <a:prstGeom prst="rect">
            <a:avLst/>
          </a:prstGeom>
          <a:noFill/>
          <a:ln/>
        </p:spPr>
        <p:txBody>
          <a:bodyPr wrap="square" rtlCol="0" anchor="ctr"/>
          <a:lstStyle/>
          <a:p>
            <a:pPr indent="0" marL="0">
              <a:buNone/>
            </a:pPr>
            <a:r>
              <a:rPr lang="en-US" sz="4000" b="1" dirty="0">
                <a:solidFill>
                  <a:srgbClr val="F0C060"/>
                </a:solidFill>
                <a:latin typeface="Georgia" pitchFamily="34" charset="0"/>
                <a:ea typeface="Georgia" pitchFamily="34" charset="-122"/>
                <a:cs typeface="Georgia" pitchFamily="34" charset="-120"/>
              </a:rPr>
              <a:t>27B litres</a:t>
            </a:r>
            <a:endParaRPr lang="en-US" sz="4000" dirty="0"/>
          </a:p>
        </p:txBody>
      </p:sp>
      <p:sp>
        <p:nvSpPr>
          <p:cNvPr id="15" name="Text 13"/>
          <p:cNvSpPr/>
          <p:nvPr/>
        </p:nvSpPr>
        <p:spPr>
          <a:xfrm>
            <a:off x="1600200" y="5440680"/>
            <a:ext cx="4114800" cy="54864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Water conserved per year</a:t>
            </a:r>
            <a:endParaRPr lang="en-US" sz="1400" dirty="0"/>
          </a:p>
        </p:txBody>
      </p:sp>
      <p:sp>
        <p:nvSpPr>
          <p:cNvPr id="16" name="Shape 14"/>
          <p:cNvSpPr/>
          <p:nvPr/>
        </p:nvSpPr>
        <p:spPr>
          <a:xfrm>
            <a:off x="6355080" y="4480560"/>
            <a:ext cx="5486400" cy="1691640"/>
          </a:xfrm>
          <a:prstGeom prst="rect">
            <a:avLst/>
          </a:prstGeom>
          <a:solidFill>
            <a:srgbClr val="192119"/>
          </a:solidFill>
          <a:ln w="19050">
            <a:solidFill>
              <a:srgbClr val="E05C5C"/>
            </a:solidFill>
            <a:prstDash val="solid"/>
          </a:ln>
          <a:effectLst>
            <a:outerShdw sx="100000" sy="100000" kx="0" ky="0" algn="bl" rotWithShape="0" blurRad="101600" dist="38100" dir="8100000">
              <a:srgbClr val="000000">
                <a:alpha val="35000"/>
              </a:srgbClr>
            </a:outerShdw>
          </a:effectLst>
        </p:spPr>
      </p:sp>
      <p:sp>
        <p:nvSpPr>
          <p:cNvPr id="17" name="Text 15"/>
          <p:cNvSpPr/>
          <p:nvPr/>
        </p:nvSpPr>
        <p:spPr>
          <a:xfrm>
            <a:off x="6492240" y="4663440"/>
            <a:ext cx="914400" cy="118872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8" name="Text 16"/>
          <p:cNvSpPr/>
          <p:nvPr/>
        </p:nvSpPr>
        <p:spPr>
          <a:xfrm>
            <a:off x="7452360" y="4617720"/>
            <a:ext cx="4114800" cy="822960"/>
          </a:xfrm>
          <a:prstGeom prst="rect">
            <a:avLst/>
          </a:prstGeom>
          <a:noFill/>
          <a:ln/>
        </p:spPr>
        <p:txBody>
          <a:bodyPr wrap="square" rtlCol="0" anchor="ctr"/>
          <a:lstStyle/>
          <a:p>
            <a:pPr indent="0" marL="0">
              <a:buNone/>
            </a:pPr>
            <a:r>
              <a:rPr lang="en-US" sz="4000" b="1" dirty="0">
                <a:solidFill>
                  <a:srgbClr val="E05C5C"/>
                </a:solidFill>
                <a:latin typeface="Georgia" pitchFamily="34" charset="0"/>
                <a:ea typeface="Georgia" pitchFamily="34" charset="-122"/>
                <a:cs typeface="Georgia" pitchFamily="34" charset="-120"/>
              </a:rPr>
              <a:t>547B</a:t>
            </a:r>
            <a:endParaRPr lang="en-US" sz="4000" dirty="0"/>
          </a:p>
        </p:txBody>
      </p:sp>
      <p:sp>
        <p:nvSpPr>
          <p:cNvPr id="19" name="Text 17"/>
          <p:cNvSpPr/>
          <p:nvPr/>
        </p:nvSpPr>
        <p:spPr>
          <a:xfrm>
            <a:off x="7452360" y="5440680"/>
            <a:ext cx="4114800" cy="54864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Queries shifted off cloud infrastructure</a:t>
            </a:r>
            <a:endParaRPr lang="en-US" sz="1400" dirty="0"/>
          </a:p>
        </p:txBody>
      </p:sp>
      <p:sp>
        <p:nvSpPr>
          <p:cNvPr id="20" name="Text 18"/>
          <p:cNvSpPr/>
          <p:nvPr/>
        </p:nvSpPr>
        <p:spPr>
          <a:xfrm>
            <a:off x="502920" y="6400800"/>
            <a:ext cx="11155680" cy="320040"/>
          </a:xfrm>
          <a:prstGeom prst="rect">
            <a:avLst/>
          </a:prstGeom>
          <a:noFill/>
          <a:ln/>
        </p:spPr>
        <p:txBody>
          <a:bodyPr wrap="square" rtlCol="0" anchor="ctr"/>
          <a:lstStyle/>
          <a:p>
            <a:pPr algn="ctr" indent="0" marL="0">
              <a:buNone/>
            </a:pPr>
            <a:r>
              <a:rPr lang="en-US" sz="900" dirty="0">
                <a:solidFill>
                  <a:srgbClr val="2E5234"/>
                </a:solidFill>
                <a:latin typeface="Courier New" pitchFamily="34" charset="0"/>
                <a:ea typeface="Courier New" pitchFamily="34" charset="-122"/>
                <a:cs typeface="Courier New" pitchFamily="34" charset="-120"/>
              </a:rPr>
              <a:t>100M users · 20 queries/day · 75% shifted local  ·  This is a climate intervention.</a:t>
            </a:r>
            <a:endParaRPr lang="en-US" sz="900" dirty="0"/>
          </a:p>
        </p:txBody>
      </p:sp>
      <p:sp>
        <p:nvSpPr>
          <p:cNvPr id="21" name="Text 19"/>
          <p:cNvSpPr/>
          <p:nvPr/>
        </p:nvSpPr>
        <p:spPr>
          <a:xfrm>
            <a:off x="502920" y="6675120"/>
            <a:ext cx="8229600" cy="182880"/>
          </a:xfrm>
          <a:prstGeom prst="rect">
            <a:avLst/>
          </a:prstGeom>
          <a:noFill/>
          <a:ln/>
        </p:spPr>
        <p:txBody>
          <a:bodyPr wrap="square" rtlCol="0" anchor="ctr"/>
          <a:lstStyle/>
          <a:p>
            <a:pPr indent="0" marL="0">
              <a:buNone/>
            </a:pPr>
            <a:r>
              <a:rPr lang="en-US" sz="800" i="1" dirty="0">
                <a:solidFill>
                  <a:srgbClr val="2E5234"/>
                </a:solidFill>
                <a:latin typeface="Courier New" pitchFamily="34" charset="0"/>
                <a:ea typeface="Courier New" pitchFamily="34" charset="-122"/>
                <a:cs typeface="Courier New" pitchFamily="34" charset="-120"/>
              </a:rPr>
              <a:t>Methodology: IEA 2025 · Berkeley Lab 2024 · ArXiv Hybrid Edge-Cloud 2025 · globallocal.ai/calculator</a:t>
            </a:r>
            <a:endParaRPr lang="en-US" sz="800" dirty="0"/>
          </a:p>
        </p:txBody>
      </p:sp>
      <p:sp>
        <p:nvSpPr>
          <p:cNvPr id="22" name="Shape 20"/>
          <p:cNvSpPr/>
          <p:nvPr/>
        </p:nvSpPr>
        <p:spPr>
          <a:xfrm>
            <a:off x="9829800" y="4754880"/>
            <a:ext cx="1737360" cy="256032"/>
          </a:xfrm>
          <a:prstGeom prst="rect">
            <a:avLst/>
          </a:prstGeom>
          <a:solidFill>
            <a:srgbClr val="192119"/>
          </a:solidFill>
          <a:ln w="6350">
            <a:solidFill>
              <a:srgbClr val="2E5234"/>
            </a:solidFill>
            <a:prstDash val="solid"/>
          </a:ln>
        </p:spPr>
      </p:sp>
      <p:sp>
        <p:nvSpPr>
          <p:cNvPr id="23" name="Text 21"/>
          <p:cNvSpPr/>
          <p:nvPr/>
        </p:nvSpPr>
        <p:spPr>
          <a:xfrm>
            <a:off x="984808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2:50 PM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POLICY  ·  2:51 PM</a:t>
            </a:r>
            <a:endParaRPr lang="en-US" sz="1000" dirty="0"/>
          </a:p>
        </p:txBody>
      </p:sp>
      <p:sp>
        <p:nvSpPr>
          <p:cNvPr id="3" name="Text 1"/>
          <p:cNvSpPr/>
          <p:nvPr/>
        </p:nvSpPr>
        <p:spPr>
          <a:xfrm>
            <a:off x="502920" y="594360"/>
            <a:ext cx="6400800" cy="201168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The regulatory</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wave is coming.</a:t>
            </a:r>
            <a:endParaRPr lang="en-US" sz="5200" dirty="0"/>
          </a:p>
        </p:txBody>
      </p:sp>
      <p:sp>
        <p:nvSpPr>
          <p:cNvPr id="4" name="Text 2"/>
          <p:cNvSpPr/>
          <p:nvPr/>
        </p:nvSpPr>
        <p:spPr>
          <a:xfrm>
            <a:off x="502920" y="2651760"/>
            <a:ext cx="6400800" cy="914400"/>
          </a:xfrm>
          <a:prstGeom prst="rect">
            <a:avLst/>
          </a:prstGeom>
          <a:noFill/>
          <a:ln/>
        </p:spPr>
        <p:txBody>
          <a:bodyPr wrap="square" rtlCol="0" anchor="ctr"/>
          <a:lstStyle/>
          <a:p>
            <a:pPr indent="0" marL="0">
              <a:buNone/>
            </a:pPr>
            <a:r>
              <a:rPr lang="en-US" sz="2000" i="1" dirty="0">
                <a:solidFill>
                  <a:srgbClr val="3DDC84"/>
                </a:solidFill>
                <a:latin typeface="Calibri" pitchFamily="34" charset="0"/>
                <a:ea typeface="Calibri" pitchFamily="34" charset="-122"/>
                <a:cs typeface="Calibri" pitchFamily="34" charset="-120"/>
              </a:rPr>
              <a:t>Local AI is compliant by design.</a:t>
            </a:r>
            <a:endParaRPr lang="en-US" sz="2000" dirty="0"/>
          </a:p>
          <a:p>
            <a:pPr indent="0" marL="0">
              <a:buNone/>
            </a:pPr>
            <a:r>
              <a:rPr lang="en-US" sz="2000" i="1" dirty="0">
                <a:solidFill>
                  <a:srgbClr val="3DDC84"/>
                </a:solidFill>
                <a:latin typeface="Calibri" pitchFamily="34" charset="0"/>
                <a:ea typeface="Calibri" pitchFamily="34" charset="-122"/>
                <a:cs typeface="Calibri" pitchFamily="34" charset="-120"/>
              </a:rPr>
              <a:t>There is no data to mishandle.</a:t>
            </a:r>
            <a:endParaRPr lang="en-US" sz="2000" dirty="0"/>
          </a:p>
        </p:txBody>
      </p:sp>
      <p:sp>
        <p:nvSpPr>
          <p:cNvPr id="5" name="Shape 3"/>
          <p:cNvSpPr/>
          <p:nvPr/>
        </p:nvSpPr>
        <p:spPr>
          <a:xfrm>
            <a:off x="6766560" y="594360"/>
            <a:ext cx="5029200" cy="1737360"/>
          </a:xfrm>
          <a:prstGeom prst="rect">
            <a:avLst/>
          </a:prstGeom>
          <a:solidFill>
            <a:srgbClr val="192119"/>
          </a:solidFill>
          <a:ln w="19050">
            <a:solidFill>
              <a:srgbClr val="5DD8C0"/>
            </a:solidFill>
            <a:prstDash val="solid"/>
          </a:ln>
        </p:spPr>
      </p:sp>
      <p:sp>
        <p:nvSpPr>
          <p:cNvPr id="6" name="Shape 4"/>
          <p:cNvSpPr/>
          <p:nvPr/>
        </p:nvSpPr>
        <p:spPr>
          <a:xfrm>
            <a:off x="6766560" y="594360"/>
            <a:ext cx="73152" cy="1737360"/>
          </a:xfrm>
          <a:prstGeom prst="rect">
            <a:avLst/>
          </a:prstGeom>
          <a:solidFill>
            <a:srgbClr val="5DD8C0"/>
          </a:solidFill>
          <a:ln w="12700">
            <a:solidFill>
              <a:srgbClr val="5DD8C0"/>
            </a:solidFill>
            <a:prstDash val="solid"/>
          </a:ln>
        </p:spPr>
      </p:sp>
      <p:sp>
        <p:nvSpPr>
          <p:cNvPr id="7" name="Text 5"/>
          <p:cNvSpPr/>
          <p:nvPr/>
        </p:nvSpPr>
        <p:spPr>
          <a:xfrm>
            <a:off x="6995160" y="731520"/>
            <a:ext cx="457200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EU AI Act</a:t>
            </a:r>
            <a:endParaRPr lang="en-US" sz="2000" dirty="0"/>
          </a:p>
        </p:txBody>
      </p:sp>
      <p:sp>
        <p:nvSpPr>
          <p:cNvPr id="8" name="Text 6"/>
          <p:cNvSpPr/>
          <p:nvPr/>
        </p:nvSpPr>
        <p:spPr>
          <a:xfrm>
            <a:off x="6995160" y="1161288"/>
            <a:ext cx="4572000" cy="320040"/>
          </a:xfrm>
          <a:prstGeom prst="rect">
            <a:avLst/>
          </a:prstGeom>
          <a:noFill/>
          <a:ln/>
        </p:spPr>
        <p:txBody>
          <a:bodyPr wrap="square" rtlCol="0" anchor="ctr"/>
          <a:lstStyle/>
          <a:p>
            <a:pPr indent="0" marL="0">
              <a:buNone/>
            </a:pPr>
            <a:r>
              <a:rPr lang="en-US" sz="1100" spc="200" kern="0" dirty="0">
                <a:solidFill>
                  <a:srgbClr val="5DD8C0"/>
                </a:solidFill>
                <a:latin typeface="Courier New" pitchFamily="34" charset="0"/>
                <a:ea typeface="Courier New" pitchFamily="34" charset="-122"/>
                <a:cs typeface="Courier New" pitchFamily="34" charset="-120"/>
              </a:rPr>
              <a:t>Aug 2, 2026</a:t>
            </a:r>
            <a:endParaRPr lang="en-US" sz="1100" dirty="0"/>
          </a:p>
        </p:txBody>
      </p:sp>
      <p:sp>
        <p:nvSpPr>
          <p:cNvPr id="9" name="Text 7"/>
          <p:cNvSpPr/>
          <p:nvPr/>
        </p:nvSpPr>
        <p:spPr>
          <a:xfrm>
            <a:off x="6995160" y="1508760"/>
            <a:ext cx="4572000" cy="6400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Risk-based obligations for high-impact AI systems fully applicable</a:t>
            </a:r>
            <a:endParaRPr lang="en-US" sz="1300" dirty="0"/>
          </a:p>
        </p:txBody>
      </p:sp>
      <p:sp>
        <p:nvSpPr>
          <p:cNvPr id="10" name="Shape 8"/>
          <p:cNvSpPr/>
          <p:nvPr/>
        </p:nvSpPr>
        <p:spPr>
          <a:xfrm>
            <a:off x="6766560" y="2606040"/>
            <a:ext cx="5029200" cy="1737360"/>
          </a:xfrm>
          <a:prstGeom prst="rect">
            <a:avLst/>
          </a:prstGeom>
          <a:solidFill>
            <a:srgbClr val="192119"/>
          </a:solidFill>
          <a:ln w="19050">
            <a:solidFill>
              <a:srgbClr val="F0C060"/>
            </a:solidFill>
            <a:prstDash val="solid"/>
          </a:ln>
        </p:spPr>
      </p:sp>
      <p:sp>
        <p:nvSpPr>
          <p:cNvPr id="11" name="Shape 9"/>
          <p:cNvSpPr/>
          <p:nvPr/>
        </p:nvSpPr>
        <p:spPr>
          <a:xfrm>
            <a:off x="6766560" y="2606040"/>
            <a:ext cx="73152" cy="1737360"/>
          </a:xfrm>
          <a:prstGeom prst="rect">
            <a:avLst/>
          </a:prstGeom>
          <a:solidFill>
            <a:srgbClr val="F0C060"/>
          </a:solidFill>
          <a:ln w="12700">
            <a:solidFill>
              <a:srgbClr val="F0C060"/>
            </a:solidFill>
            <a:prstDash val="solid"/>
          </a:ln>
        </p:spPr>
      </p:sp>
      <p:sp>
        <p:nvSpPr>
          <p:cNvPr id="12" name="Text 10"/>
          <p:cNvSpPr/>
          <p:nvPr/>
        </p:nvSpPr>
        <p:spPr>
          <a:xfrm>
            <a:off x="6995160" y="2743200"/>
            <a:ext cx="457200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GDPR 2025</a:t>
            </a:r>
            <a:endParaRPr lang="en-US" sz="2000" dirty="0"/>
          </a:p>
        </p:txBody>
      </p:sp>
      <p:sp>
        <p:nvSpPr>
          <p:cNvPr id="13" name="Text 11"/>
          <p:cNvSpPr/>
          <p:nvPr/>
        </p:nvSpPr>
        <p:spPr>
          <a:xfrm>
            <a:off x="6995160" y="3172968"/>
            <a:ext cx="4572000" cy="320040"/>
          </a:xfrm>
          <a:prstGeom prst="rect">
            <a:avLst/>
          </a:prstGeom>
          <a:noFill/>
          <a:ln/>
        </p:spPr>
        <p:txBody>
          <a:bodyPr wrap="square" rtlCol="0" anchor="ctr"/>
          <a:lstStyle/>
          <a:p>
            <a:pPr indent="0" marL="0">
              <a:buNone/>
            </a:pPr>
            <a:r>
              <a:rPr lang="en-US" sz="1100" spc="200" kern="0" dirty="0">
                <a:solidFill>
                  <a:srgbClr val="F0C060"/>
                </a:solidFill>
                <a:latin typeface="Courier New" pitchFamily="34" charset="0"/>
                <a:ea typeface="Courier New" pitchFamily="34" charset="-122"/>
                <a:cs typeface="Courier New" pitchFamily="34" charset="-120"/>
              </a:rPr>
              <a:t>€2.3B fines</a:t>
            </a:r>
            <a:endParaRPr lang="en-US" sz="1100" dirty="0"/>
          </a:p>
        </p:txBody>
      </p:sp>
      <p:sp>
        <p:nvSpPr>
          <p:cNvPr id="14" name="Text 12"/>
          <p:cNvSpPr/>
          <p:nvPr/>
        </p:nvSpPr>
        <p:spPr>
          <a:xfrm>
            <a:off x="6995160" y="3520440"/>
            <a:ext cx="4572000" cy="6400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38% year-on-year increase in enforcement. 2,245 fines totalling €5.65B since 2018</a:t>
            </a:r>
            <a:endParaRPr lang="en-US" sz="1300" dirty="0"/>
          </a:p>
        </p:txBody>
      </p:sp>
      <p:sp>
        <p:nvSpPr>
          <p:cNvPr id="15" name="Shape 13"/>
          <p:cNvSpPr/>
          <p:nvPr/>
        </p:nvSpPr>
        <p:spPr>
          <a:xfrm>
            <a:off x="6766560" y="4617720"/>
            <a:ext cx="5029200" cy="1737360"/>
          </a:xfrm>
          <a:prstGeom prst="rect">
            <a:avLst/>
          </a:prstGeom>
          <a:solidFill>
            <a:srgbClr val="192119"/>
          </a:solidFill>
          <a:ln w="19050">
            <a:solidFill>
              <a:srgbClr val="3DDC84"/>
            </a:solidFill>
            <a:prstDash val="solid"/>
          </a:ln>
        </p:spPr>
      </p:sp>
      <p:sp>
        <p:nvSpPr>
          <p:cNvPr id="16" name="Shape 14"/>
          <p:cNvSpPr/>
          <p:nvPr/>
        </p:nvSpPr>
        <p:spPr>
          <a:xfrm>
            <a:off x="6766560" y="4617720"/>
            <a:ext cx="73152" cy="1737360"/>
          </a:xfrm>
          <a:prstGeom prst="rect">
            <a:avLst/>
          </a:prstGeom>
          <a:solidFill>
            <a:srgbClr val="3DDC84"/>
          </a:solidFill>
          <a:ln w="12700">
            <a:solidFill>
              <a:srgbClr val="3DDC84"/>
            </a:solidFill>
            <a:prstDash val="solid"/>
          </a:ln>
        </p:spPr>
      </p:sp>
      <p:sp>
        <p:nvSpPr>
          <p:cNvPr id="17" name="Text 15"/>
          <p:cNvSpPr/>
          <p:nvPr/>
        </p:nvSpPr>
        <p:spPr>
          <a:xfrm>
            <a:off x="6995160" y="4754880"/>
            <a:ext cx="457200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EU Data Act</a:t>
            </a:r>
            <a:endParaRPr lang="en-US" sz="2000" dirty="0"/>
          </a:p>
        </p:txBody>
      </p:sp>
      <p:sp>
        <p:nvSpPr>
          <p:cNvPr id="18" name="Text 16"/>
          <p:cNvSpPr/>
          <p:nvPr/>
        </p:nvSpPr>
        <p:spPr>
          <a:xfrm>
            <a:off x="6995160" y="5184648"/>
            <a:ext cx="4572000" cy="320040"/>
          </a:xfrm>
          <a:prstGeom prst="rect">
            <a:avLst/>
          </a:prstGeom>
          <a:noFill/>
          <a:ln/>
        </p:spPr>
        <p:txBody>
          <a:bodyPr wrap="square" rtlCol="0" anchor="ctr"/>
          <a:lstStyle/>
          <a:p>
            <a:pPr indent="0" marL="0">
              <a:buNone/>
            </a:pPr>
            <a:r>
              <a:rPr lang="en-US" sz="1100" spc="200" kern="0" dirty="0">
                <a:solidFill>
                  <a:srgbClr val="3DDC84"/>
                </a:solidFill>
                <a:latin typeface="Courier New" pitchFamily="34" charset="0"/>
                <a:ea typeface="Courier New" pitchFamily="34" charset="-122"/>
                <a:cs typeface="Courier New" pitchFamily="34" charset="-120"/>
              </a:rPr>
              <a:t>Sept 2025</a:t>
            </a:r>
            <a:endParaRPr lang="en-US" sz="1100" dirty="0"/>
          </a:p>
        </p:txBody>
      </p:sp>
      <p:sp>
        <p:nvSpPr>
          <p:cNvPr id="19" name="Text 17"/>
          <p:cNvSpPr/>
          <p:nvPr/>
        </p:nvSpPr>
        <p:spPr>
          <a:xfrm>
            <a:off x="6995160" y="5532120"/>
            <a:ext cx="4572000" cy="6400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Prohibits vendor lock-in. Extends data sovereignty to industrial &amp; non-personal data</a:t>
            </a:r>
            <a:endParaRPr lang="en-US" sz="1300" dirty="0"/>
          </a:p>
        </p:txBody>
      </p:sp>
      <p:sp>
        <p:nvSpPr>
          <p:cNvPr id="20" name="Text 18"/>
          <p:cNvSpPr/>
          <p:nvPr/>
        </p:nvSpPr>
        <p:spPr>
          <a:xfrm>
            <a:off x="502920" y="6537960"/>
            <a:ext cx="8229600" cy="182880"/>
          </a:xfrm>
          <a:prstGeom prst="rect">
            <a:avLst/>
          </a:prstGeom>
          <a:noFill/>
          <a:ln/>
        </p:spPr>
        <p:txBody>
          <a:bodyPr wrap="square" rtlCol="0" anchor="ctr"/>
          <a:lstStyle/>
          <a:p>
            <a:pPr indent="0" marL="0">
              <a:buNone/>
            </a:pPr>
            <a:r>
              <a:rPr lang="en-US" sz="800" i="1" dirty="0">
                <a:solidFill>
                  <a:srgbClr val="2E5234"/>
                </a:solidFill>
                <a:latin typeface="Courier New" pitchFamily="34" charset="0"/>
                <a:ea typeface="Courier New" pitchFamily="34" charset="-122"/>
                <a:cs typeface="Courier New" pitchFamily="34" charset="-120"/>
              </a:rPr>
              <a:t>Source: Secure Privacy 2025 · EU Commission</a:t>
            </a:r>
            <a:endParaRPr lang="en-US" sz="800" dirty="0"/>
          </a:p>
        </p:txBody>
      </p:sp>
      <p:sp>
        <p:nvSpPr>
          <p:cNvPr id="21" name="Shape 19"/>
          <p:cNvSpPr/>
          <p:nvPr/>
        </p:nvSpPr>
        <p:spPr>
          <a:xfrm>
            <a:off x="502920" y="4754880"/>
            <a:ext cx="1737360" cy="256032"/>
          </a:xfrm>
          <a:prstGeom prst="rect">
            <a:avLst/>
          </a:prstGeom>
          <a:solidFill>
            <a:srgbClr val="192119"/>
          </a:solidFill>
          <a:ln w="6350">
            <a:solidFill>
              <a:srgbClr val="2E5234"/>
            </a:solidFill>
            <a:prstDash val="solid"/>
          </a:ln>
        </p:spPr>
      </p:sp>
      <p:sp>
        <p:nvSpPr>
          <p:cNvPr id="22" name="Text 20"/>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2:51 PM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1371600"/>
            <a:ext cx="11155680" cy="457200"/>
          </a:xfrm>
          <a:prstGeom prst="rect">
            <a:avLst/>
          </a:prstGeom>
          <a:noFill/>
          <a:ln/>
        </p:spPr>
        <p:txBody>
          <a:bodyPr wrap="square" rtlCol="0" anchor="ctr"/>
          <a:lstStyle/>
          <a:p>
            <a:pPr algn="ctr" indent="0" marL="0">
              <a:buNone/>
            </a:pPr>
            <a:r>
              <a:rPr lang="en-US" sz="1400" b="1" spc="800" kern="0" dirty="0">
                <a:solidFill>
                  <a:srgbClr val="3DDC84"/>
                </a:solidFill>
                <a:latin typeface="Courier New" pitchFamily="34" charset="0"/>
                <a:ea typeface="Courier New" pitchFamily="34" charset="-122"/>
                <a:cs typeface="Courier New" pitchFamily="34" charset="-120"/>
              </a:rPr>
              <a:t>PART 3</a:t>
            </a:r>
            <a:endParaRPr lang="en-US" sz="1400" dirty="0"/>
          </a:p>
        </p:txBody>
      </p:sp>
      <p:sp>
        <p:nvSpPr>
          <p:cNvPr id="3" name="Text 1"/>
          <p:cNvSpPr/>
          <p:nvPr/>
        </p:nvSpPr>
        <p:spPr>
          <a:xfrm>
            <a:off x="502920" y="1920240"/>
            <a:ext cx="11155680" cy="2743200"/>
          </a:xfrm>
          <a:prstGeom prst="rect">
            <a:avLst/>
          </a:prstGeom>
          <a:noFill/>
          <a:ln/>
          <a:effectLst>
            <a:outerShdw sx="100000" sy="100000" kx="0" ky="0" algn="bl" rotWithShape="0" blurRad="101600" dist="38100" dir="8100000">
              <a:srgbClr val="000000">
                <a:alpha val="35000"/>
              </a:srgbClr>
            </a:outerShdw>
          </a:effectLst>
        </p:spPr>
        <p:txBody>
          <a:bodyPr wrap="square" rtlCol="0" anchor="ctr"/>
          <a:lstStyle/>
          <a:p>
            <a:pPr algn="ctr" indent="0" marL="0">
              <a:buNone/>
            </a:pPr>
            <a:r>
              <a:rPr lang="en-US" sz="8800" b="1" dirty="0">
                <a:solidFill>
                  <a:srgbClr val="FFFFFF"/>
                </a:solidFill>
                <a:latin typeface="Georgia" pitchFamily="34" charset="0"/>
                <a:ea typeface="Georgia" pitchFamily="34" charset="-122"/>
                <a:cs typeface="Georgia" pitchFamily="34" charset="-120"/>
              </a:rPr>
              <a:t>Now let me</a:t>
            </a:r>
            <a:endParaRPr lang="en-US" sz="8800" dirty="0"/>
          </a:p>
          <a:p>
            <a:pPr algn="ctr" indent="0" marL="0">
              <a:buNone/>
            </a:pPr>
            <a:r>
              <a:rPr lang="en-US" sz="8800" b="1" dirty="0">
                <a:solidFill>
                  <a:srgbClr val="FFFFFF"/>
                </a:solidFill>
                <a:latin typeface="Georgia" pitchFamily="34" charset="0"/>
                <a:ea typeface="Georgia" pitchFamily="34" charset="-122"/>
                <a:cs typeface="Georgia" pitchFamily="34" charset="-120"/>
              </a:rPr>
              <a:t>show you.</a:t>
            </a:r>
            <a:endParaRPr lang="en-US" sz="8800" dirty="0"/>
          </a:p>
        </p:txBody>
      </p:sp>
      <p:sp>
        <p:nvSpPr>
          <p:cNvPr id="4" name="Text 2"/>
          <p:cNvSpPr/>
          <p:nvPr/>
        </p:nvSpPr>
        <p:spPr>
          <a:xfrm>
            <a:off x="502920" y="4800600"/>
            <a:ext cx="11155680" cy="457200"/>
          </a:xfrm>
          <a:prstGeom prst="rect">
            <a:avLst/>
          </a:prstGeom>
          <a:noFill/>
          <a:ln/>
        </p:spPr>
        <p:txBody>
          <a:bodyPr wrap="square" rtlCol="0" anchor="ctr"/>
          <a:lstStyle/>
          <a:p>
            <a:pPr algn="ctr" indent="0" marL="0">
              <a:buNone/>
            </a:pPr>
            <a:r>
              <a:rPr lang="en-US" sz="2000" i="1" dirty="0">
                <a:solidFill>
                  <a:srgbClr val="7A9E80"/>
                </a:solidFill>
                <a:latin typeface="Calibri" pitchFamily="34" charset="0"/>
                <a:ea typeface="Calibri" pitchFamily="34" charset="-122"/>
                <a:cs typeface="Calibri" pitchFamily="34" charset="-120"/>
              </a:rPr>
              <a:t>Everything you've heard — live, on this machine, right now.</a:t>
            </a:r>
            <a:endParaRPr lang="en-US" sz="2000" dirty="0"/>
          </a:p>
        </p:txBody>
      </p:sp>
      <p:sp>
        <p:nvSpPr>
          <p:cNvPr id="5" name="Shape 3"/>
          <p:cNvSpPr/>
          <p:nvPr/>
        </p:nvSpPr>
        <p:spPr>
          <a:xfrm>
            <a:off x="4251960" y="5532120"/>
            <a:ext cx="3657600" cy="548640"/>
          </a:xfrm>
          <a:prstGeom prst="rect">
            <a:avLst/>
          </a:prstGeom>
          <a:solidFill>
            <a:srgbClr val="3DDC84"/>
          </a:solidFill>
          <a:ln w="12700">
            <a:solidFill>
              <a:srgbClr val="3DDC84"/>
            </a:solidFill>
            <a:prstDash val="solid"/>
          </a:ln>
        </p:spPr>
      </p:sp>
      <p:sp>
        <p:nvSpPr>
          <p:cNvPr id="6" name="Text 4"/>
          <p:cNvSpPr/>
          <p:nvPr/>
        </p:nvSpPr>
        <p:spPr>
          <a:xfrm>
            <a:off x="4251960" y="5532120"/>
            <a:ext cx="3657600" cy="548640"/>
          </a:xfrm>
          <a:prstGeom prst="rect">
            <a:avLst/>
          </a:prstGeom>
          <a:noFill/>
          <a:ln/>
        </p:spPr>
        <p:txBody>
          <a:bodyPr wrap="square" rtlCol="0" anchor="ctr"/>
          <a:lstStyle/>
          <a:p>
            <a:pPr algn="ctr" indent="0" marL="0">
              <a:buNone/>
            </a:pPr>
            <a:r>
              <a:rPr lang="en-US" sz="1300" b="1" dirty="0">
                <a:solidFill>
                  <a:srgbClr val="060A07"/>
                </a:solidFill>
                <a:latin typeface="Courier New" pitchFamily="34" charset="0"/>
                <a:ea typeface="Courier New" pitchFamily="34" charset="-122"/>
                <a:cs typeface="Courier New" pitchFamily="34" charset="-120"/>
              </a:rPr>
              <a:t>⬤  LIVE  ·  LOCAL  ·  OFFLINE</a:t>
            </a:r>
            <a:endParaRPr lang="en-US" sz="1300" dirty="0"/>
          </a:p>
        </p:txBody>
      </p:sp>
      <p:sp>
        <p:nvSpPr>
          <p:cNvPr id="7" name="Shape 5"/>
          <p:cNvSpPr/>
          <p:nvPr/>
        </p:nvSpPr>
        <p:spPr>
          <a:xfrm>
            <a:off x="502920" y="4754880"/>
            <a:ext cx="1737360" cy="256032"/>
          </a:xfrm>
          <a:prstGeom prst="rect">
            <a:avLst/>
          </a:prstGeom>
          <a:solidFill>
            <a:srgbClr val="192119"/>
          </a:solidFill>
          <a:ln w="6350">
            <a:solidFill>
              <a:srgbClr val="2E5234"/>
            </a:solidFill>
            <a:prstDash val="solid"/>
          </a:ln>
        </p:spPr>
      </p:sp>
      <p:sp>
        <p:nvSpPr>
          <p:cNvPr id="8" name="Text 6"/>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2:50 PM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LM STUDIO  ·  2:51 PM</a:t>
            </a:r>
            <a:endParaRPr lang="en-US" sz="1000" dirty="0"/>
          </a:p>
        </p:txBody>
      </p:sp>
      <p:sp>
        <p:nvSpPr>
          <p:cNvPr id="3" name="Text 1"/>
          <p:cNvSpPr/>
          <p:nvPr/>
        </p:nvSpPr>
        <p:spPr>
          <a:xfrm>
            <a:off x="502920" y="594360"/>
            <a:ext cx="5943600" cy="91440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LM Studio</a:t>
            </a:r>
            <a:endParaRPr lang="en-US" sz="5200" dirty="0"/>
          </a:p>
        </p:txBody>
      </p:sp>
      <p:sp>
        <p:nvSpPr>
          <p:cNvPr id="4" name="Text 2"/>
          <p:cNvSpPr/>
          <p:nvPr/>
        </p:nvSpPr>
        <p:spPr>
          <a:xfrm>
            <a:off x="502920" y="1554480"/>
            <a:ext cx="5943600" cy="457200"/>
          </a:xfrm>
          <a:prstGeom prst="rect">
            <a:avLst/>
          </a:prstGeom>
          <a:noFill/>
          <a:ln/>
        </p:spPr>
        <p:txBody>
          <a:bodyPr wrap="square" rtlCol="0" anchor="ctr"/>
          <a:lstStyle/>
          <a:p>
            <a:pPr indent="0" marL="0">
              <a:buNone/>
            </a:pPr>
            <a:r>
              <a:rPr lang="en-US" sz="2000" i="1" dirty="0">
                <a:solidFill>
                  <a:srgbClr val="7A9E80"/>
                </a:solidFill>
                <a:latin typeface="Calibri" pitchFamily="34" charset="0"/>
                <a:ea typeface="Calibri" pitchFamily="34" charset="-122"/>
                <a:cs typeface="Calibri" pitchFamily="34" charset="-120"/>
              </a:rPr>
              <a:t>Free. Open source. Runs on your hardware.</a:t>
            </a:r>
            <a:endParaRPr lang="en-US" sz="2000" dirty="0"/>
          </a:p>
        </p:txBody>
      </p:sp>
      <p:sp>
        <p:nvSpPr>
          <p:cNvPr id="5" name="Shape 3"/>
          <p:cNvSpPr/>
          <p:nvPr/>
        </p:nvSpPr>
        <p:spPr>
          <a:xfrm>
            <a:off x="502920" y="2240280"/>
            <a:ext cx="5486400" cy="1965960"/>
          </a:xfrm>
          <a:prstGeom prst="rect">
            <a:avLst/>
          </a:prstGeom>
          <a:solidFill>
            <a:srgbClr val="192119"/>
          </a:solidFill>
          <a:ln w="12700">
            <a:solidFill>
              <a:srgbClr val="223026"/>
            </a:solidFill>
            <a:prstDash val="solid"/>
          </a:ln>
        </p:spPr>
      </p:sp>
      <p:sp>
        <p:nvSpPr>
          <p:cNvPr id="6" name="Text 4"/>
          <p:cNvSpPr/>
          <p:nvPr/>
        </p:nvSpPr>
        <p:spPr>
          <a:xfrm>
            <a:off x="685800" y="2423160"/>
            <a:ext cx="731520" cy="1463040"/>
          </a:xfrm>
          <a:prstGeom prst="rect">
            <a:avLst/>
          </a:prstGeom>
          <a:noFill/>
          <a:ln/>
        </p:spPr>
        <p:txBody>
          <a:bodyPr wrap="square" rtlCol="0" anchor="t"/>
          <a:lstStyle/>
          <a:p>
            <a:pPr indent="0" marL="0">
              <a:buNone/>
            </a:pPr>
            <a:r>
              <a:rPr lang="en-US" sz="3000" dirty="0">
                <a:solidFill>
                  <a:srgbClr val="000000"/>
                </a:solidFill>
              </a:rPr>
              <a:t>⬇</a:t>
            </a:r>
            <a:endParaRPr lang="en-US" sz="3000" dirty="0"/>
          </a:p>
        </p:txBody>
      </p:sp>
      <p:sp>
        <p:nvSpPr>
          <p:cNvPr id="7" name="Text 5"/>
          <p:cNvSpPr/>
          <p:nvPr/>
        </p:nvSpPr>
        <p:spPr>
          <a:xfrm>
            <a:off x="1508760" y="2423160"/>
            <a:ext cx="4297680" cy="457200"/>
          </a:xfrm>
          <a:prstGeom prst="rect">
            <a:avLst/>
          </a:prstGeom>
          <a:noFill/>
          <a:ln/>
        </p:spPr>
        <p:txBody>
          <a:bodyPr wrap="square" rtlCol="0" anchor="ctr"/>
          <a:lstStyle/>
          <a:p>
            <a:pPr indent="0" marL="0">
              <a:buNone/>
            </a:pPr>
            <a:r>
              <a:rPr lang="en-US" sz="1800" b="1" dirty="0">
                <a:solidFill>
                  <a:srgbClr val="3DDC84"/>
                </a:solidFill>
                <a:latin typeface="Georgia" pitchFamily="34" charset="0"/>
                <a:ea typeface="Georgia" pitchFamily="34" charset="-122"/>
                <a:cs typeface="Georgia" pitchFamily="34" charset="-120"/>
              </a:rPr>
              <a:t>Download a model</a:t>
            </a:r>
            <a:endParaRPr lang="en-US" sz="1800" dirty="0"/>
          </a:p>
        </p:txBody>
      </p:sp>
      <p:sp>
        <p:nvSpPr>
          <p:cNvPr id="8" name="Text 6"/>
          <p:cNvSpPr/>
          <p:nvPr/>
        </p:nvSpPr>
        <p:spPr>
          <a:xfrm>
            <a:off x="1508760" y="2926080"/>
            <a:ext cx="4297680" cy="10972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Think of it like downloading a very sophisticated file — a compressed representation of vast learned knowledge.</a:t>
            </a:r>
            <a:endParaRPr lang="en-US" sz="1300" dirty="0"/>
          </a:p>
        </p:txBody>
      </p:sp>
      <p:sp>
        <p:nvSpPr>
          <p:cNvPr id="9" name="Shape 7"/>
          <p:cNvSpPr/>
          <p:nvPr/>
        </p:nvSpPr>
        <p:spPr>
          <a:xfrm>
            <a:off x="6355080" y="2240280"/>
            <a:ext cx="5486400" cy="1965960"/>
          </a:xfrm>
          <a:prstGeom prst="rect">
            <a:avLst/>
          </a:prstGeom>
          <a:solidFill>
            <a:srgbClr val="192119"/>
          </a:solidFill>
          <a:ln w="12700">
            <a:solidFill>
              <a:srgbClr val="223026"/>
            </a:solidFill>
            <a:prstDash val="solid"/>
          </a:ln>
        </p:spPr>
      </p:sp>
      <p:sp>
        <p:nvSpPr>
          <p:cNvPr id="10" name="Text 8"/>
          <p:cNvSpPr/>
          <p:nvPr/>
        </p:nvSpPr>
        <p:spPr>
          <a:xfrm>
            <a:off x="6537960" y="2423160"/>
            <a:ext cx="731520" cy="1463040"/>
          </a:xfrm>
          <a:prstGeom prst="rect">
            <a:avLst/>
          </a:prstGeom>
          <a:noFill/>
          <a:ln/>
        </p:spPr>
        <p:txBody>
          <a:bodyPr wrap="square" rtlCol="0" anchor="t"/>
          <a:lstStyle/>
          <a:p>
            <a:pPr indent="0" marL="0">
              <a:buNone/>
            </a:pPr>
            <a:r>
              <a:rPr lang="en-US" sz="3000" dirty="0">
                <a:solidFill>
                  <a:srgbClr val="000000"/>
                </a:solidFill>
              </a:rPr>
              <a:t>⚙</a:t>
            </a:r>
            <a:endParaRPr lang="en-US" sz="3000" dirty="0"/>
          </a:p>
        </p:txBody>
      </p:sp>
      <p:sp>
        <p:nvSpPr>
          <p:cNvPr id="11" name="Text 9"/>
          <p:cNvSpPr/>
          <p:nvPr/>
        </p:nvSpPr>
        <p:spPr>
          <a:xfrm>
            <a:off x="7360920" y="2423160"/>
            <a:ext cx="4297680" cy="457200"/>
          </a:xfrm>
          <a:prstGeom prst="rect">
            <a:avLst/>
          </a:prstGeom>
          <a:noFill/>
          <a:ln/>
        </p:spPr>
        <p:txBody>
          <a:bodyPr wrap="square" rtlCol="0" anchor="ctr"/>
          <a:lstStyle/>
          <a:p>
            <a:pPr indent="0" marL="0">
              <a:buNone/>
            </a:pPr>
            <a:r>
              <a:rPr lang="en-US" sz="1800" b="1" dirty="0">
                <a:solidFill>
                  <a:srgbClr val="3DDC84"/>
                </a:solidFill>
                <a:latin typeface="Georgia" pitchFamily="34" charset="0"/>
                <a:ea typeface="Georgia" pitchFamily="34" charset="-122"/>
                <a:cs typeface="Georgia" pitchFamily="34" charset="-120"/>
              </a:rPr>
              <a:t>Run it locally</a:t>
            </a:r>
            <a:endParaRPr lang="en-US" sz="1800" dirty="0"/>
          </a:p>
        </p:txBody>
      </p:sp>
      <p:sp>
        <p:nvSpPr>
          <p:cNvPr id="12" name="Text 10"/>
          <p:cNvSpPr/>
          <p:nvPr/>
        </p:nvSpPr>
        <p:spPr>
          <a:xfrm>
            <a:off x="7360920" y="2926080"/>
            <a:ext cx="4297680" cy="10972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The model loads into your device's memory. No API key. No account. No subscription. No data leaving your machine.</a:t>
            </a:r>
            <a:endParaRPr lang="en-US" sz="1300" dirty="0"/>
          </a:p>
        </p:txBody>
      </p:sp>
      <p:sp>
        <p:nvSpPr>
          <p:cNvPr id="13" name="Shape 11"/>
          <p:cNvSpPr/>
          <p:nvPr/>
        </p:nvSpPr>
        <p:spPr>
          <a:xfrm>
            <a:off x="502920" y="4434840"/>
            <a:ext cx="5486400" cy="1965960"/>
          </a:xfrm>
          <a:prstGeom prst="rect">
            <a:avLst/>
          </a:prstGeom>
          <a:solidFill>
            <a:srgbClr val="192119"/>
          </a:solidFill>
          <a:ln w="12700">
            <a:solidFill>
              <a:srgbClr val="223026"/>
            </a:solidFill>
            <a:prstDash val="solid"/>
          </a:ln>
        </p:spPr>
      </p:sp>
      <p:sp>
        <p:nvSpPr>
          <p:cNvPr id="14" name="Text 12"/>
          <p:cNvSpPr/>
          <p:nvPr/>
        </p:nvSpPr>
        <p:spPr>
          <a:xfrm>
            <a:off x="685800" y="4617720"/>
            <a:ext cx="731520" cy="1463040"/>
          </a:xfrm>
          <a:prstGeom prst="rect">
            <a:avLst/>
          </a:prstGeom>
          <a:noFill/>
          <a:ln/>
        </p:spPr>
        <p:txBody>
          <a:bodyPr wrap="square" rtlCol="0" anchor="t"/>
          <a:lstStyle/>
          <a:p>
            <a:pPr indent="0" marL="0">
              <a:buNone/>
            </a:pPr>
            <a:r>
              <a:rPr lang="en-US" sz="3000" dirty="0">
                <a:solidFill>
                  <a:srgbClr val="000000"/>
                </a:solidFill>
              </a:rPr>
              <a:t>🧠</a:t>
            </a:r>
            <a:endParaRPr lang="en-US" sz="3000" dirty="0"/>
          </a:p>
        </p:txBody>
      </p:sp>
      <p:sp>
        <p:nvSpPr>
          <p:cNvPr id="15" name="Text 13"/>
          <p:cNvSpPr/>
          <p:nvPr/>
        </p:nvSpPr>
        <p:spPr>
          <a:xfrm>
            <a:off x="1508760" y="4617720"/>
            <a:ext cx="4297680" cy="457200"/>
          </a:xfrm>
          <a:prstGeom prst="rect">
            <a:avLst/>
          </a:prstGeom>
          <a:noFill/>
          <a:ln/>
        </p:spPr>
        <p:txBody>
          <a:bodyPr wrap="square" rtlCol="0" anchor="ctr"/>
          <a:lstStyle/>
          <a:p>
            <a:pPr indent="0" marL="0">
              <a:buNone/>
            </a:pPr>
            <a:r>
              <a:rPr lang="en-US" sz="1800" b="1" dirty="0">
                <a:solidFill>
                  <a:srgbClr val="3DDC84"/>
                </a:solidFill>
                <a:latin typeface="Georgia" pitchFamily="34" charset="0"/>
                <a:ea typeface="Georgia" pitchFamily="34" charset="-122"/>
                <a:cs typeface="Georgia" pitchFamily="34" charset="-120"/>
              </a:rPr>
              <a:t>Inference on-device</a:t>
            </a:r>
            <a:endParaRPr lang="en-US" sz="1800" dirty="0"/>
          </a:p>
        </p:txBody>
      </p:sp>
      <p:sp>
        <p:nvSpPr>
          <p:cNvPr id="16" name="Text 14"/>
          <p:cNvSpPr/>
          <p:nvPr/>
        </p:nvSpPr>
        <p:spPr>
          <a:xfrm>
            <a:off x="1508760" y="5120640"/>
            <a:ext cx="4297680" cy="10972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Your query goes in, the model thinks, the answer comes back — entirely on your chip, in your room.</a:t>
            </a:r>
            <a:endParaRPr lang="en-US" sz="1300" dirty="0"/>
          </a:p>
        </p:txBody>
      </p:sp>
      <p:sp>
        <p:nvSpPr>
          <p:cNvPr id="17" name="Shape 15"/>
          <p:cNvSpPr/>
          <p:nvPr/>
        </p:nvSpPr>
        <p:spPr>
          <a:xfrm>
            <a:off x="6355080" y="4434840"/>
            <a:ext cx="5486400" cy="1965960"/>
          </a:xfrm>
          <a:prstGeom prst="rect">
            <a:avLst/>
          </a:prstGeom>
          <a:solidFill>
            <a:srgbClr val="192119"/>
          </a:solidFill>
          <a:ln w="12700">
            <a:solidFill>
              <a:srgbClr val="223026"/>
            </a:solidFill>
            <a:prstDash val="solid"/>
          </a:ln>
        </p:spPr>
      </p:sp>
      <p:sp>
        <p:nvSpPr>
          <p:cNvPr id="18" name="Text 16"/>
          <p:cNvSpPr/>
          <p:nvPr/>
        </p:nvSpPr>
        <p:spPr>
          <a:xfrm>
            <a:off x="6537960" y="4617720"/>
            <a:ext cx="731520" cy="1463040"/>
          </a:xfrm>
          <a:prstGeom prst="rect">
            <a:avLst/>
          </a:prstGeom>
          <a:noFill/>
          <a:ln/>
        </p:spPr>
        <p:txBody>
          <a:bodyPr wrap="square" rtlCol="0" anchor="t"/>
          <a:lstStyle/>
          <a:p>
            <a:pPr indent="0" marL="0">
              <a:buNone/>
            </a:pPr>
            <a:r>
              <a:rPr lang="en-US" sz="3000" dirty="0">
                <a:solidFill>
                  <a:srgbClr val="000000"/>
                </a:solidFill>
              </a:rPr>
              <a:t>🔒</a:t>
            </a:r>
            <a:endParaRPr lang="en-US" sz="3000" dirty="0"/>
          </a:p>
        </p:txBody>
      </p:sp>
      <p:sp>
        <p:nvSpPr>
          <p:cNvPr id="19" name="Text 17"/>
          <p:cNvSpPr/>
          <p:nvPr/>
        </p:nvSpPr>
        <p:spPr>
          <a:xfrm>
            <a:off x="7360920" y="4617720"/>
            <a:ext cx="4297680" cy="457200"/>
          </a:xfrm>
          <a:prstGeom prst="rect">
            <a:avLst/>
          </a:prstGeom>
          <a:noFill/>
          <a:ln/>
        </p:spPr>
        <p:txBody>
          <a:bodyPr wrap="square" rtlCol="0" anchor="ctr"/>
          <a:lstStyle/>
          <a:p>
            <a:pPr indent="0" marL="0">
              <a:buNone/>
            </a:pPr>
            <a:r>
              <a:rPr lang="en-US" sz="1800" b="1" dirty="0">
                <a:solidFill>
                  <a:srgbClr val="3DDC84"/>
                </a:solidFill>
                <a:latin typeface="Georgia" pitchFamily="34" charset="0"/>
                <a:ea typeface="Georgia" pitchFamily="34" charset="-122"/>
                <a:cs typeface="Georgia" pitchFamily="34" charset="-120"/>
              </a:rPr>
              <a:t>Nothing transmitted</a:t>
            </a:r>
            <a:endParaRPr lang="en-US" sz="1800" dirty="0"/>
          </a:p>
        </p:txBody>
      </p:sp>
      <p:sp>
        <p:nvSpPr>
          <p:cNvPr id="20" name="Text 18"/>
          <p:cNvSpPr/>
          <p:nvPr/>
        </p:nvSpPr>
        <p:spPr>
          <a:xfrm>
            <a:off x="7360920" y="5120640"/>
            <a:ext cx="4297680" cy="1097280"/>
          </a:xfrm>
          <a:prstGeom prst="rect">
            <a:avLst/>
          </a:prstGeom>
          <a:noFill/>
          <a:ln/>
        </p:spPr>
        <p:txBody>
          <a:bodyPr wrap="square" rtlCol="0" anchor="ctr"/>
          <a:lstStyle/>
          <a:p>
            <a:pPr indent="0" marL="0">
              <a:buNone/>
            </a:pPr>
            <a:r>
              <a:rPr lang="en-US" sz="1300" dirty="0">
                <a:solidFill>
                  <a:srgbClr val="7A9E80"/>
                </a:solidFill>
                <a:latin typeface="Calibri" pitchFamily="34" charset="0"/>
                <a:ea typeface="Calibri" pitchFamily="34" charset="-122"/>
                <a:cs typeface="Calibri" pitchFamily="34" charset="-120"/>
              </a:rPr>
              <a:t>No internet required. No corporate logging. No training on your questions. What you ask stays with you.</a:t>
            </a:r>
            <a:endParaRPr lang="en-US" sz="1300" dirty="0"/>
          </a:p>
        </p:txBody>
      </p:sp>
      <p:sp>
        <p:nvSpPr>
          <p:cNvPr id="21" name="Shape 19"/>
          <p:cNvSpPr/>
          <p:nvPr/>
        </p:nvSpPr>
        <p:spPr>
          <a:xfrm>
            <a:off x="11887200" y="594360"/>
            <a:ext cx="91440" cy="5669280"/>
          </a:xfrm>
          <a:prstGeom prst="rect">
            <a:avLst/>
          </a:prstGeom>
          <a:solidFill>
            <a:srgbClr val="3DDC84"/>
          </a:solidFill>
          <a:ln w="12700">
            <a:solidFill>
              <a:srgbClr val="3DDC84"/>
            </a:solidFill>
            <a:prstDash val="solid"/>
          </a:ln>
        </p:spPr>
      </p:sp>
      <p:sp>
        <p:nvSpPr>
          <p:cNvPr id="22" name="Shape 20"/>
          <p:cNvSpPr/>
          <p:nvPr/>
        </p:nvSpPr>
        <p:spPr>
          <a:xfrm>
            <a:off x="502920" y="4754880"/>
            <a:ext cx="1737360" cy="256032"/>
          </a:xfrm>
          <a:prstGeom prst="rect">
            <a:avLst/>
          </a:prstGeom>
          <a:solidFill>
            <a:srgbClr val="192119"/>
          </a:solidFill>
          <a:ln w="6350">
            <a:solidFill>
              <a:srgbClr val="2E5234"/>
            </a:solidFill>
            <a:prstDash val="solid"/>
          </a:ln>
        </p:spPr>
      </p:sp>
      <p:sp>
        <p:nvSpPr>
          <p:cNvPr id="23" name="Text 21"/>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2:51 PM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WHAT IS A LOCAL MODEL?  ·  2:53 PM</a:t>
            </a:r>
            <a:endParaRPr lang="en-US" sz="1000" dirty="0"/>
          </a:p>
        </p:txBody>
      </p:sp>
      <p:sp>
        <p:nvSpPr>
          <p:cNvPr id="3" name="Text 1"/>
          <p:cNvSpPr/>
          <p:nvPr/>
        </p:nvSpPr>
        <p:spPr>
          <a:xfrm>
            <a:off x="502920" y="594360"/>
            <a:ext cx="5303520" cy="182880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A local model</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is a file.</a:t>
            </a:r>
            <a:endParaRPr lang="en-US" sz="5200" dirty="0"/>
          </a:p>
        </p:txBody>
      </p:sp>
      <p:sp>
        <p:nvSpPr>
          <p:cNvPr id="4" name="Text 2"/>
          <p:cNvSpPr/>
          <p:nvPr/>
        </p:nvSpPr>
        <p:spPr>
          <a:xfrm>
            <a:off x="502920" y="2514600"/>
            <a:ext cx="5303520" cy="1371600"/>
          </a:xfrm>
          <a:prstGeom prst="rect">
            <a:avLst/>
          </a:prstGeom>
          <a:noFill/>
          <a:ln/>
        </p:spPr>
        <p:txBody>
          <a:bodyPr wrap="square" rtlCol="0" anchor="ctr"/>
          <a:lstStyle/>
          <a:p>
            <a:pPr indent="0" marL="0">
              <a:buNone/>
            </a:pPr>
            <a:r>
              <a:rPr lang="en-US" sz="1900" dirty="0">
                <a:solidFill>
                  <a:srgbClr val="7A9E80"/>
                </a:solidFill>
                <a:latin typeface="Calibri" pitchFamily="34" charset="0"/>
                <a:ea typeface="Calibri" pitchFamily="34" charset="-122"/>
                <a:cs typeface="Calibri" pitchFamily="34" charset="-120"/>
              </a:rPr>
              <a:t>Billions of numerical weights encoding a vast amount of learned knowledge — sitting on your hard drive.</a:t>
            </a:r>
            <a:endParaRPr lang="en-US" sz="1900" dirty="0"/>
          </a:p>
        </p:txBody>
      </p:sp>
      <p:sp>
        <p:nvSpPr>
          <p:cNvPr id="5" name="Shape 3"/>
          <p:cNvSpPr/>
          <p:nvPr/>
        </p:nvSpPr>
        <p:spPr>
          <a:xfrm>
            <a:off x="502920" y="4206240"/>
            <a:ext cx="2286000" cy="1554480"/>
          </a:xfrm>
          <a:prstGeom prst="rect">
            <a:avLst/>
          </a:prstGeom>
          <a:solidFill>
            <a:srgbClr val="192119"/>
          </a:solidFill>
          <a:ln w="19050">
            <a:solidFill>
              <a:srgbClr val="7A9E80"/>
            </a:solidFill>
            <a:prstDash val="solid"/>
          </a:ln>
        </p:spPr>
      </p:sp>
      <p:sp>
        <p:nvSpPr>
          <p:cNvPr id="6" name="Text 4"/>
          <p:cNvSpPr/>
          <p:nvPr/>
        </p:nvSpPr>
        <p:spPr>
          <a:xfrm>
            <a:off x="594360" y="4297680"/>
            <a:ext cx="2103120" cy="1371600"/>
          </a:xfrm>
          <a:prstGeom prst="rect">
            <a:avLst/>
          </a:prstGeom>
          <a:noFill/>
          <a:ln/>
        </p:spPr>
        <p:txBody>
          <a:bodyPr wrap="square" rtlCol="0" anchor="ctr"/>
          <a:lstStyle/>
          <a:p>
            <a:pPr algn="ctr" indent="0" marL="0">
              <a:buNone/>
            </a:pPr>
            <a:r>
              <a:rPr lang="en-US" sz="1600" b="1" dirty="0">
                <a:solidFill>
                  <a:srgbClr val="7A9E80"/>
                </a:solidFill>
                <a:latin typeface="Calibri" pitchFamily="34" charset="0"/>
                <a:ea typeface="Calibri" pitchFamily="34" charset="-122"/>
                <a:cs typeface="Calibri" pitchFamily="34" charset="-120"/>
              </a:rPr>
              <a:t>You type</a:t>
            </a:r>
            <a:endParaRPr lang="en-US" sz="1600" dirty="0"/>
          </a:p>
          <a:p>
            <a:pPr algn="ctr" indent="0" marL="0">
              <a:buNone/>
            </a:pPr>
            <a:r>
              <a:rPr lang="en-US" sz="1600" b="1" dirty="0">
                <a:solidFill>
                  <a:srgbClr val="7A9E80"/>
                </a:solidFill>
                <a:latin typeface="Calibri" pitchFamily="34" charset="0"/>
                <a:ea typeface="Calibri" pitchFamily="34" charset="-122"/>
                <a:cs typeface="Calibri" pitchFamily="34" charset="-120"/>
              </a:rPr>
              <a:t>a question</a:t>
            </a:r>
            <a:endParaRPr lang="en-US" sz="1600" dirty="0"/>
          </a:p>
        </p:txBody>
      </p:sp>
      <p:sp>
        <p:nvSpPr>
          <p:cNvPr id="7" name="Shape 5"/>
          <p:cNvSpPr/>
          <p:nvPr/>
        </p:nvSpPr>
        <p:spPr>
          <a:xfrm>
            <a:off x="2834640" y="4846320"/>
            <a:ext cx="685800" cy="91440"/>
          </a:xfrm>
          <a:prstGeom prst="rect">
            <a:avLst/>
          </a:prstGeom>
          <a:solidFill>
            <a:srgbClr val="2E5234"/>
          </a:solidFill>
          <a:ln w="12700">
            <a:solidFill>
              <a:srgbClr val="2E5234"/>
            </a:solidFill>
            <a:prstDash val="solid"/>
          </a:ln>
        </p:spPr>
      </p:sp>
      <p:sp>
        <p:nvSpPr>
          <p:cNvPr id="8" name="Shape 6"/>
          <p:cNvSpPr/>
          <p:nvPr/>
        </p:nvSpPr>
        <p:spPr>
          <a:xfrm>
            <a:off x="3017520" y="4206240"/>
            <a:ext cx="2286000" cy="1554480"/>
          </a:xfrm>
          <a:prstGeom prst="rect">
            <a:avLst/>
          </a:prstGeom>
          <a:solidFill>
            <a:srgbClr val="192119"/>
          </a:solidFill>
          <a:ln w="19050">
            <a:solidFill>
              <a:srgbClr val="2AB86A"/>
            </a:solidFill>
            <a:prstDash val="solid"/>
          </a:ln>
        </p:spPr>
      </p:sp>
      <p:sp>
        <p:nvSpPr>
          <p:cNvPr id="9" name="Text 7"/>
          <p:cNvSpPr/>
          <p:nvPr/>
        </p:nvSpPr>
        <p:spPr>
          <a:xfrm>
            <a:off x="3108960" y="4297680"/>
            <a:ext cx="2103120" cy="1371600"/>
          </a:xfrm>
          <a:prstGeom prst="rect">
            <a:avLst/>
          </a:prstGeom>
          <a:noFill/>
          <a:ln/>
        </p:spPr>
        <p:txBody>
          <a:bodyPr wrap="square" rtlCol="0" anchor="ctr"/>
          <a:lstStyle/>
          <a:p>
            <a:pPr algn="ctr" indent="0" marL="0">
              <a:buNone/>
            </a:pPr>
            <a:r>
              <a:rPr lang="en-US" sz="1600" b="1" dirty="0">
                <a:solidFill>
                  <a:srgbClr val="2AB86A"/>
                </a:solidFill>
                <a:latin typeface="Calibri" pitchFamily="34" charset="0"/>
                <a:ea typeface="Calibri" pitchFamily="34" charset="-122"/>
                <a:cs typeface="Calibri" pitchFamily="34" charset="-120"/>
              </a:rPr>
              <a:t>Model loads</a:t>
            </a:r>
            <a:endParaRPr lang="en-US" sz="1600" dirty="0"/>
          </a:p>
          <a:p>
            <a:pPr algn="ctr" indent="0" marL="0">
              <a:buNone/>
            </a:pPr>
            <a:r>
              <a:rPr lang="en-US" sz="1600" b="1" dirty="0">
                <a:solidFill>
                  <a:srgbClr val="2AB86A"/>
                </a:solidFill>
                <a:latin typeface="Calibri" pitchFamily="34" charset="0"/>
                <a:ea typeface="Calibri" pitchFamily="34" charset="-122"/>
                <a:cs typeface="Calibri" pitchFamily="34" charset="-120"/>
              </a:rPr>
              <a:t>from memory</a:t>
            </a:r>
            <a:endParaRPr lang="en-US" sz="1600" dirty="0"/>
          </a:p>
        </p:txBody>
      </p:sp>
      <p:sp>
        <p:nvSpPr>
          <p:cNvPr id="10" name="Shape 8"/>
          <p:cNvSpPr/>
          <p:nvPr/>
        </p:nvSpPr>
        <p:spPr>
          <a:xfrm>
            <a:off x="5349240" y="4846320"/>
            <a:ext cx="685800" cy="91440"/>
          </a:xfrm>
          <a:prstGeom prst="rect">
            <a:avLst/>
          </a:prstGeom>
          <a:solidFill>
            <a:srgbClr val="2E5234"/>
          </a:solidFill>
          <a:ln w="12700">
            <a:solidFill>
              <a:srgbClr val="2E5234"/>
            </a:solidFill>
            <a:prstDash val="solid"/>
          </a:ln>
        </p:spPr>
      </p:sp>
      <p:sp>
        <p:nvSpPr>
          <p:cNvPr id="11" name="Shape 9"/>
          <p:cNvSpPr/>
          <p:nvPr/>
        </p:nvSpPr>
        <p:spPr>
          <a:xfrm>
            <a:off x="5532120" y="4206240"/>
            <a:ext cx="2286000" cy="1554480"/>
          </a:xfrm>
          <a:prstGeom prst="rect">
            <a:avLst/>
          </a:prstGeom>
          <a:solidFill>
            <a:srgbClr val="192119"/>
          </a:solidFill>
          <a:ln w="19050">
            <a:solidFill>
              <a:srgbClr val="3DDC84"/>
            </a:solidFill>
            <a:prstDash val="solid"/>
          </a:ln>
        </p:spPr>
      </p:sp>
      <p:sp>
        <p:nvSpPr>
          <p:cNvPr id="12" name="Text 10"/>
          <p:cNvSpPr/>
          <p:nvPr/>
        </p:nvSpPr>
        <p:spPr>
          <a:xfrm>
            <a:off x="5623560" y="4297680"/>
            <a:ext cx="2103120" cy="1371600"/>
          </a:xfrm>
          <a:prstGeom prst="rect">
            <a:avLst/>
          </a:prstGeom>
          <a:noFill/>
          <a:ln/>
        </p:spPr>
        <p:txBody>
          <a:bodyPr wrap="square"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Chip computes</a:t>
            </a:r>
            <a:endParaRPr lang="en-US" sz="1600" dirty="0"/>
          </a:p>
          <a:p>
            <a:pPr algn="ctr" indent="0" marL="0">
              <a:buNone/>
            </a:pPr>
            <a:r>
              <a:rPr lang="en-US" sz="1600" b="1" dirty="0">
                <a:solidFill>
                  <a:srgbClr val="3DDC84"/>
                </a:solidFill>
                <a:latin typeface="Calibri" pitchFamily="34" charset="0"/>
                <a:ea typeface="Calibri" pitchFamily="34" charset="-122"/>
                <a:cs typeface="Calibri" pitchFamily="34" charset="-120"/>
              </a:rPr>
              <a:t>on-device</a:t>
            </a:r>
            <a:endParaRPr lang="en-US" sz="1600" dirty="0"/>
          </a:p>
        </p:txBody>
      </p:sp>
      <p:sp>
        <p:nvSpPr>
          <p:cNvPr id="13" name="Shape 11"/>
          <p:cNvSpPr/>
          <p:nvPr/>
        </p:nvSpPr>
        <p:spPr>
          <a:xfrm>
            <a:off x="7863840" y="4846320"/>
            <a:ext cx="685800" cy="91440"/>
          </a:xfrm>
          <a:prstGeom prst="rect">
            <a:avLst/>
          </a:prstGeom>
          <a:solidFill>
            <a:srgbClr val="2E5234"/>
          </a:solidFill>
          <a:ln w="12700">
            <a:solidFill>
              <a:srgbClr val="2E5234"/>
            </a:solidFill>
            <a:prstDash val="solid"/>
          </a:ln>
        </p:spPr>
      </p:sp>
      <p:sp>
        <p:nvSpPr>
          <p:cNvPr id="14" name="Shape 12"/>
          <p:cNvSpPr/>
          <p:nvPr/>
        </p:nvSpPr>
        <p:spPr>
          <a:xfrm>
            <a:off x="8046720" y="4206240"/>
            <a:ext cx="2286000" cy="1554480"/>
          </a:xfrm>
          <a:prstGeom prst="rect">
            <a:avLst/>
          </a:prstGeom>
          <a:solidFill>
            <a:srgbClr val="192119"/>
          </a:solidFill>
          <a:ln w="19050">
            <a:solidFill>
              <a:srgbClr val="5DD8C0"/>
            </a:solidFill>
            <a:prstDash val="solid"/>
          </a:ln>
        </p:spPr>
      </p:sp>
      <p:sp>
        <p:nvSpPr>
          <p:cNvPr id="15" name="Text 13"/>
          <p:cNvSpPr/>
          <p:nvPr/>
        </p:nvSpPr>
        <p:spPr>
          <a:xfrm>
            <a:off x="8138160" y="4297680"/>
            <a:ext cx="2103120" cy="1371600"/>
          </a:xfrm>
          <a:prstGeom prst="rect">
            <a:avLst/>
          </a:prstGeom>
          <a:noFill/>
          <a:ln/>
        </p:spPr>
        <p:txBody>
          <a:bodyPr wrap="square" rtlCol="0" anchor="ctr"/>
          <a:lstStyle/>
          <a:p>
            <a:pPr algn="ctr" indent="0" marL="0">
              <a:buNone/>
            </a:pPr>
            <a:r>
              <a:rPr lang="en-US" sz="1600" b="1" dirty="0">
                <a:solidFill>
                  <a:srgbClr val="5DD8C0"/>
                </a:solidFill>
                <a:latin typeface="Calibri" pitchFamily="34" charset="0"/>
                <a:ea typeface="Calibri" pitchFamily="34" charset="-122"/>
                <a:cs typeface="Calibri" pitchFamily="34" charset="-120"/>
              </a:rPr>
              <a:t>Answer comes</a:t>
            </a:r>
            <a:endParaRPr lang="en-US" sz="1600" dirty="0"/>
          </a:p>
          <a:p>
            <a:pPr algn="ctr" indent="0" marL="0">
              <a:buNone/>
            </a:pPr>
            <a:r>
              <a:rPr lang="en-US" sz="1600" b="1" dirty="0">
                <a:solidFill>
                  <a:srgbClr val="5DD8C0"/>
                </a:solidFill>
                <a:latin typeface="Calibri" pitchFamily="34" charset="0"/>
                <a:ea typeface="Calibri" pitchFamily="34" charset="-122"/>
                <a:cs typeface="Calibri" pitchFamily="34" charset="-120"/>
              </a:rPr>
              <a:t>back instantly</a:t>
            </a:r>
            <a:endParaRPr lang="en-US" sz="1600" dirty="0"/>
          </a:p>
        </p:txBody>
      </p:sp>
      <p:sp>
        <p:nvSpPr>
          <p:cNvPr id="16" name="Text 14"/>
          <p:cNvSpPr/>
          <p:nvPr/>
        </p:nvSpPr>
        <p:spPr>
          <a:xfrm>
            <a:off x="502920" y="5989320"/>
            <a:ext cx="11155680" cy="457200"/>
          </a:xfrm>
          <a:prstGeom prst="rect">
            <a:avLst/>
          </a:prstGeom>
          <a:noFill/>
          <a:ln/>
        </p:spPr>
        <p:txBody>
          <a:bodyPr wrap="square" rtlCol="0" anchor="ctr"/>
          <a:lstStyle/>
          <a:p>
            <a:pPr algn="ctr" indent="0" marL="0">
              <a:buNone/>
            </a:pPr>
            <a:r>
              <a:rPr lang="en-US" sz="1300" spc="100" kern="0" dirty="0">
                <a:solidFill>
                  <a:srgbClr val="3DDC84"/>
                </a:solidFill>
                <a:latin typeface="Courier New" pitchFamily="34" charset="0"/>
                <a:ea typeface="Courier New" pitchFamily="34" charset="-122"/>
                <a:cs typeface="Courier New" pitchFamily="34" charset="-120"/>
              </a:rPr>
              <a:t>No internet. No data center. On this chip. In this room. Right now.</a:t>
            </a:r>
            <a:endParaRPr lang="en-US" sz="1300" dirty="0"/>
          </a:p>
        </p:txBody>
      </p:sp>
      <p:sp>
        <p:nvSpPr>
          <p:cNvPr id="17" name="Shape 15"/>
          <p:cNvSpPr/>
          <p:nvPr/>
        </p:nvSpPr>
        <p:spPr>
          <a:xfrm>
            <a:off x="6400800" y="594360"/>
            <a:ext cx="5394960" cy="3291840"/>
          </a:xfrm>
          <a:prstGeom prst="rect">
            <a:avLst/>
          </a:prstGeom>
          <a:solidFill>
            <a:srgbClr val="192119"/>
          </a:solidFill>
          <a:ln w="6350">
            <a:solidFill>
              <a:srgbClr val="2E5234"/>
            </a:solidFill>
            <a:prstDash val="solid"/>
          </a:ln>
        </p:spPr>
      </p:sp>
      <p:sp>
        <p:nvSpPr>
          <p:cNvPr id="18" name="Text 16"/>
          <p:cNvSpPr/>
          <p:nvPr/>
        </p:nvSpPr>
        <p:spPr>
          <a:xfrm>
            <a:off x="6583680" y="777240"/>
            <a:ext cx="5029200" cy="365760"/>
          </a:xfrm>
          <a:prstGeom prst="rect">
            <a:avLst/>
          </a:prstGeom>
          <a:noFill/>
          <a:ln/>
        </p:spPr>
        <p:txBody>
          <a:bodyPr wrap="square" rtlCol="0" anchor="ctr"/>
          <a:lstStyle/>
          <a:p>
            <a:pPr indent="0" marL="0">
              <a:buNone/>
            </a:pPr>
            <a:r>
              <a:rPr lang="en-US" sz="1200" dirty="0">
                <a:solidFill>
                  <a:srgbClr val="2E5234"/>
                </a:solidFill>
                <a:latin typeface="Courier New" pitchFamily="34" charset="0"/>
                <a:ea typeface="Courier New" pitchFamily="34" charset="-122"/>
                <a:cs typeface="Courier New" pitchFamily="34" charset="-120"/>
              </a:rPr>
              <a:t>// running locally</a:t>
            </a:r>
            <a:endParaRPr lang="en-US" sz="1200" dirty="0"/>
          </a:p>
        </p:txBody>
      </p:sp>
      <p:sp>
        <p:nvSpPr>
          <p:cNvPr id="19" name="Text 17"/>
          <p:cNvSpPr/>
          <p:nvPr/>
        </p:nvSpPr>
        <p:spPr>
          <a:xfrm>
            <a:off x="6583680" y="1234440"/>
            <a:ext cx="5029200" cy="2468880"/>
          </a:xfrm>
          <a:prstGeom prst="rect">
            <a:avLst/>
          </a:prstGeom>
          <a:noFill/>
          <a:ln/>
        </p:spPr>
        <p:txBody>
          <a:bodyPr wrap="square" rtlCol="0" anchor="ctr"/>
          <a:lstStyle/>
          <a:p>
            <a:pPr indent="0" marL="0">
              <a:buNone/>
            </a:pPr>
            <a:r>
              <a:rPr lang="en-US" sz="1700" dirty="0">
                <a:solidFill>
                  <a:srgbClr val="3DDC84"/>
                </a:solidFill>
                <a:latin typeface="Courier New" pitchFamily="34" charset="0"/>
                <a:ea typeface="Courier New" pitchFamily="34" charset="-122"/>
                <a:cs typeface="Courier New" pitchFamily="34" charset="-120"/>
              </a:rPr>
              <a:t>model: llama3-70b</a:t>
            </a:r>
            <a:endParaRPr lang="en-US" sz="1700" dirty="0"/>
          </a:p>
          <a:p>
            <a:pPr indent="0" marL="0">
              <a:buNone/>
            </a:pPr>
            <a:r>
              <a:rPr lang="en-US" sz="1700" dirty="0">
                <a:solidFill>
                  <a:srgbClr val="3DDC84"/>
                </a:solidFill>
                <a:latin typeface="Courier New" pitchFamily="34" charset="0"/>
                <a:ea typeface="Courier New" pitchFamily="34" charset="-122"/>
                <a:cs typeface="Courier New" pitchFamily="34" charset="-120"/>
              </a:rPr>
              <a:t>status: loaded</a:t>
            </a:r>
            <a:endParaRPr lang="en-US" sz="1700" dirty="0"/>
          </a:p>
          <a:p>
            <a:pPr indent="0" marL="0">
              <a:buNone/>
            </a:pPr>
            <a:r>
              <a:rPr lang="en-US" sz="1700" dirty="0">
                <a:solidFill>
                  <a:srgbClr val="3DDC84"/>
                </a:solidFill>
                <a:latin typeface="Courier New" pitchFamily="34" charset="0"/>
                <a:ea typeface="Courier New" pitchFamily="34" charset="-122"/>
                <a:cs typeface="Courier New" pitchFamily="34" charset="-120"/>
              </a:rPr>
              <a:t>device: apple-silicon</a:t>
            </a:r>
            <a:endParaRPr lang="en-US" sz="1700" dirty="0"/>
          </a:p>
          <a:p>
            <a:pPr indent="0" marL="0">
              <a:buNone/>
            </a:pPr>
            <a:r>
              <a:rPr lang="en-US" sz="1700" dirty="0">
                <a:solidFill>
                  <a:srgbClr val="3DDC84"/>
                </a:solidFill>
                <a:latin typeface="Courier New" pitchFamily="34" charset="0"/>
                <a:ea typeface="Courier New" pitchFamily="34" charset="-122"/>
                <a:cs typeface="Courier New" pitchFamily="34" charset="-120"/>
              </a:rPr>
              <a:t>network: disconnected</a:t>
            </a:r>
            <a:endParaRPr lang="en-US" sz="1700" dirty="0"/>
          </a:p>
          <a:p>
            <a:pPr indent="0" marL="0">
              <a:buNone/>
            </a:pPr>
            <a:r>
              <a:rPr lang="en-US" sz="1700" dirty="0">
                <a:solidFill>
                  <a:srgbClr val="3DDC84"/>
                </a:solidFill>
                <a:latin typeface="Courier New" pitchFamily="34" charset="0"/>
                <a:ea typeface="Courier New" pitchFamily="34" charset="-122"/>
                <a:cs typeface="Courier New" pitchFamily="34" charset="-120"/>
              </a:rPr>
              <a:t>queries_sent_externally: 0</a:t>
            </a:r>
            <a:endParaRPr lang="en-US" sz="1700" dirty="0"/>
          </a:p>
          <a:p>
            <a:pPr indent="0" marL="0">
              <a:buNone/>
            </a:pPr>
            <a:r>
              <a:rPr lang="en-US" sz="1700" dirty="0">
                <a:solidFill>
                  <a:srgbClr val="3DDC84"/>
                </a:solidFill>
                <a:latin typeface="Courier New" pitchFamily="34" charset="0"/>
                <a:ea typeface="Courier New" pitchFamily="34" charset="-122"/>
                <a:cs typeface="Courier New" pitchFamily="34" charset="-120"/>
              </a:rPr>
              <a:t>privacy: structural</a:t>
            </a:r>
            <a:endParaRPr lang="en-US" sz="1700" dirty="0"/>
          </a:p>
        </p:txBody>
      </p:sp>
      <p:sp>
        <p:nvSpPr>
          <p:cNvPr id="20" name="Shape 18"/>
          <p:cNvSpPr/>
          <p:nvPr/>
        </p:nvSpPr>
        <p:spPr>
          <a:xfrm>
            <a:off x="502920" y="4754880"/>
            <a:ext cx="1737360" cy="256032"/>
          </a:xfrm>
          <a:prstGeom prst="rect">
            <a:avLst/>
          </a:prstGeom>
          <a:solidFill>
            <a:srgbClr val="192119"/>
          </a:solidFill>
          <a:ln w="6350">
            <a:solidFill>
              <a:srgbClr val="2E5234"/>
            </a:solidFill>
            <a:prstDash val="solid"/>
          </a:ln>
        </p:spPr>
      </p:sp>
      <p:sp>
        <p:nvSpPr>
          <p:cNvPr id="21" name="Text 19"/>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2:53 PM</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30603"/>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3DDC84"/>
          </a:solidFill>
          <a:ln w="12700">
            <a:solidFill>
              <a:srgbClr val="3DDC84"/>
            </a:solidFill>
            <a:prstDash val="solid"/>
          </a:ln>
        </p:spPr>
      </p:sp>
      <p:sp>
        <p:nvSpPr>
          <p:cNvPr id="3" name="Shape 1"/>
          <p:cNvSpPr/>
          <p:nvPr/>
        </p:nvSpPr>
        <p:spPr>
          <a:xfrm>
            <a:off x="0" y="6784848"/>
            <a:ext cx="12161520" cy="73152"/>
          </a:xfrm>
          <a:prstGeom prst="rect">
            <a:avLst/>
          </a:prstGeom>
          <a:solidFill>
            <a:srgbClr val="3DDC84"/>
          </a:solidFill>
          <a:ln w="12700">
            <a:solidFill>
              <a:srgbClr val="3DDC84"/>
            </a:solidFill>
            <a:prstDash val="solid"/>
          </a:ln>
        </p:spPr>
      </p:sp>
      <p:sp>
        <p:nvSpPr>
          <p:cNvPr id="4" name="Text 2"/>
          <p:cNvSpPr/>
          <p:nvPr/>
        </p:nvSpPr>
        <p:spPr>
          <a:xfrm>
            <a:off x="274320" y="228600"/>
            <a:ext cx="3657600" cy="365760"/>
          </a:xfrm>
          <a:prstGeom prst="rect">
            <a:avLst/>
          </a:prstGeom>
          <a:noFill/>
          <a:ln/>
        </p:spPr>
        <p:txBody>
          <a:bodyPr wrap="square" rtlCol="0" anchor="ctr"/>
          <a:lstStyle/>
          <a:p>
            <a:pPr indent="0" marL="0">
              <a:buNone/>
            </a:pPr>
            <a:r>
              <a:rPr lang="en-US" sz="1100" b="1" spc="300" kern="0" dirty="0">
                <a:solidFill>
                  <a:srgbClr val="3DDC84"/>
                </a:solidFill>
                <a:latin typeface="Courier New" pitchFamily="34" charset="0"/>
                <a:ea typeface="Courier New" pitchFamily="34" charset="-122"/>
                <a:cs typeface="Courier New" pitchFamily="34" charset="-120"/>
              </a:rPr>
              <a:t>⬤  LIVE  ·  LOCAL  ·  OFFLINE</a:t>
            </a:r>
            <a:endParaRPr lang="en-US" sz="1100" dirty="0"/>
          </a:p>
        </p:txBody>
      </p:sp>
      <p:sp>
        <p:nvSpPr>
          <p:cNvPr id="5" name="Text 3"/>
          <p:cNvSpPr/>
          <p:nvPr/>
        </p:nvSpPr>
        <p:spPr>
          <a:xfrm>
            <a:off x="8046720" y="228600"/>
            <a:ext cx="3840480" cy="365760"/>
          </a:xfrm>
          <a:prstGeom prst="rect">
            <a:avLst/>
          </a:prstGeom>
          <a:noFill/>
          <a:ln/>
        </p:spPr>
        <p:txBody>
          <a:bodyPr wrap="square" rtlCol="0" anchor="ctr"/>
          <a:lstStyle/>
          <a:p>
            <a:pPr algn="r" indent="0" marL="0">
              <a:buNone/>
            </a:pPr>
            <a:r>
              <a:rPr lang="en-US" sz="1100" dirty="0">
                <a:solidFill>
                  <a:srgbClr val="2E5234"/>
                </a:solidFill>
                <a:latin typeface="Courier New" pitchFamily="34" charset="0"/>
                <a:ea typeface="Courier New" pitchFamily="34" charset="-122"/>
                <a:cs typeface="Courier New" pitchFamily="34" charset="-120"/>
              </a:rPr>
              <a:t>No data is leaving this room.</a:t>
            </a:r>
            <a:endParaRPr lang="en-US" sz="1100" dirty="0"/>
          </a:p>
        </p:txBody>
      </p:sp>
      <p:sp>
        <p:nvSpPr>
          <p:cNvPr id="6" name="Shape 4"/>
          <p:cNvSpPr/>
          <p:nvPr/>
        </p:nvSpPr>
        <p:spPr>
          <a:xfrm>
            <a:off x="457200" y="777240"/>
            <a:ext cx="11247120" cy="5212080"/>
          </a:xfrm>
          <a:prstGeom prst="rect">
            <a:avLst/>
          </a:prstGeom>
          <a:solidFill>
            <a:srgbClr val="0A110A"/>
          </a:solidFill>
          <a:ln w="6350">
            <a:solidFill>
              <a:srgbClr val="2E5234"/>
            </a:solidFill>
            <a:prstDash val="solid"/>
          </a:ln>
        </p:spPr>
      </p:sp>
      <p:sp>
        <p:nvSpPr>
          <p:cNvPr id="7" name="Text 5"/>
          <p:cNvSpPr/>
          <p:nvPr/>
        </p:nvSpPr>
        <p:spPr>
          <a:xfrm>
            <a:off x="457200" y="777240"/>
            <a:ext cx="11247120" cy="5212080"/>
          </a:xfrm>
          <a:prstGeom prst="rect">
            <a:avLst/>
          </a:prstGeom>
          <a:noFill/>
          <a:ln/>
        </p:spPr>
        <p:txBody>
          <a:bodyPr wrap="square" rtlCol="0" anchor="ctr"/>
          <a:lstStyle/>
          <a:p>
            <a:pPr algn="ctr" indent="0" marL="0">
              <a:buNone/>
            </a:pPr>
            <a:r>
              <a:rPr lang="en-US" sz="1800" dirty="0">
                <a:solidFill>
                  <a:srgbClr val="2E5234"/>
                </a:solidFill>
                <a:latin typeface="Courier New" pitchFamily="34" charset="0"/>
                <a:ea typeface="Courier New" pitchFamily="34" charset="-122"/>
                <a:cs typeface="Courier New" pitchFamily="34" charset="-120"/>
              </a:rPr>
              <a:t>[ LM STUDIO — FULL WINDOW ]</a:t>
            </a:r>
            <a:endParaRPr lang="en-US" sz="1800" dirty="0"/>
          </a:p>
        </p:txBody>
      </p:sp>
      <p:sp>
        <p:nvSpPr>
          <p:cNvPr id="8" name="Shape 6"/>
          <p:cNvSpPr/>
          <p:nvPr/>
        </p:nvSpPr>
        <p:spPr>
          <a:xfrm>
            <a:off x="502920" y="4754880"/>
            <a:ext cx="1737360" cy="256032"/>
          </a:xfrm>
          <a:prstGeom prst="rect">
            <a:avLst/>
          </a:prstGeom>
          <a:solidFill>
            <a:srgbClr val="192119"/>
          </a:solidFill>
          <a:ln w="6350">
            <a:solidFill>
              <a:srgbClr val="2E5234"/>
            </a:solidFill>
            <a:prstDash val="solid"/>
          </a:ln>
        </p:spPr>
      </p:sp>
      <p:sp>
        <p:nvSpPr>
          <p:cNvPr id="9" name="Text 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2:54 PM</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THE TRANSCRIPTION APP  ·  2:56 PM</a:t>
            </a:r>
            <a:endParaRPr lang="en-US" sz="1000" dirty="0"/>
          </a:p>
        </p:txBody>
      </p:sp>
      <p:sp>
        <p:nvSpPr>
          <p:cNvPr id="3" name="Text 1"/>
          <p:cNvSpPr/>
          <p:nvPr/>
        </p:nvSpPr>
        <p:spPr>
          <a:xfrm>
            <a:off x="502920" y="594360"/>
            <a:ext cx="5303520" cy="2743200"/>
          </a:xfrm>
          <a:prstGeom prst="rect">
            <a:avLst/>
          </a:prstGeom>
          <a:noFill/>
          <a:ln/>
        </p:spPr>
        <p:txBody>
          <a:bodyPr wrap="square" rtlCol="0" anchor="ctr"/>
          <a:lstStyle/>
          <a:p>
            <a:pPr indent="0" marL="0">
              <a:buNone/>
            </a:pPr>
            <a:r>
              <a:rPr lang="en-US" sz="5200" b="1" dirty="0">
                <a:solidFill>
                  <a:srgbClr val="FFFFFF"/>
                </a:solidFill>
                <a:latin typeface="Georgia" pitchFamily="34" charset="0"/>
                <a:ea typeface="Georgia" pitchFamily="34" charset="-122"/>
                <a:cs typeface="Georgia" pitchFamily="34" charset="-120"/>
              </a:rPr>
              <a:t>Voice in.</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AI thinks locally.</a:t>
            </a:r>
            <a:endParaRPr lang="en-US" sz="5200" dirty="0"/>
          </a:p>
          <a:p>
            <a:pPr indent="0" marL="0">
              <a:buNone/>
            </a:pPr>
            <a:r>
              <a:rPr lang="en-US" sz="5200" b="1" dirty="0">
                <a:solidFill>
                  <a:srgbClr val="FFFFFF"/>
                </a:solidFill>
                <a:latin typeface="Georgia" pitchFamily="34" charset="0"/>
                <a:ea typeface="Georgia" pitchFamily="34" charset="-122"/>
                <a:cs typeface="Georgia" pitchFamily="34" charset="-120"/>
              </a:rPr>
              <a:t>Voice out.</a:t>
            </a:r>
            <a:endParaRPr lang="en-US" sz="5200" dirty="0"/>
          </a:p>
        </p:txBody>
      </p:sp>
      <p:sp>
        <p:nvSpPr>
          <p:cNvPr id="4" name="Text 2"/>
          <p:cNvSpPr/>
          <p:nvPr/>
        </p:nvSpPr>
        <p:spPr>
          <a:xfrm>
            <a:off x="502920" y="3429000"/>
            <a:ext cx="5303520" cy="1371600"/>
          </a:xfrm>
          <a:prstGeom prst="rect">
            <a:avLst/>
          </a:prstGeom>
          <a:noFill/>
          <a:ln/>
        </p:spPr>
        <p:txBody>
          <a:bodyPr wrap="square" rtlCol="0" anchor="ctr"/>
          <a:lstStyle/>
          <a:p>
            <a:pPr indent="0" marL="0">
              <a:buNone/>
            </a:pPr>
            <a:r>
              <a:rPr lang="en-US" sz="1800" dirty="0">
                <a:solidFill>
                  <a:srgbClr val="7A9E80"/>
                </a:solidFill>
                <a:latin typeface="Calibri" pitchFamily="34" charset="0"/>
                <a:ea typeface="Calibri" pitchFamily="34" charset="-122"/>
                <a:cs typeface="Calibri" pitchFamily="34" charset="-120"/>
              </a:rPr>
              <a:t>The entire loop — from your mouth to your ears — happens on one machine. Nothing transmitted. Anywhere.</a:t>
            </a:r>
            <a:endParaRPr lang="en-US" sz="1800" dirty="0"/>
          </a:p>
        </p:txBody>
      </p:sp>
      <p:sp>
        <p:nvSpPr>
          <p:cNvPr id="5" name="Shape 3"/>
          <p:cNvSpPr/>
          <p:nvPr/>
        </p:nvSpPr>
        <p:spPr>
          <a:xfrm>
            <a:off x="6583680" y="594360"/>
            <a:ext cx="5303520" cy="1783080"/>
          </a:xfrm>
          <a:prstGeom prst="rect">
            <a:avLst/>
          </a:prstGeom>
          <a:solidFill>
            <a:srgbClr val="192119"/>
          </a:solidFill>
          <a:ln w="19050">
            <a:solidFill>
              <a:srgbClr val="7A9E80"/>
            </a:solidFill>
            <a:prstDash val="solid"/>
          </a:ln>
        </p:spPr>
      </p:sp>
      <p:sp>
        <p:nvSpPr>
          <p:cNvPr id="6" name="Text 4"/>
          <p:cNvSpPr/>
          <p:nvPr/>
        </p:nvSpPr>
        <p:spPr>
          <a:xfrm>
            <a:off x="6720840" y="914400"/>
            <a:ext cx="777240" cy="1005840"/>
          </a:xfrm>
          <a:prstGeom prst="rect">
            <a:avLst/>
          </a:prstGeom>
          <a:noFill/>
          <a:ln/>
        </p:spPr>
        <p:txBody>
          <a:bodyPr wrap="square" rtlCol="0" anchor="ctr"/>
          <a:lstStyle/>
          <a:p>
            <a:pPr indent="0" marL="0">
              <a:buNone/>
            </a:pPr>
            <a:r>
              <a:rPr lang="en-US" sz="4400" b="1" dirty="0">
                <a:solidFill>
                  <a:srgbClr val="7A9E80"/>
                </a:solidFill>
                <a:latin typeface="Georgia" pitchFamily="34" charset="0"/>
                <a:ea typeface="Georgia" pitchFamily="34" charset="-122"/>
                <a:cs typeface="Georgia" pitchFamily="34" charset="-120"/>
              </a:rPr>
              <a:t>1</a:t>
            </a:r>
            <a:endParaRPr lang="en-US" sz="4400" dirty="0"/>
          </a:p>
        </p:txBody>
      </p:sp>
      <p:sp>
        <p:nvSpPr>
          <p:cNvPr id="7" name="Text 5"/>
          <p:cNvSpPr/>
          <p:nvPr/>
        </p:nvSpPr>
        <p:spPr>
          <a:xfrm>
            <a:off x="7543800" y="731520"/>
            <a:ext cx="411480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Voice Input</a:t>
            </a:r>
            <a:endParaRPr lang="en-US" sz="2200" dirty="0"/>
          </a:p>
        </p:txBody>
      </p:sp>
      <p:sp>
        <p:nvSpPr>
          <p:cNvPr id="8" name="Text 6"/>
          <p:cNvSpPr/>
          <p:nvPr/>
        </p:nvSpPr>
        <p:spPr>
          <a:xfrm>
            <a:off x="7543800" y="1280160"/>
            <a:ext cx="4114800" cy="91440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Local speech recognition</a:t>
            </a:r>
            <a:endParaRPr lang="en-US" sz="1400" dirty="0"/>
          </a:p>
          <a:p>
            <a:pPr indent="0" marL="0">
              <a:buNone/>
            </a:pPr>
            <a:r>
              <a:rPr lang="en-US" sz="1400" dirty="0">
                <a:solidFill>
                  <a:srgbClr val="7A9E80"/>
                </a:solidFill>
                <a:latin typeface="Calibri" pitchFamily="34" charset="0"/>
                <a:ea typeface="Calibri" pitchFamily="34" charset="-122"/>
                <a:cs typeface="Calibri" pitchFamily="34" charset="-120"/>
              </a:rPr>
              <a:t>(Whisper — on device)</a:t>
            </a:r>
            <a:endParaRPr lang="en-US" sz="1400" dirty="0"/>
          </a:p>
        </p:txBody>
      </p:sp>
      <p:sp>
        <p:nvSpPr>
          <p:cNvPr id="9" name="Shape 7"/>
          <p:cNvSpPr/>
          <p:nvPr/>
        </p:nvSpPr>
        <p:spPr>
          <a:xfrm>
            <a:off x="8961120" y="2404872"/>
            <a:ext cx="73152" cy="201168"/>
          </a:xfrm>
          <a:prstGeom prst="rect">
            <a:avLst/>
          </a:prstGeom>
          <a:solidFill>
            <a:srgbClr val="7A9E80"/>
          </a:solidFill>
          <a:ln w="12700">
            <a:solidFill>
              <a:srgbClr val="7A9E80"/>
            </a:solidFill>
            <a:prstDash val="solid"/>
          </a:ln>
        </p:spPr>
      </p:sp>
      <p:sp>
        <p:nvSpPr>
          <p:cNvPr id="10" name="Shape 8"/>
          <p:cNvSpPr/>
          <p:nvPr/>
        </p:nvSpPr>
        <p:spPr>
          <a:xfrm>
            <a:off x="6583680" y="2606040"/>
            <a:ext cx="5303520" cy="1783080"/>
          </a:xfrm>
          <a:prstGeom prst="rect">
            <a:avLst/>
          </a:prstGeom>
          <a:solidFill>
            <a:srgbClr val="192119"/>
          </a:solidFill>
          <a:ln w="19050">
            <a:solidFill>
              <a:srgbClr val="3DDC84"/>
            </a:solidFill>
            <a:prstDash val="solid"/>
          </a:ln>
        </p:spPr>
      </p:sp>
      <p:sp>
        <p:nvSpPr>
          <p:cNvPr id="11" name="Text 9"/>
          <p:cNvSpPr/>
          <p:nvPr/>
        </p:nvSpPr>
        <p:spPr>
          <a:xfrm>
            <a:off x="6720840" y="2926080"/>
            <a:ext cx="777240" cy="1005840"/>
          </a:xfrm>
          <a:prstGeom prst="rect">
            <a:avLst/>
          </a:prstGeom>
          <a:noFill/>
          <a:ln/>
        </p:spPr>
        <p:txBody>
          <a:bodyPr wrap="square" rtlCol="0" anchor="ctr"/>
          <a:lstStyle/>
          <a:p>
            <a:pPr indent="0" marL="0">
              <a:buNone/>
            </a:pPr>
            <a:r>
              <a:rPr lang="en-US" sz="4400" b="1" dirty="0">
                <a:solidFill>
                  <a:srgbClr val="3DDC84"/>
                </a:solidFill>
                <a:latin typeface="Georgia" pitchFamily="34" charset="0"/>
                <a:ea typeface="Georgia" pitchFamily="34" charset="-122"/>
                <a:cs typeface="Georgia" pitchFamily="34" charset="-120"/>
              </a:rPr>
              <a:t>2</a:t>
            </a:r>
            <a:endParaRPr lang="en-US" sz="4400" dirty="0"/>
          </a:p>
        </p:txBody>
      </p:sp>
      <p:sp>
        <p:nvSpPr>
          <p:cNvPr id="12" name="Text 10"/>
          <p:cNvSpPr/>
          <p:nvPr/>
        </p:nvSpPr>
        <p:spPr>
          <a:xfrm>
            <a:off x="7543800" y="2743200"/>
            <a:ext cx="411480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Local Model</a:t>
            </a:r>
            <a:endParaRPr lang="en-US" sz="2200" dirty="0"/>
          </a:p>
        </p:txBody>
      </p:sp>
      <p:sp>
        <p:nvSpPr>
          <p:cNvPr id="13" name="Text 11"/>
          <p:cNvSpPr/>
          <p:nvPr/>
        </p:nvSpPr>
        <p:spPr>
          <a:xfrm>
            <a:off x="7543800" y="3291840"/>
            <a:ext cx="4114800" cy="91440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Processes transcript entirely</a:t>
            </a:r>
            <a:endParaRPr lang="en-US" sz="1400" dirty="0"/>
          </a:p>
          <a:p>
            <a:pPr indent="0" marL="0">
              <a:buNone/>
            </a:pPr>
            <a:r>
              <a:rPr lang="en-US" sz="1400" dirty="0">
                <a:solidFill>
                  <a:srgbClr val="7A9E80"/>
                </a:solidFill>
                <a:latin typeface="Calibri" pitchFamily="34" charset="0"/>
                <a:ea typeface="Calibri" pitchFamily="34" charset="-122"/>
                <a:cs typeface="Calibri" pitchFamily="34" charset="-120"/>
              </a:rPr>
              <a:t>on-device — no internet</a:t>
            </a:r>
            <a:endParaRPr lang="en-US" sz="1400" dirty="0"/>
          </a:p>
        </p:txBody>
      </p:sp>
      <p:sp>
        <p:nvSpPr>
          <p:cNvPr id="14" name="Shape 12"/>
          <p:cNvSpPr/>
          <p:nvPr/>
        </p:nvSpPr>
        <p:spPr>
          <a:xfrm>
            <a:off x="8961120" y="4416552"/>
            <a:ext cx="73152" cy="201168"/>
          </a:xfrm>
          <a:prstGeom prst="rect">
            <a:avLst/>
          </a:prstGeom>
          <a:solidFill>
            <a:srgbClr val="3DDC84"/>
          </a:solidFill>
          <a:ln w="12700">
            <a:solidFill>
              <a:srgbClr val="3DDC84"/>
            </a:solidFill>
            <a:prstDash val="solid"/>
          </a:ln>
        </p:spPr>
      </p:sp>
      <p:sp>
        <p:nvSpPr>
          <p:cNvPr id="15" name="Shape 13"/>
          <p:cNvSpPr/>
          <p:nvPr/>
        </p:nvSpPr>
        <p:spPr>
          <a:xfrm>
            <a:off x="6583680" y="4617720"/>
            <a:ext cx="5303520" cy="1783080"/>
          </a:xfrm>
          <a:prstGeom prst="rect">
            <a:avLst/>
          </a:prstGeom>
          <a:solidFill>
            <a:srgbClr val="192119"/>
          </a:solidFill>
          <a:ln w="19050">
            <a:solidFill>
              <a:srgbClr val="5DD8C0"/>
            </a:solidFill>
            <a:prstDash val="solid"/>
          </a:ln>
        </p:spPr>
      </p:sp>
      <p:sp>
        <p:nvSpPr>
          <p:cNvPr id="16" name="Text 14"/>
          <p:cNvSpPr/>
          <p:nvPr/>
        </p:nvSpPr>
        <p:spPr>
          <a:xfrm>
            <a:off x="6720840" y="4937760"/>
            <a:ext cx="777240" cy="1005840"/>
          </a:xfrm>
          <a:prstGeom prst="rect">
            <a:avLst/>
          </a:prstGeom>
          <a:noFill/>
          <a:ln/>
        </p:spPr>
        <p:txBody>
          <a:bodyPr wrap="square" rtlCol="0" anchor="ctr"/>
          <a:lstStyle/>
          <a:p>
            <a:pPr indent="0" marL="0">
              <a:buNone/>
            </a:pPr>
            <a:r>
              <a:rPr lang="en-US" sz="4400" b="1" dirty="0">
                <a:solidFill>
                  <a:srgbClr val="5DD8C0"/>
                </a:solidFill>
                <a:latin typeface="Georgia" pitchFamily="34" charset="0"/>
                <a:ea typeface="Georgia" pitchFamily="34" charset="-122"/>
                <a:cs typeface="Georgia" pitchFamily="34" charset="-120"/>
              </a:rPr>
              <a:t>3</a:t>
            </a:r>
            <a:endParaRPr lang="en-US" sz="4400" dirty="0"/>
          </a:p>
        </p:txBody>
      </p:sp>
      <p:sp>
        <p:nvSpPr>
          <p:cNvPr id="17" name="Text 15"/>
          <p:cNvSpPr/>
          <p:nvPr/>
        </p:nvSpPr>
        <p:spPr>
          <a:xfrm>
            <a:off x="7543800" y="4754880"/>
            <a:ext cx="411480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Voice Output</a:t>
            </a:r>
            <a:endParaRPr lang="en-US" sz="2200" dirty="0"/>
          </a:p>
        </p:txBody>
      </p:sp>
      <p:sp>
        <p:nvSpPr>
          <p:cNvPr id="18" name="Text 16"/>
          <p:cNvSpPr/>
          <p:nvPr/>
        </p:nvSpPr>
        <p:spPr>
          <a:xfrm>
            <a:off x="7543800" y="5303520"/>
            <a:ext cx="4114800" cy="914400"/>
          </a:xfrm>
          <a:prstGeom prst="rect">
            <a:avLst/>
          </a:prstGeom>
          <a:noFill/>
          <a:ln/>
        </p:spPr>
        <p:txBody>
          <a:bodyPr wrap="square" rtlCol="0" anchor="ctr"/>
          <a:lstStyle/>
          <a:p>
            <a:pPr indent="0" marL="0">
              <a:buNone/>
            </a:pPr>
            <a:r>
              <a:rPr lang="en-US" sz="1400" dirty="0">
                <a:solidFill>
                  <a:srgbClr val="7A9E80"/>
                </a:solidFill>
                <a:latin typeface="Calibri" pitchFamily="34" charset="0"/>
                <a:ea typeface="Calibri" pitchFamily="34" charset="-122"/>
                <a:cs typeface="Calibri" pitchFamily="34" charset="-120"/>
              </a:rPr>
              <a:t>Local text-to-speech</a:t>
            </a:r>
            <a:endParaRPr lang="en-US" sz="1400" dirty="0"/>
          </a:p>
          <a:p>
            <a:pPr indent="0" marL="0">
              <a:buNone/>
            </a:pPr>
            <a:r>
              <a:rPr lang="en-US" sz="1400" dirty="0">
                <a:solidFill>
                  <a:srgbClr val="7A9E80"/>
                </a:solidFill>
                <a:latin typeface="Calibri" pitchFamily="34" charset="0"/>
                <a:ea typeface="Calibri" pitchFamily="34" charset="-122"/>
                <a:cs typeface="Calibri" pitchFamily="34" charset="-120"/>
              </a:rPr>
              <a:t>synthesis — spoken back</a:t>
            </a:r>
            <a:endParaRPr lang="en-US" sz="1400" dirty="0"/>
          </a:p>
        </p:txBody>
      </p:sp>
      <p:sp>
        <p:nvSpPr>
          <p:cNvPr id="19" name="Shape 17"/>
          <p:cNvSpPr/>
          <p:nvPr/>
        </p:nvSpPr>
        <p:spPr>
          <a:xfrm>
            <a:off x="502920" y="4754880"/>
            <a:ext cx="1737360" cy="256032"/>
          </a:xfrm>
          <a:prstGeom prst="rect">
            <a:avLst/>
          </a:prstGeom>
          <a:solidFill>
            <a:srgbClr val="192119"/>
          </a:solidFill>
          <a:ln w="6350">
            <a:solidFill>
              <a:srgbClr val="2E5234"/>
            </a:solidFill>
            <a:prstDash val="solid"/>
          </a:ln>
        </p:spPr>
      </p:sp>
      <p:sp>
        <p:nvSpPr>
          <p:cNvPr id="20" name="Text 18"/>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2:56 PM</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30603"/>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5DD8C0"/>
          </a:solidFill>
          <a:ln w="12700">
            <a:solidFill>
              <a:srgbClr val="5DD8C0"/>
            </a:solidFill>
            <a:prstDash val="solid"/>
          </a:ln>
        </p:spPr>
      </p:sp>
      <p:sp>
        <p:nvSpPr>
          <p:cNvPr id="3" name="Shape 1"/>
          <p:cNvSpPr/>
          <p:nvPr/>
        </p:nvSpPr>
        <p:spPr>
          <a:xfrm>
            <a:off x="0" y="6784848"/>
            <a:ext cx="12161520" cy="73152"/>
          </a:xfrm>
          <a:prstGeom prst="rect">
            <a:avLst/>
          </a:prstGeom>
          <a:solidFill>
            <a:srgbClr val="5DD8C0"/>
          </a:solidFill>
          <a:ln w="12700">
            <a:solidFill>
              <a:srgbClr val="5DD8C0"/>
            </a:solidFill>
            <a:prstDash val="solid"/>
          </a:ln>
        </p:spPr>
      </p:sp>
      <p:sp>
        <p:nvSpPr>
          <p:cNvPr id="4" name="Text 2"/>
          <p:cNvSpPr/>
          <p:nvPr/>
        </p:nvSpPr>
        <p:spPr>
          <a:xfrm>
            <a:off x="274320" y="228600"/>
            <a:ext cx="4572000" cy="365760"/>
          </a:xfrm>
          <a:prstGeom prst="rect">
            <a:avLst/>
          </a:prstGeom>
          <a:noFill/>
          <a:ln/>
        </p:spPr>
        <p:txBody>
          <a:bodyPr wrap="square" rtlCol="0" anchor="ctr"/>
          <a:lstStyle/>
          <a:p>
            <a:pPr indent="0" marL="0">
              <a:buNone/>
            </a:pPr>
            <a:r>
              <a:rPr lang="en-US" sz="1100" b="1" spc="300" kern="0" dirty="0">
                <a:solidFill>
                  <a:srgbClr val="5DD8C0"/>
                </a:solidFill>
                <a:latin typeface="Courier New" pitchFamily="34" charset="0"/>
                <a:ea typeface="Courier New" pitchFamily="34" charset="-122"/>
                <a:cs typeface="Courier New" pitchFamily="34" charset="-120"/>
              </a:rPr>
              <a:t>⬤  LIVE  ·  LOCAL VOICE  ·  OFFLINE</a:t>
            </a:r>
            <a:endParaRPr lang="en-US" sz="1100" dirty="0"/>
          </a:p>
        </p:txBody>
      </p:sp>
      <p:sp>
        <p:nvSpPr>
          <p:cNvPr id="5" name="Text 3"/>
          <p:cNvSpPr/>
          <p:nvPr/>
        </p:nvSpPr>
        <p:spPr>
          <a:xfrm>
            <a:off x="6217920" y="228600"/>
            <a:ext cx="5669280" cy="365760"/>
          </a:xfrm>
          <a:prstGeom prst="rect">
            <a:avLst/>
          </a:prstGeom>
          <a:noFill/>
          <a:ln/>
        </p:spPr>
        <p:txBody>
          <a:bodyPr wrap="square" rtlCol="0" anchor="ctr"/>
          <a:lstStyle/>
          <a:p>
            <a:pPr algn="r" indent="0" marL="0">
              <a:buNone/>
            </a:pPr>
            <a:r>
              <a:rPr lang="en-US" sz="1100" dirty="0">
                <a:solidFill>
                  <a:srgbClr val="2E5234"/>
                </a:solidFill>
                <a:latin typeface="Courier New" pitchFamily="34" charset="0"/>
                <a:ea typeface="Courier New" pitchFamily="34" charset="-122"/>
                <a:cs typeface="Courier New" pitchFamily="34" charset="-120"/>
              </a:rPr>
              <a:t>Speak → Transcribe → Think → Respond → Speak</a:t>
            </a:r>
            <a:endParaRPr lang="en-US" sz="1100" dirty="0"/>
          </a:p>
        </p:txBody>
      </p:sp>
      <p:sp>
        <p:nvSpPr>
          <p:cNvPr id="6" name="Shape 4"/>
          <p:cNvSpPr/>
          <p:nvPr/>
        </p:nvSpPr>
        <p:spPr>
          <a:xfrm>
            <a:off x="457200" y="777240"/>
            <a:ext cx="11247120" cy="5212080"/>
          </a:xfrm>
          <a:prstGeom prst="rect">
            <a:avLst/>
          </a:prstGeom>
          <a:solidFill>
            <a:srgbClr val="0A110A"/>
          </a:solidFill>
          <a:ln w="6350">
            <a:solidFill>
              <a:srgbClr val="2E5234"/>
            </a:solidFill>
            <a:prstDash val="solid"/>
          </a:ln>
        </p:spPr>
      </p:sp>
      <p:sp>
        <p:nvSpPr>
          <p:cNvPr id="7" name="Text 5"/>
          <p:cNvSpPr/>
          <p:nvPr/>
        </p:nvSpPr>
        <p:spPr>
          <a:xfrm>
            <a:off x="457200" y="777240"/>
            <a:ext cx="11247120" cy="5212080"/>
          </a:xfrm>
          <a:prstGeom prst="rect">
            <a:avLst/>
          </a:prstGeom>
          <a:noFill/>
          <a:ln/>
        </p:spPr>
        <p:txBody>
          <a:bodyPr wrap="square" rtlCol="0" anchor="ctr"/>
          <a:lstStyle/>
          <a:p>
            <a:pPr algn="ctr" indent="0" marL="0">
              <a:buNone/>
            </a:pPr>
            <a:r>
              <a:rPr lang="en-US" sz="1800" dirty="0">
                <a:solidFill>
                  <a:srgbClr val="2E5234"/>
                </a:solidFill>
                <a:latin typeface="Courier New" pitchFamily="34" charset="0"/>
                <a:ea typeface="Courier New" pitchFamily="34" charset="-122"/>
                <a:cs typeface="Courier New" pitchFamily="34" charset="-120"/>
              </a:rPr>
              <a:t>[ TRANSCRIPTION APP — FULL WINDOW ]</a:t>
            </a:r>
            <a:endParaRPr lang="en-US" sz="1800" dirty="0"/>
          </a:p>
        </p:txBody>
      </p:sp>
      <p:sp>
        <p:nvSpPr>
          <p:cNvPr id="8" name="Shape 6"/>
          <p:cNvSpPr/>
          <p:nvPr/>
        </p:nvSpPr>
        <p:spPr>
          <a:xfrm>
            <a:off x="502920" y="4754880"/>
            <a:ext cx="1737360" cy="256032"/>
          </a:xfrm>
          <a:prstGeom prst="rect">
            <a:avLst/>
          </a:prstGeom>
          <a:solidFill>
            <a:srgbClr val="192119"/>
          </a:solidFill>
          <a:ln w="6350">
            <a:solidFill>
              <a:srgbClr val="2E5234"/>
            </a:solidFill>
            <a:prstDash val="solid"/>
          </a:ln>
        </p:spPr>
      </p:sp>
      <p:sp>
        <p:nvSpPr>
          <p:cNvPr id="9" name="Text 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2:57 PM</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120D"/>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WHAT YOU JUST SAW  ·  2:58 PM</a:t>
            </a:r>
            <a:endParaRPr lang="en-US" sz="1000" dirty="0"/>
          </a:p>
        </p:txBody>
      </p:sp>
      <p:sp>
        <p:nvSpPr>
          <p:cNvPr id="3" name="Text 1"/>
          <p:cNvSpPr/>
          <p:nvPr/>
        </p:nvSpPr>
        <p:spPr>
          <a:xfrm>
            <a:off x="502920" y="594360"/>
            <a:ext cx="11155680" cy="1645920"/>
          </a:xfrm>
          <a:prstGeom prst="rect">
            <a:avLst/>
          </a:prstGeom>
          <a:noFill/>
          <a:ln/>
        </p:spPr>
        <p:txBody>
          <a:bodyPr wrap="square" rtlCol="0" anchor="ctr"/>
          <a:lstStyle/>
          <a:p>
            <a:pPr algn="ctr" indent="0" marL="0">
              <a:buNone/>
            </a:pPr>
            <a:r>
              <a:rPr lang="en-US" sz="5600" b="1" dirty="0">
                <a:solidFill>
                  <a:srgbClr val="FFFFFF"/>
                </a:solidFill>
                <a:latin typeface="Georgia" pitchFamily="34" charset="0"/>
                <a:ea typeface="Georgia" pitchFamily="34" charset="-122"/>
                <a:cs typeface="Georgia" pitchFamily="34" charset="-120"/>
              </a:rPr>
              <a:t>This is not experimental.</a:t>
            </a:r>
            <a:endParaRPr lang="en-US" sz="5600" dirty="0"/>
          </a:p>
          <a:p>
            <a:pPr algn="ctr" indent="0" marL="0">
              <a:buNone/>
            </a:pPr>
            <a:r>
              <a:rPr lang="en-US" sz="5600" b="1" dirty="0">
                <a:solidFill>
                  <a:srgbClr val="FFFFFF"/>
                </a:solidFill>
                <a:latin typeface="Georgia" pitchFamily="34" charset="0"/>
                <a:ea typeface="Georgia" pitchFamily="34" charset="-122"/>
                <a:cs typeface="Georgia" pitchFamily="34" charset="-120"/>
              </a:rPr>
              <a:t>This works today.</a:t>
            </a:r>
            <a:endParaRPr lang="en-US" sz="5600" dirty="0"/>
          </a:p>
        </p:txBody>
      </p:sp>
      <p:sp>
        <p:nvSpPr>
          <p:cNvPr id="4" name="Shape 2"/>
          <p:cNvSpPr/>
          <p:nvPr/>
        </p:nvSpPr>
        <p:spPr>
          <a:xfrm>
            <a:off x="502920" y="2468880"/>
            <a:ext cx="3657600" cy="3931920"/>
          </a:xfrm>
          <a:prstGeom prst="rect">
            <a:avLst/>
          </a:prstGeom>
          <a:solidFill>
            <a:srgbClr val="192119"/>
          </a:solidFill>
          <a:ln w="19050">
            <a:solidFill>
              <a:srgbClr val="7A9E80"/>
            </a:solidFill>
            <a:prstDash val="solid"/>
          </a:ln>
          <a:effectLst>
            <a:outerShdw sx="100000" sy="100000" kx="0" ky="0" algn="bl" rotWithShape="0" blurRad="152400" dist="50800" dir="8100000">
              <a:srgbClr val="000000">
                <a:alpha val="50000"/>
              </a:srgbClr>
            </a:outerShdw>
          </a:effectLst>
        </p:spPr>
      </p:sp>
      <p:sp>
        <p:nvSpPr>
          <p:cNvPr id="5" name="Text 3"/>
          <p:cNvSpPr/>
          <p:nvPr/>
        </p:nvSpPr>
        <p:spPr>
          <a:xfrm>
            <a:off x="640080" y="2606040"/>
            <a:ext cx="3383280" cy="82296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6" name="Text 4"/>
          <p:cNvSpPr/>
          <p:nvPr/>
        </p:nvSpPr>
        <p:spPr>
          <a:xfrm>
            <a:off x="640080" y="3520440"/>
            <a:ext cx="338328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Local Speech Recognition</a:t>
            </a:r>
            <a:endParaRPr lang="en-US" sz="1800" dirty="0"/>
          </a:p>
        </p:txBody>
      </p:sp>
      <p:sp>
        <p:nvSpPr>
          <p:cNvPr id="7" name="Text 5"/>
          <p:cNvSpPr/>
          <p:nvPr/>
        </p:nvSpPr>
        <p:spPr>
          <a:xfrm>
            <a:off x="640080" y="4114800"/>
            <a:ext cx="3383280" cy="320040"/>
          </a:xfrm>
          <a:prstGeom prst="rect">
            <a:avLst/>
          </a:prstGeom>
          <a:noFill/>
          <a:ln/>
        </p:spPr>
        <p:txBody>
          <a:bodyPr wrap="square" rtlCol="0" anchor="ctr"/>
          <a:lstStyle/>
          <a:p>
            <a:pPr algn="ctr" indent="0" marL="0">
              <a:buNone/>
            </a:pPr>
            <a:r>
              <a:rPr lang="en-US" sz="1000" spc="200" kern="0" dirty="0">
                <a:solidFill>
                  <a:srgbClr val="7A9E80"/>
                </a:solidFill>
                <a:latin typeface="Courier New" pitchFamily="34" charset="0"/>
                <a:ea typeface="Courier New" pitchFamily="34" charset="-122"/>
                <a:cs typeface="Courier New" pitchFamily="34" charset="-120"/>
              </a:rPr>
              <a:t>Whisper</a:t>
            </a:r>
            <a:endParaRPr lang="en-US" sz="1000" dirty="0"/>
          </a:p>
        </p:txBody>
      </p:sp>
      <p:sp>
        <p:nvSpPr>
          <p:cNvPr id="8" name="Text 6"/>
          <p:cNvSpPr/>
          <p:nvPr/>
        </p:nvSpPr>
        <p:spPr>
          <a:xfrm>
            <a:off x="685800" y="4526280"/>
            <a:ext cx="3291840" cy="1645920"/>
          </a:xfrm>
          <a:prstGeom prst="rect">
            <a:avLst/>
          </a:prstGeom>
          <a:noFill/>
          <a:ln/>
        </p:spPr>
        <p:txBody>
          <a:bodyPr wrap="square" rtlCol="0" anchor="ctr"/>
          <a:lstStyle/>
          <a:p>
            <a:pPr algn="ctr" indent="0" marL="0">
              <a:buNone/>
            </a:pPr>
            <a:r>
              <a:rPr lang="en-US" sz="1300" dirty="0">
                <a:solidFill>
                  <a:srgbClr val="7A9E80"/>
                </a:solidFill>
                <a:latin typeface="Calibri" pitchFamily="34" charset="0"/>
                <a:ea typeface="Calibri" pitchFamily="34" charset="-122"/>
                <a:cs typeface="Calibri" pitchFamily="34" charset="-120"/>
              </a:rPr>
              <a:t>Audio captured and transcribed entirely on-device. No cloud STT service. No audio transmitted.</a:t>
            </a:r>
            <a:endParaRPr lang="en-US" sz="1300" dirty="0"/>
          </a:p>
        </p:txBody>
      </p:sp>
      <p:sp>
        <p:nvSpPr>
          <p:cNvPr id="9" name="Shape 7"/>
          <p:cNvSpPr/>
          <p:nvPr/>
        </p:nvSpPr>
        <p:spPr>
          <a:xfrm>
            <a:off x="4389120" y="2468880"/>
            <a:ext cx="3657600" cy="3931920"/>
          </a:xfrm>
          <a:prstGeom prst="rect">
            <a:avLst/>
          </a:prstGeom>
          <a:solidFill>
            <a:srgbClr val="192119"/>
          </a:solidFill>
          <a:ln w="19050">
            <a:solidFill>
              <a:srgbClr val="3DDC84"/>
            </a:solidFill>
            <a:prstDash val="solid"/>
          </a:ln>
          <a:effectLst>
            <a:outerShdw sx="100000" sy="100000" kx="0" ky="0" algn="bl" rotWithShape="0" blurRad="152400" dist="50800" dir="8100000">
              <a:srgbClr val="000000">
                <a:alpha val="50000"/>
              </a:srgbClr>
            </a:outerShdw>
          </a:effectLst>
        </p:spPr>
      </p:sp>
      <p:sp>
        <p:nvSpPr>
          <p:cNvPr id="10" name="Text 8"/>
          <p:cNvSpPr/>
          <p:nvPr/>
        </p:nvSpPr>
        <p:spPr>
          <a:xfrm>
            <a:off x="4526280" y="2606040"/>
            <a:ext cx="3383280" cy="82296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1" name="Text 9"/>
          <p:cNvSpPr/>
          <p:nvPr/>
        </p:nvSpPr>
        <p:spPr>
          <a:xfrm>
            <a:off x="4526280" y="3520440"/>
            <a:ext cx="338328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Local LLM Inference</a:t>
            </a:r>
            <a:endParaRPr lang="en-US" sz="1800" dirty="0"/>
          </a:p>
        </p:txBody>
      </p:sp>
      <p:sp>
        <p:nvSpPr>
          <p:cNvPr id="12" name="Text 10"/>
          <p:cNvSpPr/>
          <p:nvPr/>
        </p:nvSpPr>
        <p:spPr>
          <a:xfrm>
            <a:off x="4526280" y="4114800"/>
            <a:ext cx="3383280" cy="320040"/>
          </a:xfrm>
          <a:prstGeom prst="rect">
            <a:avLst/>
          </a:prstGeom>
          <a:noFill/>
          <a:ln/>
        </p:spPr>
        <p:txBody>
          <a:bodyPr wrap="square" rtlCol="0" anchor="ctr"/>
          <a:lstStyle/>
          <a:p>
            <a:pPr algn="ctr" indent="0" marL="0">
              <a:buNone/>
            </a:pPr>
            <a:r>
              <a:rPr lang="en-US" sz="1000" spc="200" kern="0" dirty="0">
                <a:solidFill>
                  <a:srgbClr val="3DDC84"/>
                </a:solidFill>
                <a:latin typeface="Courier New" pitchFamily="34" charset="0"/>
                <a:ea typeface="Courier New" pitchFamily="34" charset="-122"/>
                <a:cs typeface="Courier New" pitchFamily="34" charset="-120"/>
              </a:rPr>
              <a:t>Llama 3 · LM Studio</a:t>
            </a:r>
            <a:endParaRPr lang="en-US" sz="1000" dirty="0"/>
          </a:p>
        </p:txBody>
      </p:sp>
      <p:sp>
        <p:nvSpPr>
          <p:cNvPr id="13" name="Text 11"/>
          <p:cNvSpPr/>
          <p:nvPr/>
        </p:nvSpPr>
        <p:spPr>
          <a:xfrm>
            <a:off x="4572000" y="4526280"/>
            <a:ext cx="3291840" cy="1645920"/>
          </a:xfrm>
          <a:prstGeom prst="rect">
            <a:avLst/>
          </a:prstGeom>
          <a:noFill/>
          <a:ln/>
        </p:spPr>
        <p:txBody>
          <a:bodyPr wrap="square" rtlCol="0" anchor="ctr"/>
          <a:lstStyle/>
          <a:p>
            <a:pPr algn="ctr" indent="0" marL="0">
              <a:buNone/>
            </a:pPr>
            <a:r>
              <a:rPr lang="en-US" sz="1300" dirty="0">
                <a:solidFill>
                  <a:srgbClr val="7A9E80"/>
                </a:solidFill>
                <a:latin typeface="Calibri" pitchFamily="34" charset="0"/>
                <a:ea typeface="Calibri" pitchFamily="34" charset="-122"/>
                <a:cs typeface="Calibri" pitchFamily="34" charset="-120"/>
              </a:rPr>
              <a:t>Model reasoning happens on-device. No API call. No OpenAI. No Google. One chip in this room.</a:t>
            </a:r>
            <a:endParaRPr lang="en-US" sz="1300" dirty="0"/>
          </a:p>
        </p:txBody>
      </p:sp>
      <p:sp>
        <p:nvSpPr>
          <p:cNvPr id="14" name="Shape 12"/>
          <p:cNvSpPr/>
          <p:nvPr/>
        </p:nvSpPr>
        <p:spPr>
          <a:xfrm>
            <a:off x="8275320" y="2468880"/>
            <a:ext cx="3657600" cy="3931920"/>
          </a:xfrm>
          <a:prstGeom prst="rect">
            <a:avLst/>
          </a:prstGeom>
          <a:solidFill>
            <a:srgbClr val="192119"/>
          </a:solidFill>
          <a:ln w="19050">
            <a:solidFill>
              <a:srgbClr val="5DD8C0"/>
            </a:solidFill>
            <a:prstDash val="solid"/>
          </a:ln>
          <a:effectLst>
            <a:outerShdw sx="100000" sy="100000" kx="0" ky="0" algn="bl" rotWithShape="0" blurRad="152400" dist="50800" dir="8100000">
              <a:srgbClr val="000000">
                <a:alpha val="50000"/>
              </a:srgbClr>
            </a:outerShdw>
          </a:effectLst>
        </p:spPr>
      </p:sp>
      <p:sp>
        <p:nvSpPr>
          <p:cNvPr id="15" name="Text 13"/>
          <p:cNvSpPr/>
          <p:nvPr/>
        </p:nvSpPr>
        <p:spPr>
          <a:xfrm>
            <a:off x="8412480" y="2606040"/>
            <a:ext cx="3383280" cy="82296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6" name="Text 14"/>
          <p:cNvSpPr/>
          <p:nvPr/>
        </p:nvSpPr>
        <p:spPr>
          <a:xfrm>
            <a:off x="8412480" y="3520440"/>
            <a:ext cx="3383280" cy="54864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Local Voice Synthesis</a:t>
            </a:r>
            <a:endParaRPr lang="en-US" sz="1800" dirty="0"/>
          </a:p>
        </p:txBody>
      </p:sp>
      <p:sp>
        <p:nvSpPr>
          <p:cNvPr id="17" name="Text 15"/>
          <p:cNvSpPr/>
          <p:nvPr/>
        </p:nvSpPr>
        <p:spPr>
          <a:xfrm>
            <a:off x="8412480" y="4114800"/>
            <a:ext cx="3383280" cy="320040"/>
          </a:xfrm>
          <a:prstGeom prst="rect">
            <a:avLst/>
          </a:prstGeom>
          <a:noFill/>
          <a:ln/>
        </p:spPr>
        <p:txBody>
          <a:bodyPr wrap="square" rtlCol="0" anchor="ctr"/>
          <a:lstStyle/>
          <a:p>
            <a:pPr algn="ctr" indent="0" marL="0">
              <a:buNone/>
            </a:pPr>
            <a:r>
              <a:rPr lang="en-US" sz="1000" spc="200" kern="0" dirty="0">
                <a:solidFill>
                  <a:srgbClr val="5DD8C0"/>
                </a:solidFill>
                <a:latin typeface="Courier New" pitchFamily="34" charset="0"/>
                <a:ea typeface="Courier New" pitchFamily="34" charset="-122"/>
                <a:cs typeface="Courier New" pitchFamily="34" charset="-120"/>
              </a:rPr>
              <a:t>Piper TTS</a:t>
            </a:r>
            <a:endParaRPr lang="en-US" sz="1000" dirty="0"/>
          </a:p>
        </p:txBody>
      </p:sp>
      <p:sp>
        <p:nvSpPr>
          <p:cNvPr id="18" name="Text 16"/>
          <p:cNvSpPr/>
          <p:nvPr/>
        </p:nvSpPr>
        <p:spPr>
          <a:xfrm>
            <a:off x="8458200" y="4526280"/>
            <a:ext cx="3291840" cy="1645920"/>
          </a:xfrm>
          <a:prstGeom prst="rect">
            <a:avLst/>
          </a:prstGeom>
          <a:noFill/>
          <a:ln/>
        </p:spPr>
        <p:txBody>
          <a:bodyPr wrap="square" rtlCol="0" anchor="ctr"/>
          <a:lstStyle/>
          <a:p>
            <a:pPr algn="ctr" indent="0" marL="0">
              <a:buNone/>
            </a:pPr>
            <a:r>
              <a:rPr lang="en-US" sz="1300" dirty="0">
                <a:solidFill>
                  <a:srgbClr val="7A9E80"/>
                </a:solidFill>
                <a:latin typeface="Calibri" pitchFamily="34" charset="0"/>
                <a:ea typeface="Calibri" pitchFamily="34" charset="-122"/>
                <a:cs typeface="Calibri" pitchFamily="34" charset="-120"/>
              </a:rPr>
              <a:t>Response converted to speech entirely on-device. No cloud TTS. No data sent anywhere.</a:t>
            </a:r>
            <a:endParaRPr lang="en-US" sz="1300" dirty="0"/>
          </a:p>
        </p:txBody>
      </p:sp>
      <p:sp>
        <p:nvSpPr>
          <p:cNvPr id="19" name="Text 17"/>
          <p:cNvSpPr/>
          <p:nvPr/>
        </p:nvSpPr>
        <p:spPr>
          <a:xfrm>
            <a:off x="502920" y="6492240"/>
            <a:ext cx="11155680" cy="274320"/>
          </a:xfrm>
          <a:prstGeom prst="rect">
            <a:avLst/>
          </a:prstGeom>
          <a:noFill/>
          <a:ln/>
        </p:spPr>
        <p:txBody>
          <a:bodyPr wrap="square" rtlCol="0" anchor="ctr"/>
          <a:lstStyle/>
          <a:p>
            <a:pPr algn="ctr" indent="0" marL="0">
              <a:buNone/>
            </a:pPr>
            <a:r>
              <a:rPr lang="en-US" sz="1000" dirty="0">
                <a:solidFill>
                  <a:srgbClr val="3DDC84"/>
                </a:solidFill>
                <a:latin typeface="Courier New" pitchFamily="34" charset="0"/>
                <a:ea typeface="Courier New" pitchFamily="34" charset="-122"/>
                <a:cs typeface="Courier New" pitchFamily="34" charset="-120"/>
              </a:rPr>
              <a:t>The transcript of this session will be shared with everyone here — recorded and processed locally.</a:t>
            </a:r>
            <a:endParaRPr lang="en-US" sz="1000" dirty="0"/>
          </a:p>
        </p:txBody>
      </p:sp>
      <p:sp>
        <p:nvSpPr>
          <p:cNvPr id="20" name="Shape 18"/>
          <p:cNvSpPr/>
          <p:nvPr/>
        </p:nvSpPr>
        <p:spPr>
          <a:xfrm>
            <a:off x="502920" y="4754880"/>
            <a:ext cx="1737360" cy="256032"/>
          </a:xfrm>
          <a:prstGeom prst="rect">
            <a:avLst/>
          </a:prstGeom>
          <a:solidFill>
            <a:srgbClr val="192119"/>
          </a:solidFill>
          <a:ln w="6350">
            <a:solidFill>
              <a:srgbClr val="2E5234"/>
            </a:solidFill>
            <a:prstDash val="solid"/>
          </a:ln>
        </p:spPr>
      </p:sp>
      <p:sp>
        <p:nvSpPr>
          <p:cNvPr id="21" name="Text 19"/>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2:58 PM</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292608"/>
            <a:ext cx="8229600" cy="228600"/>
          </a:xfrm>
          <a:prstGeom prst="rect">
            <a:avLst/>
          </a:prstGeom>
          <a:noFill/>
          <a:ln/>
        </p:spPr>
        <p:txBody>
          <a:bodyPr wrap="square" rtlCol="0" anchor="ctr"/>
          <a:lstStyle/>
          <a:p>
            <a:pPr indent="0" marL="0">
              <a:buNone/>
            </a:pPr>
            <a:r>
              <a:rPr lang="en-US" sz="1000" b="1" spc="400" kern="0" dirty="0">
                <a:solidFill>
                  <a:srgbClr val="3DDC84"/>
                </a:solidFill>
                <a:latin typeface="Courier New" pitchFamily="34" charset="0"/>
                <a:ea typeface="Courier New" pitchFamily="34" charset="-122"/>
                <a:cs typeface="Courier New" pitchFamily="34" charset="-120"/>
              </a:rPr>
              <a:t>OPTIONAL  ·  2:58 PM  ·  ONLY IF TIME</a:t>
            </a:r>
            <a:endParaRPr lang="en-US" sz="1000" dirty="0"/>
          </a:p>
        </p:txBody>
      </p:sp>
      <p:sp>
        <p:nvSpPr>
          <p:cNvPr id="3" name="Text 1"/>
          <p:cNvSpPr/>
          <p:nvPr/>
        </p:nvSpPr>
        <p:spPr>
          <a:xfrm>
            <a:off x="502920" y="731520"/>
            <a:ext cx="11155680" cy="1828800"/>
          </a:xfrm>
          <a:prstGeom prst="rect">
            <a:avLst/>
          </a:prstGeom>
          <a:noFill/>
          <a:ln/>
        </p:spPr>
        <p:txBody>
          <a:bodyPr wrap="square" rtlCol="0" anchor="ctr"/>
          <a:lstStyle/>
          <a:p>
            <a:pPr algn="ctr" indent="0" marL="0">
              <a:buNone/>
            </a:pPr>
            <a:r>
              <a:rPr lang="en-US" sz="9600" b="1" dirty="0">
                <a:solidFill>
                  <a:srgbClr val="FFFFFF"/>
                </a:solidFill>
                <a:latin typeface="Georgia" pitchFamily="34" charset="0"/>
                <a:ea typeface="Georgia" pitchFamily="34" charset="-122"/>
                <a:cs typeface="Georgia" pitchFamily="34" charset="-120"/>
              </a:rPr>
              <a:t>Questions?</a:t>
            </a:r>
            <a:endParaRPr lang="en-US" sz="9600" dirty="0"/>
          </a:p>
        </p:txBody>
      </p:sp>
      <p:sp>
        <p:nvSpPr>
          <p:cNvPr id="4" name="Text 2"/>
          <p:cNvSpPr/>
          <p:nvPr/>
        </p:nvSpPr>
        <p:spPr>
          <a:xfrm>
            <a:off x="502920" y="2743200"/>
            <a:ext cx="11155680" cy="731520"/>
          </a:xfrm>
          <a:prstGeom prst="rect">
            <a:avLst/>
          </a:prstGeom>
          <a:noFill/>
          <a:ln/>
        </p:spPr>
        <p:txBody>
          <a:bodyPr wrap="square" rtlCol="0" anchor="ctr"/>
          <a:lstStyle/>
          <a:p>
            <a:pPr algn="ctr" indent="0" marL="0">
              <a:buNone/>
            </a:pPr>
            <a:r>
              <a:rPr lang="en-US" sz="2800" i="1" dirty="0">
                <a:solidFill>
                  <a:srgbClr val="7A9E80"/>
                </a:solidFill>
                <a:latin typeface="Calibri" pitchFamily="34" charset="0"/>
                <a:ea typeface="Calibri" pitchFamily="34" charset="-122"/>
                <a:cs typeface="Calibri" pitchFamily="34" charset="-120"/>
              </a:rPr>
              <a:t>1–2 quick ones.</a:t>
            </a:r>
            <a:endParaRPr lang="en-US" sz="2800" dirty="0"/>
          </a:p>
        </p:txBody>
      </p:sp>
      <p:sp>
        <p:nvSpPr>
          <p:cNvPr id="5" name="Shape 3"/>
          <p:cNvSpPr/>
          <p:nvPr/>
        </p:nvSpPr>
        <p:spPr>
          <a:xfrm>
            <a:off x="2880360" y="3749040"/>
            <a:ext cx="6400800" cy="73152"/>
          </a:xfrm>
          <a:prstGeom prst="rect">
            <a:avLst/>
          </a:prstGeom>
          <a:solidFill>
            <a:srgbClr val="2E5234"/>
          </a:solidFill>
          <a:ln w="12700">
            <a:solidFill>
              <a:srgbClr val="2E5234"/>
            </a:solidFill>
            <a:prstDash val="solid"/>
          </a:ln>
        </p:spPr>
      </p:sp>
      <p:sp>
        <p:nvSpPr>
          <p:cNvPr id="6" name="Text 4"/>
          <p:cNvSpPr/>
          <p:nvPr/>
        </p:nvSpPr>
        <p:spPr>
          <a:xfrm>
            <a:off x="502920" y="4023360"/>
            <a:ext cx="11155680" cy="457200"/>
          </a:xfrm>
          <a:prstGeom prst="rect">
            <a:avLst/>
          </a:prstGeom>
          <a:noFill/>
          <a:ln/>
        </p:spPr>
        <p:txBody>
          <a:bodyPr wrap="square" rtlCol="0" anchor="ctr"/>
          <a:lstStyle/>
          <a:p>
            <a:pPr algn="ctr" indent="0" marL="0">
              <a:buNone/>
            </a:pPr>
            <a:r>
              <a:rPr lang="en-US" sz="1300" spc="100" kern="0" dirty="0">
                <a:solidFill>
                  <a:srgbClr val="2E5234"/>
                </a:solidFill>
                <a:latin typeface="Courier New" pitchFamily="34" charset="0"/>
                <a:ea typeface="Courier New" pitchFamily="34" charset="-122"/>
                <a:cs typeface="Courier New" pitchFamily="34" charset="-120"/>
              </a:rPr>
              <a:t>Then Stephen.  Then Tania's discussion.  More conversation: find us after.</a:t>
            </a:r>
            <a:endParaRPr lang="en-US" sz="1300" dirty="0"/>
          </a:p>
        </p:txBody>
      </p:sp>
      <p:sp>
        <p:nvSpPr>
          <p:cNvPr id="7" name="Text 5"/>
          <p:cNvSpPr/>
          <p:nvPr/>
        </p:nvSpPr>
        <p:spPr>
          <a:xfrm>
            <a:off x="502920" y="4754880"/>
            <a:ext cx="11155680" cy="411480"/>
          </a:xfrm>
          <a:prstGeom prst="rect">
            <a:avLst/>
          </a:prstGeom>
          <a:noFill/>
          <a:ln/>
        </p:spPr>
        <p:txBody>
          <a:bodyPr wrap="square" rtlCol="0" anchor="ctr"/>
          <a:lstStyle/>
          <a:p>
            <a:pPr algn="ctr" indent="0" marL="0">
              <a:buNone/>
            </a:pPr>
            <a:r>
              <a:rPr lang="en-US" sz="1400" b="1" dirty="0">
                <a:solidFill>
                  <a:srgbClr val="E05C5C"/>
                </a:solidFill>
                <a:latin typeface="Courier New" pitchFamily="34" charset="0"/>
                <a:ea typeface="Courier New" pitchFamily="34" charset="-122"/>
                <a:cs typeface="Courier New" pitchFamily="34" charset="-120"/>
              </a:rPr>
              <a:t>⏱  Hard stop: 3:00 PM</a:t>
            </a:r>
            <a:endParaRPr lang="en-US" sz="1400" dirty="0"/>
          </a:p>
        </p:txBody>
      </p:sp>
      <p:sp>
        <p:nvSpPr>
          <p:cNvPr id="8" name="Shape 6"/>
          <p:cNvSpPr/>
          <p:nvPr/>
        </p:nvSpPr>
        <p:spPr>
          <a:xfrm>
            <a:off x="502920" y="4754880"/>
            <a:ext cx="1737360" cy="256032"/>
          </a:xfrm>
          <a:prstGeom prst="rect">
            <a:avLst/>
          </a:prstGeom>
          <a:solidFill>
            <a:srgbClr val="192119"/>
          </a:solidFill>
          <a:ln w="6350">
            <a:solidFill>
              <a:srgbClr val="2E5234"/>
            </a:solidFill>
            <a:prstDash val="solid"/>
          </a:ln>
        </p:spPr>
      </p:sp>
      <p:sp>
        <p:nvSpPr>
          <p:cNvPr id="9" name="Text 7"/>
          <p:cNvSpPr/>
          <p:nvPr/>
        </p:nvSpPr>
        <p:spPr>
          <a:xfrm>
            <a:off x="521208" y="4764024"/>
            <a:ext cx="1691640" cy="237744"/>
          </a:xfrm>
          <a:prstGeom prst="rect">
            <a:avLst/>
          </a:prstGeom>
          <a:noFill/>
          <a:ln/>
        </p:spPr>
        <p:txBody>
          <a:bodyPr wrap="square" rtlCol="0" anchor="ctr"/>
          <a:lstStyle/>
          <a:p>
            <a:pPr indent="0" marL="0">
              <a:buNone/>
            </a:pPr>
            <a:r>
              <a:rPr lang="en-US" sz="900" b="1" dirty="0">
                <a:solidFill>
                  <a:srgbClr val="2AB86A"/>
                </a:solidFill>
                <a:latin typeface="Courier New" pitchFamily="34" charset="0"/>
                <a:ea typeface="Courier New" pitchFamily="34" charset="-122"/>
                <a:cs typeface="Courier New" pitchFamily="34" charset="-120"/>
              </a:rPr>
              <a:t>⏱  2:58 PM</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mnt/user-data/uploads/GLAM_banner_v6_desktop.png">    </p:cNvPr>
          <p:cNvPicPr>
            <a:picLocks noChangeAspect="1"/>
          </p:cNvPicPr>
          <p:nvPr/>
        </p:nvPicPr>
        <p:blipFill>
          <a:blip r:embed="rId2"/>
          <a:stretch>
            <a:fillRect/>
          </a:stretch>
        </p:blipFill>
        <p:spPr>
          <a:xfrm>
            <a:off x="2194560" y="822960"/>
            <a:ext cx="7772400" cy="2126601"/>
          </a:xfrm>
          <a:prstGeom prst="rect">
            <a:avLst/>
          </a:prstGeom>
        </p:spPr>
      </p:pic>
      <p:sp>
        <p:nvSpPr>
          <p:cNvPr id="3" name="Text 0"/>
          <p:cNvSpPr/>
          <p:nvPr/>
        </p:nvSpPr>
        <p:spPr>
          <a:xfrm>
            <a:off x="502920" y="3200400"/>
            <a:ext cx="11155680" cy="731520"/>
          </a:xfrm>
          <a:prstGeom prst="rect">
            <a:avLst/>
          </a:prstGeom>
          <a:noFill/>
          <a:ln/>
          <a:effectLst>
            <a:outerShdw sx="100000" sy="100000" kx="0" ky="0" algn="bl" rotWithShape="0" blurRad="101600" dist="38100" dir="8100000">
              <a:srgbClr val="000000">
                <a:alpha val="35000"/>
              </a:srgbClr>
            </a:outerShdw>
          </a:effectLst>
        </p:spPr>
        <p:txBody>
          <a:bodyPr wrap="square" rtlCol="0" anchor="ctr"/>
          <a:lstStyle/>
          <a:p>
            <a:pPr algn="ctr" indent="0" marL="0">
              <a:buNone/>
            </a:pPr>
            <a:r>
              <a:rPr lang="en-US" sz="3800" b="1" dirty="0">
                <a:solidFill>
                  <a:srgbClr val="FFFFFF"/>
                </a:solidFill>
                <a:latin typeface="Georgia" pitchFamily="34" charset="0"/>
                <a:ea typeface="Georgia" pitchFamily="34" charset="-122"/>
                <a:cs typeface="Georgia" pitchFamily="34" charset="-120"/>
              </a:rPr>
              <a:t>Welcome to Global Local AI.</a:t>
            </a:r>
            <a:endParaRPr lang="en-US" sz="3800" dirty="0"/>
          </a:p>
        </p:txBody>
      </p:sp>
      <p:sp>
        <p:nvSpPr>
          <p:cNvPr id="4" name="Shape 1"/>
          <p:cNvSpPr/>
          <p:nvPr/>
        </p:nvSpPr>
        <p:spPr>
          <a:xfrm>
            <a:off x="5166360" y="4114800"/>
            <a:ext cx="1828800" cy="1828800"/>
          </a:xfrm>
          <a:prstGeom prst="rect">
            <a:avLst/>
          </a:prstGeom>
          <a:solidFill>
            <a:srgbClr val="192119"/>
          </a:solidFill>
          <a:ln w="25400">
            <a:solidFill>
              <a:srgbClr val="3DDC84"/>
            </a:solidFill>
            <a:prstDash val="solid"/>
          </a:ln>
        </p:spPr>
      </p:sp>
      <p:sp>
        <p:nvSpPr>
          <p:cNvPr id="5" name="Text 2"/>
          <p:cNvSpPr/>
          <p:nvPr/>
        </p:nvSpPr>
        <p:spPr>
          <a:xfrm>
            <a:off x="5166360" y="4114800"/>
            <a:ext cx="1828800" cy="1828800"/>
          </a:xfrm>
          <a:prstGeom prst="rect">
            <a:avLst/>
          </a:prstGeom>
          <a:noFill/>
          <a:ln/>
        </p:spPr>
        <p:txBody>
          <a:bodyPr wrap="square" rtlCol="0" anchor="ctr"/>
          <a:lstStyle/>
          <a:p>
            <a:pPr algn="ctr" indent="0" marL="0">
              <a:buNone/>
            </a:pPr>
            <a:r>
              <a:rPr lang="en-US" sz="1300" dirty="0">
                <a:solidFill>
                  <a:srgbClr val="3DDC84"/>
                </a:solidFill>
                <a:latin typeface="Courier New" pitchFamily="34" charset="0"/>
                <a:ea typeface="Courier New" pitchFamily="34" charset="-122"/>
                <a:cs typeface="Courier New" pitchFamily="34" charset="-120"/>
              </a:rPr>
              <a:t>QR</a:t>
            </a:r>
            <a:endParaRPr lang="en-US" sz="1300" dirty="0"/>
          </a:p>
          <a:p>
            <a:pPr algn="ctr" indent="0" marL="0">
              <a:buNone/>
            </a:pPr>
            <a:r>
              <a:rPr lang="en-US" sz="1300" dirty="0">
                <a:solidFill>
                  <a:srgbClr val="3DDC84"/>
                </a:solidFill>
                <a:latin typeface="Courier New" pitchFamily="34" charset="0"/>
                <a:ea typeface="Courier New" pitchFamily="34" charset="-122"/>
                <a:cs typeface="Courier New" pitchFamily="34" charset="-120"/>
              </a:rPr>
              <a:t>globallocal.ai</a:t>
            </a:r>
            <a:endParaRPr lang="en-US" sz="1300" dirty="0"/>
          </a:p>
        </p:txBody>
      </p:sp>
      <p:sp>
        <p:nvSpPr>
          <p:cNvPr id="6" name="Text 3"/>
          <p:cNvSpPr/>
          <p:nvPr/>
        </p:nvSpPr>
        <p:spPr>
          <a:xfrm>
            <a:off x="502920" y="6080760"/>
            <a:ext cx="11155680" cy="411480"/>
          </a:xfrm>
          <a:prstGeom prst="rect">
            <a:avLst/>
          </a:prstGeom>
          <a:noFill/>
          <a:ln/>
        </p:spPr>
        <p:txBody>
          <a:bodyPr wrap="square" rtlCol="0" anchor="ctr"/>
          <a:lstStyle/>
          <a:p>
            <a:pPr algn="ctr" indent="0" marL="0">
              <a:buNone/>
            </a:pPr>
            <a:r>
              <a:rPr lang="en-US" sz="1400" dirty="0">
                <a:solidFill>
                  <a:srgbClr val="2E5234"/>
                </a:solidFill>
                <a:latin typeface="Courier New" pitchFamily="34" charset="0"/>
                <a:ea typeface="Courier New" pitchFamily="34" charset="-122"/>
                <a:cs typeface="Courier New" pitchFamily="34" charset="-120"/>
              </a:rPr>
              <a:t>globallocal.ai</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60A07"/>
        </a:solidFill>
      </p:bgPr>
    </p:bg>
    <p:spTree>
      <p:nvGrpSpPr>
        <p:cNvPr id="1" name=""/>
        <p:cNvGrpSpPr/>
        <p:nvPr/>
      </p:nvGrpSpPr>
      <p:grpSpPr>
        <a:xfrm>
          <a:off x="0" y="0"/>
          <a:ext cx="0" cy="0"/>
          <a:chOff x="0" y="0"/>
          <a:chExt cx="0" cy="0"/>
        </a:xfrm>
      </p:grpSpPr>
      <p:sp>
        <p:nvSpPr>
          <p:cNvPr id="2" name="Text 0"/>
          <p:cNvSpPr/>
          <p:nvPr/>
        </p:nvSpPr>
        <p:spPr>
          <a:xfrm>
            <a:off x="502920" y="1097280"/>
            <a:ext cx="11155680" cy="1280160"/>
          </a:xfrm>
          <a:prstGeom prst="rect">
            <a:avLst/>
          </a:prstGeom>
          <a:noFill/>
          <a:ln/>
        </p:spPr>
        <p:txBody>
          <a:bodyPr wrap="square" rtlCol="0" anchor="ctr"/>
          <a:lstStyle/>
          <a:p>
            <a:pPr algn="ctr" indent="0" marL="0">
              <a:buNone/>
            </a:pPr>
            <a:r>
              <a:rPr lang="en-US" sz="7200" b="1" dirty="0">
                <a:solidFill>
                  <a:srgbClr val="3DDC84"/>
                </a:solidFill>
                <a:latin typeface="Georgia" pitchFamily="34" charset="0"/>
                <a:ea typeface="Georgia" pitchFamily="34" charset="-122"/>
                <a:cs typeface="Georgia" pitchFamily="34" charset="-120"/>
              </a:rPr>
              <a:t>globallocal.ai</a:t>
            </a:r>
            <a:endParaRPr lang="en-US" sz="7200" dirty="0"/>
          </a:p>
        </p:txBody>
      </p:sp>
      <p:pic>
        <p:nvPicPr>
          <p:cNvPr id="3" name="Image 0" descr="/mnt/user-data/uploads/climatebase.jpg">    </p:cNvPr>
          <p:cNvPicPr>
            <a:picLocks noChangeAspect="1"/>
          </p:cNvPicPr>
          <p:nvPr/>
        </p:nvPicPr>
        <p:blipFill>
          <a:blip r:embed="rId1"/>
          <a:stretch>
            <a:fillRect/>
          </a:stretch>
        </p:blipFill>
        <p:spPr>
          <a:xfrm>
            <a:off x="1371600" y="2743200"/>
            <a:ext cx="2286000" cy="2286000"/>
          </a:xfrm>
          <a:prstGeom prst="rect">
            <a:avLst/>
          </a:prstGeom>
        </p:spPr>
      </p:pic>
      <p:pic>
        <p:nvPicPr>
          <p:cNvPr id="4" name="Image 1" descr="/mnt/user-data/uploads/blueonwhitebackgroundwithtagline_3a15df02-3768-42fa-be62-19f1e4b68595.png">    </p:cNvPr>
          <p:cNvPicPr>
            <a:picLocks noChangeAspect="1"/>
          </p:cNvPicPr>
          <p:nvPr/>
        </p:nvPicPr>
        <p:blipFill>
          <a:blip r:embed="rId2"/>
          <a:stretch>
            <a:fillRect/>
          </a:stretch>
        </p:blipFill>
        <p:spPr>
          <a:xfrm>
            <a:off x="4709160" y="2926080"/>
            <a:ext cx="2743200" cy="1143000"/>
          </a:xfrm>
          <a:prstGeom prst="rect">
            <a:avLst/>
          </a:prstGeom>
        </p:spPr>
      </p:pic>
      <p:sp>
        <p:nvSpPr>
          <p:cNvPr id="5" name="Text 1"/>
          <p:cNvSpPr/>
          <p:nvPr/>
        </p:nvSpPr>
        <p:spPr>
          <a:xfrm>
            <a:off x="502920" y="4892040"/>
            <a:ext cx="11155680" cy="365760"/>
          </a:xfrm>
          <a:prstGeom prst="rect">
            <a:avLst/>
          </a:prstGeom>
          <a:noFill/>
          <a:ln/>
        </p:spPr>
        <p:txBody>
          <a:bodyPr wrap="square" rtlCol="0" anchor="ctr"/>
          <a:lstStyle/>
          <a:p>
            <a:pPr algn="ctr" indent="0" marL="0">
              <a:buNone/>
            </a:pPr>
            <a:r>
              <a:rPr lang="en-US" sz="1100" spc="200" kern="0" dirty="0">
                <a:solidFill>
                  <a:srgbClr val="2E5234"/>
                </a:solidFill>
                <a:latin typeface="Courier New" pitchFamily="34" charset="0"/>
                <a:ea typeface="Courier New" pitchFamily="34" charset="-122"/>
                <a:cs typeface="Courier New" pitchFamily="34" charset="-120"/>
              </a:rPr>
              <a:t>Climate Reality Project  ·  Climatebase  ·  Earth Day Network</a:t>
            </a:r>
            <a:endParaRPr lang="en-US" sz="1100" dirty="0"/>
          </a:p>
        </p:txBody>
      </p:sp>
      <p:sp>
        <p:nvSpPr>
          <p:cNvPr id="6" name="Text 2"/>
          <p:cNvSpPr/>
          <p:nvPr/>
        </p:nvSpPr>
        <p:spPr>
          <a:xfrm>
            <a:off x="502920" y="5394960"/>
            <a:ext cx="11155680" cy="365760"/>
          </a:xfrm>
          <a:prstGeom prst="rect">
            <a:avLst/>
          </a:prstGeom>
          <a:noFill/>
          <a:ln/>
        </p:spPr>
        <p:txBody>
          <a:bodyPr wrap="square" rtlCol="0" anchor="ctr"/>
          <a:lstStyle/>
          <a:p>
            <a:pPr algn="ctr" indent="0" marL="0">
              <a:buNone/>
            </a:pPr>
            <a:r>
              <a:rPr lang="en-US" sz="1100" dirty="0">
                <a:solidFill>
                  <a:srgbClr val="2E5234"/>
                </a:solidFill>
                <a:latin typeface="Courier New" pitchFamily="34" charset="0"/>
                <a:ea typeface="Courier New" pitchFamily="34" charset="-122"/>
                <a:cs typeface="Courier New" pitchFamily="34" charset="-120"/>
              </a:rPr>
              <a:t>opencollective.com/glammovement  ·  Non-profit  ·  Open Source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Local AI Mobilization — Earth Day 2026</dc:title>
  <dc:subject>PptxGenJS Presentation</dc:subject>
  <dc:creator>Ciaran O'Hara</dc:creator>
  <cp:lastModifiedBy>Ciaran O'Hara</cp:lastModifiedBy>
  <cp:revision>1</cp:revision>
  <dcterms:created xsi:type="dcterms:W3CDTF">2026-04-22T16:56:13Z</dcterms:created>
  <dcterms:modified xsi:type="dcterms:W3CDTF">2026-04-22T16:56:13Z</dcterms:modified>
</cp:coreProperties>
</file>